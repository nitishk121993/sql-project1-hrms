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4" r:id="rId4"/>
    <p:sldId id="258" r:id="rId5"/>
    <p:sldId id="259" r:id="rId6"/>
    <p:sldId id="260" r:id="rId7"/>
    <p:sldId id="261" r:id="rId8"/>
    <p:sldId id="262" r:id="rId9"/>
    <p:sldId id="263" r:id="rId10"/>
    <p:sldId id="264" r:id="rId11"/>
    <p:sldId id="265" r:id="rId12"/>
    <p:sldId id="266" r:id="rId13"/>
    <p:sldId id="267" r:id="rId14"/>
    <p:sldId id="268" r:id="rId15"/>
    <p:sldId id="270" r:id="rId16"/>
    <p:sldId id="271" r:id="rId17"/>
    <p:sldId id="272" r:id="rId18"/>
    <p:sldId id="275" r:id="rId19"/>
    <p:sldId id="273" r:id="rId20"/>
    <p:sldId id="27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906D9-3BA0-8724-6FEB-79F90BAC403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6AE210F-F102-B9C5-DBD0-B3B8A91ED3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A4091B-20A1-AC1B-47E4-B3BDFA493D2D}"/>
              </a:ext>
            </a:extLst>
          </p:cNvPr>
          <p:cNvSpPr>
            <a:spLocks noGrp="1"/>
          </p:cNvSpPr>
          <p:nvPr>
            <p:ph type="dt" sz="half" idx="10"/>
          </p:nvPr>
        </p:nvSpPr>
        <p:spPr/>
        <p:txBody>
          <a:bodyPr/>
          <a:lstStyle/>
          <a:p>
            <a:fld id="{79291A22-452C-4D65-B684-3A7F80832B5F}" type="datetimeFigureOut">
              <a:rPr lang="en-IN" smtClean="0"/>
              <a:t>17-05-2025</a:t>
            </a:fld>
            <a:endParaRPr lang="en-IN"/>
          </a:p>
        </p:txBody>
      </p:sp>
      <p:sp>
        <p:nvSpPr>
          <p:cNvPr id="5" name="Footer Placeholder 4">
            <a:extLst>
              <a:ext uri="{FF2B5EF4-FFF2-40B4-BE49-F238E27FC236}">
                <a16:creationId xmlns:a16="http://schemas.microsoft.com/office/drawing/2014/main" id="{14A9C3C1-7B4F-4727-5927-C0CEB9462F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410CA1-EF87-8891-B34B-C08F8965DE69}"/>
              </a:ext>
            </a:extLst>
          </p:cNvPr>
          <p:cNvSpPr>
            <a:spLocks noGrp="1"/>
          </p:cNvSpPr>
          <p:nvPr>
            <p:ph type="sldNum" sz="quarter" idx="12"/>
          </p:nvPr>
        </p:nvSpPr>
        <p:spPr/>
        <p:txBody>
          <a:bodyPr/>
          <a:lstStyle/>
          <a:p>
            <a:fld id="{98087531-3711-43E5-8506-516BA89DC02B}" type="slidenum">
              <a:rPr lang="en-IN" smtClean="0"/>
              <a:t>‹#›</a:t>
            </a:fld>
            <a:endParaRPr lang="en-IN"/>
          </a:p>
        </p:txBody>
      </p:sp>
    </p:spTree>
    <p:extLst>
      <p:ext uri="{BB962C8B-B14F-4D97-AF65-F5344CB8AC3E}">
        <p14:creationId xmlns:p14="http://schemas.microsoft.com/office/powerpoint/2010/main" val="4069628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16E33-CF55-6B39-9E03-C4372FC35D8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397A597-6D4C-83FC-8483-D48234006D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A34713-9CA6-92CE-93D6-474C90FAE396}"/>
              </a:ext>
            </a:extLst>
          </p:cNvPr>
          <p:cNvSpPr>
            <a:spLocks noGrp="1"/>
          </p:cNvSpPr>
          <p:nvPr>
            <p:ph type="dt" sz="half" idx="10"/>
          </p:nvPr>
        </p:nvSpPr>
        <p:spPr/>
        <p:txBody>
          <a:bodyPr/>
          <a:lstStyle/>
          <a:p>
            <a:fld id="{79291A22-452C-4D65-B684-3A7F80832B5F}" type="datetimeFigureOut">
              <a:rPr lang="en-IN" smtClean="0"/>
              <a:t>17-05-2025</a:t>
            </a:fld>
            <a:endParaRPr lang="en-IN"/>
          </a:p>
        </p:txBody>
      </p:sp>
      <p:sp>
        <p:nvSpPr>
          <p:cNvPr id="5" name="Footer Placeholder 4">
            <a:extLst>
              <a:ext uri="{FF2B5EF4-FFF2-40B4-BE49-F238E27FC236}">
                <a16:creationId xmlns:a16="http://schemas.microsoft.com/office/drawing/2014/main" id="{C3F064C0-8136-C376-A146-E15BDE5E76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0A72FB-4492-48D9-7CAD-74BFE12B3420}"/>
              </a:ext>
            </a:extLst>
          </p:cNvPr>
          <p:cNvSpPr>
            <a:spLocks noGrp="1"/>
          </p:cNvSpPr>
          <p:nvPr>
            <p:ph type="sldNum" sz="quarter" idx="12"/>
          </p:nvPr>
        </p:nvSpPr>
        <p:spPr/>
        <p:txBody>
          <a:bodyPr/>
          <a:lstStyle/>
          <a:p>
            <a:fld id="{98087531-3711-43E5-8506-516BA89DC02B}" type="slidenum">
              <a:rPr lang="en-IN" smtClean="0"/>
              <a:t>‹#›</a:t>
            </a:fld>
            <a:endParaRPr lang="en-IN"/>
          </a:p>
        </p:txBody>
      </p:sp>
    </p:spTree>
    <p:extLst>
      <p:ext uri="{BB962C8B-B14F-4D97-AF65-F5344CB8AC3E}">
        <p14:creationId xmlns:p14="http://schemas.microsoft.com/office/powerpoint/2010/main" val="18059866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904B4-D003-5AE8-FF43-DACE098AF18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5E700EB-3DF7-F1E3-4DB7-24CE762368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A17EA0-2984-7EB3-EECD-B0C962A98063}"/>
              </a:ext>
            </a:extLst>
          </p:cNvPr>
          <p:cNvSpPr>
            <a:spLocks noGrp="1"/>
          </p:cNvSpPr>
          <p:nvPr>
            <p:ph type="dt" sz="half" idx="10"/>
          </p:nvPr>
        </p:nvSpPr>
        <p:spPr/>
        <p:txBody>
          <a:bodyPr/>
          <a:lstStyle/>
          <a:p>
            <a:fld id="{79291A22-452C-4D65-B684-3A7F80832B5F}" type="datetimeFigureOut">
              <a:rPr lang="en-IN" smtClean="0"/>
              <a:t>17-05-2025</a:t>
            </a:fld>
            <a:endParaRPr lang="en-IN"/>
          </a:p>
        </p:txBody>
      </p:sp>
      <p:sp>
        <p:nvSpPr>
          <p:cNvPr id="5" name="Footer Placeholder 4">
            <a:extLst>
              <a:ext uri="{FF2B5EF4-FFF2-40B4-BE49-F238E27FC236}">
                <a16:creationId xmlns:a16="http://schemas.microsoft.com/office/drawing/2014/main" id="{9AB5884B-EC4E-F53D-B249-66665EE2C7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F1A173-635C-3591-E8E5-EDD9336FFECA}"/>
              </a:ext>
            </a:extLst>
          </p:cNvPr>
          <p:cNvSpPr>
            <a:spLocks noGrp="1"/>
          </p:cNvSpPr>
          <p:nvPr>
            <p:ph type="sldNum" sz="quarter" idx="12"/>
          </p:nvPr>
        </p:nvSpPr>
        <p:spPr/>
        <p:txBody>
          <a:bodyPr/>
          <a:lstStyle/>
          <a:p>
            <a:fld id="{98087531-3711-43E5-8506-516BA89DC02B}" type="slidenum">
              <a:rPr lang="en-IN" smtClean="0"/>
              <a:t>‹#›</a:t>
            </a:fld>
            <a:endParaRPr lang="en-IN"/>
          </a:p>
        </p:txBody>
      </p:sp>
    </p:spTree>
    <p:extLst>
      <p:ext uri="{BB962C8B-B14F-4D97-AF65-F5344CB8AC3E}">
        <p14:creationId xmlns:p14="http://schemas.microsoft.com/office/powerpoint/2010/main" val="929722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5077B-FBAB-56D8-5DD4-729C53EB00A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5DA7C2D-9E44-0FC7-8529-AD7D076C0D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7DB5F71-27BA-4551-904C-5422F21D2E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A0551CE-81B2-12D6-7182-928E83629221}"/>
              </a:ext>
            </a:extLst>
          </p:cNvPr>
          <p:cNvSpPr>
            <a:spLocks noGrp="1"/>
          </p:cNvSpPr>
          <p:nvPr>
            <p:ph type="dt" sz="half" idx="10"/>
          </p:nvPr>
        </p:nvSpPr>
        <p:spPr/>
        <p:txBody>
          <a:bodyPr/>
          <a:lstStyle/>
          <a:p>
            <a:fld id="{79291A22-452C-4D65-B684-3A7F80832B5F}" type="datetimeFigureOut">
              <a:rPr lang="en-IN" smtClean="0"/>
              <a:t>17-05-2025</a:t>
            </a:fld>
            <a:endParaRPr lang="en-IN"/>
          </a:p>
        </p:txBody>
      </p:sp>
      <p:sp>
        <p:nvSpPr>
          <p:cNvPr id="6" name="Footer Placeholder 5">
            <a:extLst>
              <a:ext uri="{FF2B5EF4-FFF2-40B4-BE49-F238E27FC236}">
                <a16:creationId xmlns:a16="http://schemas.microsoft.com/office/drawing/2014/main" id="{5440B4AD-5CA1-CBB9-EDA7-95792F403AE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EC742CA-02C9-E7DE-C249-7D1D2AFBEFD0}"/>
              </a:ext>
            </a:extLst>
          </p:cNvPr>
          <p:cNvSpPr>
            <a:spLocks noGrp="1"/>
          </p:cNvSpPr>
          <p:nvPr>
            <p:ph type="sldNum" sz="quarter" idx="12"/>
          </p:nvPr>
        </p:nvSpPr>
        <p:spPr/>
        <p:txBody>
          <a:bodyPr/>
          <a:lstStyle/>
          <a:p>
            <a:fld id="{98087531-3711-43E5-8506-516BA89DC02B}" type="slidenum">
              <a:rPr lang="en-IN" smtClean="0"/>
              <a:t>‹#›</a:t>
            </a:fld>
            <a:endParaRPr lang="en-IN"/>
          </a:p>
        </p:txBody>
      </p:sp>
    </p:spTree>
    <p:extLst>
      <p:ext uri="{BB962C8B-B14F-4D97-AF65-F5344CB8AC3E}">
        <p14:creationId xmlns:p14="http://schemas.microsoft.com/office/powerpoint/2010/main" val="2082801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218DA-F01B-7137-7288-ACB50EE26CD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2B8338-378A-ED13-D4C1-06DDCC4E09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0DC226-794E-3042-6AD6-52C50EC6C7B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A8D315D-37D0-7EF3-2C86-E04C84F540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9AFE92-C3B1-49DD-AE0D-6335785A5F8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C88C1D4-89E3-B766-ACC4-8DF8CF8C5716}"/>
              </a:ext>
            </a:extLst>
          </p:cNvPr>
          <p:cNvSpPr>
            <a:spLocks noGrp="1"/>
          </p:cNvSpPr>
          <p:nvPr>
            <p:ph type="dt" sz="half" idx="10"/>
          </p:nvPr>
        </p:nvSpPr>
        <p:spPr/>
        <p:txBody>
          <a:bodyPr/>
          <a:lstStyle/>
          <a:p>
            <a:fld id="{79291A22-452C-4D65-B684-3A7F80832B5F}" type="datetimeFigureOut">
              <a:rPr lang="en-IN" smtClean="0"/>
              <a:t>17-05-2025</a:t>
            </a:fld>
            <a:endParaRPr lang="en-IN"/>
          </a:p>
        </p:txBody>
      </p:sp>
      <p:sp>
        <p:nvSpPr>
          <p:cNvPr id="8" name="Footer Placeholder 7">
            <a:extLst>
              <a:ext uri="{FF2B5EF4-FFF2-40B4-BE49-F238E27FC236}">
                <a16:creationId xmlns:a16="http://schemas.microsoft.com/office/drawing/2014/main" id="{F8AA5260-E7D2-A40F-2B0B-B3228DCFC1F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3D9858D-8A2E-CC51-9A0C-158A8A013A37}"/>
              </a:ext>
            </a:extLst>
          </p:cNvPr>
          <p:cNvSpPr>
            <a:spLocks noGrp="1"/>
          </p:cNvSpPr>
          <p:nvPr>
            <p:ph type="sldNum" sz="quarter" idx="12"/>
          </p:nvPr>
        </p:nvSpPr>
        <p:spPr/>
        <p:txBody>
          <a:bodyPr/>
          <a:lstStyle/>
          <a:p>
            <a:fld id="{98087531-3711-43E5-8506-516BA89DC02B}" type="slidenum">
              <a:rPr lang="en-IN" smtClean="0"/>
              <a:t>‹#›</a:t>
            </a:fld>
            <a:endParaRPr lang="en-IN"/>
          </a:p>
        </p:txBody>
      </p:sp>
    </p:spTree>
    <p:extLst>
      <p:ext uri="{BB962C8B-B14F-4D97-AF65-F5344CB8AC3E}">
        <p14:creationId xmlns:p14="http://schemas.microsoft.com/office/powerpoint/2010/main" val="2188676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D403E-F154-C83C-B7EC-108299BAB93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1500EAF-C65B-734D-36E7-C84646B6CFED}"/>
              </a:ext>
            </a:extLst>
          </p:cNvPr>
          <p:cNvSpPr>
            <a:spLocks noGrp="1"/>
          </p:cNvSpPr>
          <p:nvPr>
            <p:ph type="dt" sz="half" idx="10"/>
          </p:nvPr>
        </p:nvSpPr>
        <p:spPr/>
        <p:txBody>
          <a:bodyPr/>
          <a:lstStyle/>
          <a:p>
            <a:fld id="{79291A22-452C-4D65-B684-3A7F80832B5F}" type="datetimeFigureOut">
              <a:rPr lang="en-IN" smtClean="0"/>
              <a:t>17-05-2025</a:t>
            </a:fld>
            <a:endParaRPr lang="en-IN"/>
          </a:p>
        </p:txBody>
      </p:sp>
      <p:sp>
        <p:nvSpPr>
          <p:cNvPr id="4" name="Footer Placeholder 3">
            <a:extLst>
              <a:ext uri="{FF2B5EF4-FFF2-40B4-BE49-F238E27FC236}">
                <a16:creationId xmlns:a16="http://schemas.microsoft.com/office/drawing/2014/main" id="{4C5CDD73-6A41-DA4E-B1CF-479A84AF872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3F97998-75FE-489F-EDAE-1F3EA1545354}"/>
              </a:ext>
            </a:extLst>
          </p:cNvPr>
          <p:cNvSpPr>
            <a:spLocks noGrp="1"/>
          </p:cNvSpPr>
          <p:nvPr>
            <p:ph type="sldNum" sz="quarter" idx="12"/>
          </p:nvPr>
        </p:nvSpPr>
        <p:spPr/>
        <p:txBody>
          <a:bodyPr/>
          <a:lstStyle/>
          <a:p>
            <a:fld id="{98087531-3711-43E5-8506-516BA89DC02B}" type="slidenum">
              <a:rPr lang="en-IN" smtClean="0"/>
              <a:t>‹#›</a:t>
            </a:fld>
            <a:endParaRPr lang="en-IN"/>
          </a:p>
        </p:txBody>
      </p:sp>
    </p:spTree>
    <p:extLst>
      <p:ext uri="{BB962C8B-B14F-4D97-AF65-F5344CB8AC3E}">
        <p14:creationId xmlns:p14="http://schemas.microsoft.com/office/powerpoint/2010/main" val="3978748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203EB8-0D00-F785-9A6B-014BF55F11A1}"/>
              </a:ext>
            </a:extLst>
          </p:cNvPr>
          <p:cNvSpPr>
            <a:spLocks noGrp="1"/>
          </p:cNvSpPr>
          <p:nvPr>
            <p:ph type="dt" sz="half" idx="10"/>
          </p:nvPr>
        </p:nvSpPr>
        <p:spPr/>
        <p:txBody>
          <a:bodyPr/>
          <a:lstStyle/>
          <a:p>
            <a:fld id="{79291A22-452C-4D65-B684-3A7F80832B5F}" type="datetimeFigureOut">
              <a:rPr lang="en-IN" smtClean="0"/>
              <a:t>17-05-2025</a:t>
            </a:fld>
            <a:endParaRPr lang="en-IN"/>
          </a:p>
        </p:txBody>
      </p:sp>
      <p:sp>
        <p:nvSpPr>
          <p:cNvPr id="3" name="Footer Placeholder 2">
            <a:extLst>
              <a:ext uri="{FF2B5EF4-FFF2-40B4-BE49-F238E27FC236}">
                <a16:creationId xmlns:a16="http://schemas.microsoft.com/office/drawing/2014/main" id="{4C2D0909-D1BC-C447-E6ED-315E2B00237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A2CB921-0F8B-901C-B259-FD90B9FB9B11}"/>
              </a:ext>
            </a:extLst>
          </p:cNvPr>
          <p:cNvSpPr>
            <a:spLocks noGrp="1"/>
          </p:cNvSpPr>
          <p:nvPr>
            <p:ph type="sldNum" sz="quarter" idx="12"/>
          </p:nvPr>
        </p:nvSpPr>
        <p:spPr/>
        <p:txBody>
          <a:bodyPr/>
          <a:lstStyle/>
          <a:p>
            <a:fld id="{98087531-3711-43E5-8506-516BA89DC02B}" type="slidenum">
              <a:rPr lang="en-IN" smtClean="0"/>
              <a:t>‹#›</a:t>
            </a:fld>
            <a:endParaRPr lang="en-IN"/>
          </a:p>
        </p:txBody>
      </p:sp>
    </p:spTree>
    <p:extLst>
      <p:ext uri="{BB962C8B-B14F-4D97-AF65-F5344CB8AC3E}">
        <p14:creationId xmlns:p14="http://schemas.microsoft.com/office/powerpoint/2010/main" val="2124862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7D5CF-A92A-AC59-7A9B-B161D01109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C69C55E-E3D4-638C-DDDA-E5EF04F365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313109-1754-B6EF-E68A-E86F5210F2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4FCBB5-F010-4C71-41F8-833B37549532}"/>
              </a:ext>
            </a:extLst>
          </p:cNvPr>
          <p:cNvSpPr>
            <a:spLocks noGrp="1"/>
          </p:cNvSpPr>
          <p:nvPr>
            <p:ph type="dt" sz="half" idx="10"/>
          </p:nvPr>
        </p:nvSpPr>
        <p:spPr/>
        <p:txBody>
          <a:bodyPr/>
          <a:lstStyle/>
          <a:p>
            <a:fld id="{79291A22-452C-4D65-B684-3A7F80832B5F}" type="datetimeFigureOut">
              <a:rPr lang="en-IN" smtClean="0"/>
              <a:t>17-05-2025</a:t>
            </a:fld>
            <a:endParaRPr lang="en-IN"/>
          </a:p>
        </p:txBody>
      </p:sp>
      <p:sp>
        <p:nvSpPr>
          <p:cNvPr id="6" name="Footer Placeholder 5">
            <a:extLst>
              <a:ext uri="{FF2B5EF4-FFF2-40B4-BE49-F238E27FC236}">
                <a16:creationId xmlns:a16="http://schemas.microsoft.com/office/drawing/2014/main" id="{C1966CE6-4D7C-3826-FA7A-68477BE23A8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D292FE-CBAC-0F12-36B0-9D73C6E17FCC}"/>
              </a:ext>
            </a:extLst>
          </p:cNvPr>
          <p:cNvSpPr>
            <a:spLocks noGrp="1"/>
          </p:cNvSpPr>
          <p:nvPr>
            <p:ph type="sldNum" sz="quarter" idx="12"/>
          </p:nvPr>
        </p:nvSpPr>
        <p:spPr/>
        <p:txBody>
          <a:bodyPr/>
          <a:lstStyle/>
          <a:p>
            <a:fld id="{98087531-3711-43E5-8506-516BA89DC02B}" type="slidenum">
              <a:rPr lang="en-IN" smtClean="0"/>
              <a:t>‹#›</a:t>
            </a:fld>
            <a:endParaRPr lang="en-IN"/>
          </a:p>
        </p:txBody>
      </p:sp>
    </p:spTree>
    <p:extLst>
      <p:ext uri="{BB962C8B-B14F-4D97-AF65-F5344CB8AC3E}">
        <p14:creationId xmlns:p14="http://schemas.microsoft.com/office/powerpoint/2010/main" val="2827614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0E064-11E2-7959-A2CF-BC03616E07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11F19BE-0D85-946C-28ED-26C394AD584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7566493-FA7B-79F3-22C3-DF02F875C6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5D56B2-9495-1C91-E621-247B18D34DA3}"/>
              </a:ext>
            </a:extLst>
          </p:cNvPr>
          <p:cNvSpPr>
            <a:spLocks noGrp="1"/>
          </p:cNvSpPr>
          <p:nvPr>
            <p:ph type="dt" sz="half" idx="10"/>
          </p:nvPr>
        </p:nvSpPr>
        <p:spPr/>
        <p:txBody>
          <a:bodyPr/>
          <a:lstStyle/>
          <a:p>
            <a:fld id="{79291A22-452C-4D65-B684-3A7F80832B5F}" type="datetimeFigureOut">
              <a:rPr lang="en-IN" smtClean="0"/>
              <a:t>17-05-2025</a:t>
            </a:fld>
            <a:endParaRPr lang="en-IN"/>
          </a:p>
        </p:txBody>
      </p:sp>
      <p:sp>
        <p:nvSpPr>
          <p:cNvPr id="6" name="Footer Placeholder 5">
            <a:extLst>
              <a:ext uri="{FF2B5EF4-FFF2-40B4-BE49-F238E27FC236}">
                <a16:creationId xmlns:a16="http://schemas.microsoft.com/office/drawing/2014/main" id="{64408399-D88E-7E9B-0809-031FCE9544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C149B15-DA16-CF2F-5A57-D15E1BD386E7}"/>
              </a:ext>
            </a:extLst>
          </p:cNvPr>
          <p:cNvSpPr>
            <a:spLocks noGrp="1"/>
          </p:cNvSpPr>
          <p:nvPr>
            <p:ph type="sldNum" sz="quarter" idx="12"/>
          </p:nvPr>
        </p:nvSpPr>
        <p:spPr/>
        <p:txBody>
          <a:bodyPr/>
          <a:lstStyle/>
          <a:p>
            <a:fld id="{98087531-3711-43E5-8506-516BA89DC02B}" type="slidenum">
              <a:rPr lang="en-IN" smtClean="0"/>
              <a:t>‹#›</a:t>
            </a:fld>
            <a:endParaRPr lang="en-IN"/>
          </a:p>
        </p:txBody>
      </p:sp>
    </p:spTree>
    <p:extLst>
      <p:ext uri="{BB962C8B-B14F-4D97-AF65-F5344CB8AC3E}">
        <p14:creationId xmlns:p14="http://schemas.microsoft.com/office/powerpoint/2010/main" val="21684677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94100-66E1-2545-19A0-5B354A5A087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403CADC-A067-DD44-FAF6-A6963B22D7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5CD1BF-7365-3022-BC89-030ABD91B269}"/>
              </a:ext>
            </a:extLst>
          </p:cNvPr>
          <p:cNvSpPr>
            <a:spLocks noGrp="1"/>
          </p:cNvSpPr>
          <p:nvPr>
            <p:ph type="dt" sz="half" idx="10"/>
          </p:nvPr>
        </p:nvSpPr>
        <p:spPr/>
        <p:txBody>
          <a:bodyPr/>
          <a:lstStyle/>
          <a:p>
            <a:fld id="{79291A22-452C-4D65-B684-3A7F80832B5F}" type="datetimeFigureOut">
              <a:rPr lang="en-IN" smtClean="0"/>
              <a:t>17-05-2025</a:t>
            </a:fld>
            <a:endParaRPr lang="en-IN"/>
          </a:p>
        </p:txBody>
      </p:sp>
      <p:sp>
        <p:nvSpPr>
          <p:cNvPr id="5" name="Footer Placeholder 4">
            <a:extLst>
              <a:ext uri="{FF2B5EF4-FFF2-40B4-BE49-F238E27FC236}">
                <a16:creationId xmlns:a16="http://schemas.microsoft.com/office/drawing/2014/main" id="{9547C126-E23F-6E83-E89B-885677AD82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A237D3-BE6D-7D5E-5BB9-97FAC683B6EC}"/>
              </a:ext>
            </a:extLst>
          </p:cNvPr>
          <p:cNvSpPr>
            <a:spLocks noGrp="1"/>
          </p:cNvSpPr>
          <p:nvPr>
            <p:ph type="sldNum" sz="quarter" idx="12"/>
          </p:nvPr>
        </p:nvSpPr>
        <p:spPr/>
        <p:txBody>
          <a:bodyPr/>
          <a:lstStyle/>
          <a:p>
            <a:fld id="{98087531-3711-43E5-8506-516BA89DC02B}" type="slidenum">
              <a:rPr lang="en-IN" smtClean="0"/>
              <a:t>‹#›</a:t>
            </a:fld>
            <a:endParaRPr lang="en-IN"/>
          </a:p>
        </p:txBody>
      </p:sp>
    </p:spTree>
    <p:extLst>
      <p:ext uri="{BB962C8B-B14F-4D97-AF65-F5344CB8AC3E}">
        <p14:creationId xmlns:p14="http://schemas.microsoft.com/office/powerpoint/2010/main" val="370682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D8205C-CBC6-0F25-F886-E89C1A1C9D3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CE7AB43-4D33-A4A6-9515-420451E8E0F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A8035B-7B16-B5A5-8140-9FF716CC88B9}"/>
              </a:ext>
            </a:extLst>
          </p:cNvPr>
          <p:cNvSpPr>
            <a:spLocks noGrp="1"/>
          </p:cNvSpPr>
          <p:nvPr>
            <p:ph type="dt" sz="half" idx="10"/>
          </p:nvPr>
        </p:nvSpPr>
        <p:spPr/>
        <p:txBody>
          <a:bodyPr/>
          <a:lstStyle/>
          <a:p>
            <a:fld id="{79291A22-452C-4D65-B684-3A7F80832B5F}" type="datetimeFigureOut">
              <a:rPr lang="en-IN" smtClean="0"/>
              <a:t>17-05-2025</a:t>
            </a:fld>
            <a:endParaRPr lang="en-IN"/>
          </a:p>
        </p:txBody>
      </p:sp>
      <p:sp>
        <p:nvSpPr>
          <p:cNvPr id="5" name="Footer Placeholder 4">
            <a:extLst>
              <a:ext uri="{FF2B5EF4-FFF2-40B4-BE49-F238E27FC236}">
                <a16:creationId xmlns:a16="http://schemas.microsoft.com/office/drawing/2014/main" id="{A3368E09-FA5A-85B5-7058-BC3350A366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3E0F95-20C4-6849-F5E5-935479CA3C9D}"/>
              </a:ext>
            </a:extLst>
          </p:cNvPr>
          <p:cNvSpPr>
            <a:spLocks noGrp="1"/>
          </p:cNvSpPr>
          <p:nvPr>
            <p:ph type="sldNum" sz="quarter" idx="12"/>
          </p:nvPr>
        </p:nvSpPr>
        <p:spPr/>
        <p:txBody>
          <a:bodyPr/>
          <a:lstStyle/>
          <a:p>
            <a:fld id="{98087531-3711-43E5-8506-516BA89DC02B}" type="slidenum">
              <a:rPr lang="en-IN" smtClean="0"/>
              <a:t>‹#›</a:t>
            </a:fld>
            <a:endParaRPr lang="en-IN"/>
          </a:p>
        </p:txBody>
      </p:sp>
    </p:spTree>
    <p:extLst>
      <p:ext uri="{BB962C8B-B14F-4D97-AF65-F5344CB8AC3E}">
        <p14:creationId xmlns:p14="http://schemas.microsoft.com/office/powerpoint/2010/main" val="21271646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C940C4-B542-E123-7853-23B7ABE7A7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28CC518-9FF0-4A12-323A-20ED2D3D9E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F701DD-D722-EC2D-E7FA-532CC0FC6B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291A22-452C-4D65-B684-3A7F80832B5F}" type="datetimeFigureOut">
              <a:rPr lang="en-IN" smtClean="0"/>
              <a:t>17-05-2025</a:t>
            </a:fld>
            <a:endParaRPr lang="en-IN"/>
          </a:p>
        </p:txBody>
      </p:sp>
      <p:sp>
        <p:nvSpPr>
          <p:cNvPr id="5" name="Footer Placeholder 4">
            <a:extLst>
              <a:ext uri="{FF2B5EF4-FFF2-40B4-BE49-F238E27FC236}">
                <a16:creationId xmlns:a16="http://schemas.microsoft.com/office/drawing/2014/main" id="{4A643127-3B63-D818-F63F-4C953CD5B6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8A32C76-A4DB-5973-9389-AB678AE0BB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087531-3711-43E5-8506-516BA89DC02B}" type="slidenum">
              <a:rPr lang="en-IN" smtClean="0"/>
              <a:t>‹#›</a:t>
            </a:fld>
            <a:endParaRPr lang="en-IN"/>
          </a:p>
        </p:txBody>
      </p:sp>
    </p:spTree>
    <p:extLst>
      <p:ext uri="{BB962C8B-B14F-4D97-AF65-F5344CB8AC3E}">
        <p14:creationId xmlns:p14="http://schemas.microsoft.com/office/powerpoint/2010/main" val="1409671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4.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5.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6.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8.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9.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10.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09CB643-1593-E6A8-763C-B6F59B4B6E0F}"/>
              </a:ext>
            </a:extLst>
          </p:cNvPr>
          <p:cNvSpPr/>
          <p:nvPr/>
        </p:nvSpPr>
        <p:spPr>
          <a:xfrm>
            <a:off x="1206173" y="396976"/>
            <a:ext cx="9779654" cy="945127"/>
          </a:xfrm>
          <a:prstGeom prst="roundRect">
            <a:avLst/>
          </a:prstGeom>
          <a:solidFill>
            <a:schemeClr val="accent4">
              <a:lumMod val="40000"/>
              <a:lumOff val="6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r>
              <a:rPr lang="en-IN" sz="2400" b="1" dirty="0"/>
              <a:t>Project Name :</a:t>
            </a:r>
            <a:endParaRPr lang="en-IN" sz="2400" b="0" i="0" u="none" strike="noStrike" baseline="0" dirty="0">
              <a:latin typeface="Calibri" panose="020F0502020204030204" pitchFamily="34" charset="0"/>
            </a:endParaRPr>
          </a:p>
          <a:p>
            <a:pPr algn="ctr"/>
            <a:r>
              <a:rPr lang="en-IN" sz="2400" b="0" i="0" u="none" strike="noStrike" baseline="0" dirty="0">
                <a:latin typeface="Calibri" panose="020F0502020204030204" pitchFamily="34" charset="0"/>
              </a:rPr>
              <a:t> </a:t>
            </a:r>
            <a:r>
              <a:rPr lang="en-IN" sz="2400" b="1" i="0" u="none" strike="noStrike" baseline="0" dirty="0">
                <a:latin typeface="Calibri" panose="020F0502020204030204" pitchFamily="34" charset="0"/>
              </a:rPr>
              <a:t>HR DATABASE MANAGEMENT SYSTEM </a:t>
            </a:r>
            <a:endParaRPr lang="en-IN" sz="2400" b="0" i="0" u="none" strike="noStrike" baseline="0" dirty="0">
              <a:latin typeface="Calibri" panose="020F0502020204030204" pitchFamily="34" charset="0"/>
            </a:endParaRPr>
          </a:p>
        </p:txBody>
      </p:sp>
      <p:sp>
        <p:nvSpPr>
          <p:cNvPr id="5" name="Rectangle: Rounded Corners 4">
            <a:extLst>
              <a:ext uri="{FF2B5EF4-FFF2-40B4-BE49-F238E27FC236}">
                <a16:creationId xmlns:a16="http://schemas.microsoft.com/office/drawing/2014/main" id="{10AD61F0-2CEF-4526-AFFC-890502D799FD}"/>
              </a:ext>
            </a:extLst>
          </p:cNvPr>
          <p:cNvSpPr/>
          <p:nvPr/>
        </p:nvSpPr>
        <p:spPr>
          <a:xfrm>
            <a:off x="3461815" y="4399692"/>
            <a:ext cx="5710821" cy="1648376"/>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en-IN" b="1" dirty="0">
                <a:solidFill>
                  <a:schemeClr val="dk1"/>
                </a:solidFill>
              </a:rPr>
              <a:t>Name: Nitish Kumar</a:t>
            </a:r>
          </a:p>
          <a:p>
            <a:r>
              <a:rPr lang="en-IN" b="1" dirty="0">
                <a:solidFill>
                  <a:schemeClr val="dk1"/>
                </a:solidFill>
              </a:rPr>
              <a:t>Batch : CX-122-MOR-JAN (Now – CX-126-MOR-FEB)</a:t>
            </a:r>
          </a:p>
          <a:p>
            <a:r>
              <a:rPr lang="en-IN" b="1" dirty="0">
                <a:solidFill>
                  <a:schemeClr val="dk1"/>
                </a:solidFill>
              </a:rPr>
              <a:t>Course: Business Analytics</a:t>
            </a:r>
          </a:p>
          <a:p>
            <a:r>
              <a:rPr lang="en-IN" b="1" dirty="0">
                <a:solidFill>
                  <a:schemeClr val="dk1"/>
                </a:solidFill>
              </a:rPr>
              <a:t>Topic </a:t>
            </a:r>
            <a:r>
              <a:rPr lang="en-IN" b="1" dirty="0"/>
              <a:t>  :</a:t>
            </a:r>
            <a:r>
              <a:rPr lang="en-IN" b="1" dirty="0">
                <a:solidFill>
                  <a:schemeClr val="dk1"/>
                </a:solidFill>
              </a:rPr>
              <a:t> Structured Query Language</a:t>
            </a:r>
          </a:p>
          <a:p>
            <a:r>
              <a:rPr lang="en-IN" b="1" dirty="0"/>
              <a:t>Trainer : Sourav</a:t>
            </a:r>
            <a:endParaRPr lang="en-IN" b="1" dirty="0">
              <a:solidFill>
                <a:schemeClr val="dk1"/>
              </a:solidFill>
            </a:endParaRPr>
          </a:p>
        </p:txBody>
      </p:sp>
      <p:pic>
        <p:nvPicPr>
          <p:cNvPr id="7" name="Picture 6">
            <a:extLst>
              <a:ext uri="{FF2B5EF4-FFF2-40B4-BE49-F238E27FC236}">
                <a16:creationId xmlns:a16="http://schemas.microsoft.com/office/drawing/2014/main" id="{EB391454-6F9E-1CE6-E982-79C7765479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66520" y="1866778"/>
            <a:ext cx="1905000" cy="1905000"/>
          </a:xfrm>
          <a:prstGeom prst="rect">
            <a:avLst/>
          </a:prstGeom>
        </p:spPr>
      </p:pic>
    </p:spTree>
    <p:extLst>
      <p:ext uri="{BB962C8B-B14F-4D97-AF65-F5344CB8AC3E}">
        <p14:creationId xmlns:p14="http://schemas.microsoft.com/office/powerpoint/2010/main" val="4193576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03CE26-4261-EC73-A4BC-A90970D0FD4D}"/>
              </a:ext>
            </a:extLst>
          </p:cNvPr>
          <p:cNvSpPr txBox="1"/>
          <p:nvPr/>
        </p:nvSpPr>
        <p:spPr>
          <a:xfrm>
            <a:off x="540770" y="916114"/>
            <a:ext cx="8313175" cy="4185761"/>
          </a:xfrm>
          <a:prstGeom prst="rect">
            <a:avLst/>
          </a:prstGeom>
          <a:noFill/>
        </p:spPr>
        <p:txBody>
          <a:bodyPr wrap="square" rtlCol="0">
            <a:spAutoFit/>
          </a:bodyPr>
          <a:lstStyle/>
          <a:p>
            <a:r>
              <a:rPr lang="en-IN" sz="2400" b="1" dirty="0"/>
              <a:t>Project Focus :</a:t>
            </a:r>
          </a:p>
          <a:p>
            <a:r>
              <a:rPr lang="en-US" b="0" i="0" dirty="0">
                <a:effectLst/>
                <a:latin typeface="Adobe Clean"/>
              </a:rPr>
              <a:t>The HR Database Management System is designed to manage and organize employee-related data efficiently.</a:t>
            </a:r>
          </a:p>
          <a:p>
            <a:endParaRPr lang="en-US" b="0" i="0" dirty="0">
              <a:effectLst/>
              <a:latin typeface="Adobe Clean"/>
            </a:endParaRPr>
          </a:p>
          <a:p>
            <a:r>
              <a:rPr lang="en-IN" dirty="0">
                <a:latin typeface="Adobe Clean"/>
              </a:rPr>
              <a:t>1) </a:t>
            </a:r>
            <a:r>
              <a:rPr lang="en-US" dirty="0">
                <a:latin typeface="Adobe Clean"/>
              </a:rPr>
              <a:t>It includes seven interconnected tables: employees, jobs, departments, dependents, locations, countries, and regions.</a:t>
            </a:r>
          </a:p>
          <a:p>
            <a:endParaRPr lang="en-US" dirty="0">
              <a:latin typeface="Adobe Clean"/>
            </a:endParaRPr>
          </a:p>
          <a:p>
            <a:r>
              <a:rPr lang="en-US" dirty="0">
                <a:latin typeface="Adobe Clean"/>
              </a:rPr>
              <a:t>2) These tables store critical information such as employee details, job titles, salary ranges, department data, dependents, company locations, countries of operation, and regional groupings. </a:t>
            </a:r>
          </a:p>
          <a:p>
            <a:endParaRPr lang="en-US" dirty="0">
              <a:latin typeface="Adobe Clean"/>
            </a:endParaRPr>
          </a:p>
          <a:p>
            <a:r>
              <a:rPr lang="en-US" dirty="0">
                <a:latin typeface="Adobe Clean"/>
              </a:rPr>
              <a:t>3) The system supports robust data management, enabling queries for data retrieval, sorting, filtering, and analysis.</a:t>
            </a:r>
          </a:p>
          <a:p>
            <a:endParaRPr lang="en-US" sz="2000" dirty="0">
              <a:latin typeface="Adobe Clean"/>
            </a:endParaRPr>
          </a:p>
        </p:txBody>
      </p:sp>
      <p:sp>
        <p:nvSpPr>
          <p:cNvPr id="4" name="TextBox 3">
            <a:extLst>
              <a:ext uri="{FF2B5EF4-FFF2-40B4-BE49-F238E27FC236}">
                <a16:creationId xmlns:a16="http://schemas.microsoft.com/office/drawing/2014/main" id="{D5F59CE4-0BF8-1239-8AFE-063D3823B1A6}"/>
              </a:ext>
            </a:extLst>
          </p:cNvPr>
          <p:cNvSpPr txBox="1"/>
          <p:nvPr/>
        </p:nvSpPr>
        <p:spPr>
          <a:xfrm>
            <a:off x="565353" y="208228"/>
            <a:ext cx="6135329" cy="707886"/>
          </a:xfrm>
          <a:prstGeom prst="rect">
            <a:avLst/>
          </a:prstGeom>
          <a:noFill/>
        </p:spPr>
        <p:txBody>
          <a:bodyPr wrap="square" rtlCol="0">
            <a:spAutoFit/>
          </a:bodyPr>
          <a:lstStyle/>
          <a:p>
            <a:r>
              <a:rPr lang="en-IN" sz="4000" b="1" dirty="0"/>
              <a:t>Introduction</a:t>
            </a:r>
          </a:p>
        </p:txBody>
      </p:sp>
      <p:sp>
        <p:nvSpPr>
          <p:cNvPr id="16" name="TextBox 15">
            <a:extLst>
              <a:ext uri="{FF2B5EF4-FFF2-40B4-BE49-F238E27FC236}">
                <a16:creationId xmlns:a16="http://schemas.microsoft.com/office/drawing/2014/main" id="{7E128106-E080-3A82-9412-3139FD35885B}"/>
              </a:ext>
            </a:extLst>
          </p:cNvPr>
          <p:cNvSpPr txBox="1"/>
          <p:nvPr/>
        </p:nvSpPr>
        <p:spPr>
          <a:xfrm>
            <a:off x="540770" y="4983888"/>
            <a:ext cx="6135329" cy="1138773"/>
          </a:xfrm>
          <a:prstGeom prst="rect">
            <a:avLst/>
          </a:prstGeom>
          <a:noFill/>
        </p:spPr>
        <p:txBody>
          <a:bodyPr wrap="square" rtlCol="0">
            <a:spAutoFit/>
          </a:bodyPr>
          <a:lstStyle/>
          <a:p>
            <a:r>
              <a:rPr lang="en-IN" sz="2400" b="1" dirty="0"/>
              <a:t>Tech Specification :</a:t>
            </a:r>
          </a:p>
          <a:p>
            <a:r>
              <a:rPr lang="en-IN" sz="2000" dirty="0"/>
              <a:t>Microsoft SQL Server Management</a:t>
            </a:r>
          </a:p>
          <a:p>
            <a:r>
              <a:rPr lang="en-IN" sz="2400" b="1" dirty="0"/>
              <a:t>Version: </a:t>
            </a:r>
            <a:r>
              <a:rPr lang="en-IN" sz="2000" dirty="0"/>
              <a:t>2022</a:t>
            </a:r>
          </a:p>
        </p:txBody>
      </p:sp>
    </p:spTree>
    <p:extLst>
      <p:ext uri="{BB962C8B-B14F-4D97-AF65-F5344CB8AC3E}">
        <p14:creationId xmlns:p14="http://schemas.microsoft.com/office/powerpoint/2010/main" val="3872192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46F76-0AF3-544A-743A-EA6411FD2D9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8E0AE49-6EA1-EB57-ECB0-9CD8944F6EA1}"/>
              </a:ext>
            </a:extLst>
          </p:cNvPr>
          <p:cNvSpPr txBox="1"/>
          <p:nvPr/>
        </p:nvSpPr>
        <p:spPr>
          <a:xfrm>
            <a:off x="540770" y="1074509"/>
            <a:ext cx="11085877" cy="4708981"/>
          </a:xfrm>
          <a:prstGeom prst="rect">
            <a:avLst/>
          </a:prstGeom>
          <a:noFill/>
        </p:spPr>
        <p:txBody>
          <a:bodyPr wrap="square" rtlCol="0">
            <a:spAutoFit/>
          </a:bodyPr>
          <a:lstStyle/>
          <a:p>
            <a:pPr>
              <a:buFont typeface="+mj-lt"/>
              <a:buAutoNum type="arabicPeriod"/>
            </a:pPr>
            <a:r>
              <a:rPr lang="en-US" sz="2000" b="1" i="0" dirty="0">
                <a:effectLst/>
                <a:latin typeface="Adobe Clean"/>
              </a:rPr>
              <a:t>Database Design</a:t>
            </a:r>
            <a:r>
              <a:rPr lang="en-US" sz="2000" b="0" i="0" dirty="0">
                <a:effectLst/>
                <a:latin typeface="Adobe Clean"/>
              </a:rPr>
              <a:t>: The project uses a relational database structure with primary and foreign key constraints to ensure data integrity and relationships between tables. ​</a:t>
            </a:r>
          </a:p>
          <a:p>
            <a:endParaRPr lang="en-US" sz="2000" dirty="0">
              <a:latin typeface="Adobe Clean"/>
            </a:endParaRPr>
          </a:p>
          <a:p>
            <a:r>
              <a:rPr lang="en-US" sz="2000" b="1" i="0" dirty="0">
                <a:effectLst/>
                <a:latin typeface="Adobe Clean"/>
              </a:rPr>
              <a:t>2) SQL Queries</a:t>
            </a:r>
            <a:r>
              <a:rPr lang="en-US" sz="2000" b="0" i="0" dirty="0">
                <a:effectLst/>
                <a:latin typeface="Adobe Clean"/>
              </a:rPr>
              <a:t>: Various SQL operations, including SELECT, ORDER BY, DISTINCT, TOP N, WHERE clauses, and JOINs, are utilized for data manipulation and retrieval. ​</a:t>
            </a:r>
          </a:p>
          <a:p>
            <a:pPr>
              <a:buFont typeface="+mj-lt"/>
              <a:buAutoNum type="arabicPeriod"/>
            </a:pPr>
            <a:endParaRPr lang="en-US" sz="2000" b="0" i="0" dirty="0">
              <a:effectLst/>
              <a:latin typeface="Adobe Clean"/>
            </a:endParaRPr>
          </a:p>
          <a:p>
            <a:r>
              <a:rPr lang="en-US" sz="2000" b="1" i="0" dirty="0">
                <a:effectLst/>
                <a:latin typeface="Adobe Clean"/>
              </a:rPr>
              <a:t>3) Advanced SQL Features</a:t>
            </a:r>
            <a:r>
              <a:rPr lang="en-US" sz="2000" b="0" i="0" dirty="0">
                <a:effectLst/>
                <a:latin typeface="Adobe Clean"/>
              </a:rPr>
              <a:t>: Subqueries, logical operators, special operators, and aggregate functions are employed for complex data analysis.</a:t>
            </a:r>
          </a:p>
          <a:p>
            <a:endParaRPr lang="en-US" sz="2000" dirty="0">
              <a:latin typeface="Adobe Clean"/>
            </a:endParaRPr>
          </a:p>
          <a:p>
            <a:r>
              <a:rPr lang="en-US" sz="2000" b="1" i="0" dirty="0">
                <a:effectLst/>
                <a:latin typeface="Adobe Clean"/>
              </a:rPr>
              <a:t>4) Foreign Key Constraints</a:t>
            </a:r>
            <a:r>
              <a:rPr lang="en-US" sz="2000" b="0" i="0" dirty="0">
                <a:effectLst/>
                <a:latin typeface="Adobe Clean"/>
              </a:rPr>
              <a:t>: These are implemented to enforce relationships between tables, ensuring consistency and preventing orphaned records. ​</a:t>
            </a:r>
          </a:p>
          <a:p>
            <a:endParaRPr lang="en-US" sz="2000" b="0" i="0" dirty="0">
              <a:effectLst/>
              <a:latin typeface="Adobe Clean"/>
            </a:endParaRPr>
          </a:p>
          <a:p>
            <a:r>
              <a:rPr lang="en-US" sz="2000" b="1" i="0" dirty="0">
                <a:effectLst/>
                <a:latin typeface="Adobe Clean"/>
              </a:rPr>
              <a:t>5)Data Insertion</a:t>
            </a:r>
            <a:r>
              <a:rPr lang="en-US" sz="2000" b="0" i="0" dirty="0">
                <a:effectLst/>
                <a:latin typeface="Adobe Clean"/>
              </a:rPr>
              <a:t>: Predefined records are inserted into the tables to simulate real-world scenarios and facilitate testing of queries. </a:t>
            </a:r>
          </a:p>
          <a:p>
            <a:endParaRPr lang="en-US" sz="2000" dirty="0">
              <a:latin typeface="Adobe Clean"/>
            </a:endParaRPr>
          </a:p>
        </p:txBody>
      </p:sp>
      <p:sp>
        <p:nvSpPr>
          <p:cNvPr id="4" name="TextBox 3">
            <a:extLst>
              <a:ext uri="{FF2B5EF4-FFF2-40B4-BE49-F238E27FC236}">
                <a16:creationId xmlns:a16="http://schemas.microsoft.com/office/drawing/2014/main" id="{D7A0533B-BB52-19FE-7994-6AEE22451DBA}"/>
              </a:ext>
            </a:extLst>
          </p:cNvPr>
          <p:cNvSpPr txBox="1"/>
          <p:nvPr/>
        </p:nvSpPr>
        <p:spPr>
          <a:xfrm>
            <a:off x="565353" y="208228"/>
            <a:ext cx="6135329" cy="707886"/>
          </a:xfrm>
          <a:prstGeom prst="rect">
            <a:avLst/>
          </a:prstGeom>
          <a:noFill/>
        </p:spPr>
        <p:txBody>
          <a:bodyPr wrap="square" rtlCol="0">
            <a:spAutoFit/>
          </a:bodyPr>
          <a:lstStyle/>
          <a:p>
            <a:r>
              <a:rPr lang="en-IN" sz="4000" b="1" dirty="0"/>
              <a:t>Methodologies</a:t>
            </a:r>
          </a:p>
        </p:txBody>
      </p:sp>
    </p:spTree>
    <p:extLst>
      <p:ext uri="{BB962C8B-B14F-4D97-AF65-F5344CB8AC3E}">
        <p14:creationId xmlns:p14="http://schemas.microsoft.com/office/powerpoint/2010/main" val="20944375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BE690-F48E-655E-8D8F-90777BD41A0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24C24B6-DEA7-4849-D2A2-CEF6770D02D0}"/>
              </a:ext>
            </a:extLst>
          </p:cNvPr>
          <p:cNvSpPr txBox="1"/>
          <p:nvPr/>
        </p:nvSpPr>
        <p:spPr>
          <a:xfrm>
            <a:off x="2035277" y="252485"/>
            <a:ext cx="8121445" cy="523220"/>
          </a:xfrm>
          <a:prstGeom prst="rect">
            <a:avLst/>
          </a:prstGeom>
          <a:noFill/>
        </p:spPr>
        <p:txBody>
          <a:bodyPr wrap="square" rtlCol="0">
            <a:spAutoFit/>
          </a:bodyPr>
          <a:lstStyle/>
          <a:p>
            <a:pPr algn="ctr"/>
            <a:r>
              <a:rPr lang="en-IN" sz="2800" b="1" dirty="0"/>
              <a:t>ER Diagram of HRMS Database  </a:t>
            </a:r>
          </a:p>
        </p:txBody>
      </p:sp>
      <p:pic>
        <p:nvPicPr>
          <p:cNvPr id="5" name="Picture 4">
            <a:extLst>
              <a:ext uri="{FF2B5EF4-FFF2-40B4-BE49-F238E27FC236}">
                <a16:creationId xmlns:a16="http://schemas.microsoft.com/office/drawing/2014/main" id="{A093AD9D-B5A6-B174-B52C-D8F71E4A4402}"/>
              </a:ext>
            </a:extLst>
          </p:cNvPr>
          <p:cNvPicPr>
            <a:picLocks noChangeAspect="1"/>
          </p:cNvPicPr>
          <p:nvPr/>
        </p:nvPicPr>
        <p:blipFill>
          <a:blip r:embed="rId2"/>
          <a:stretch>
            <a:fillRect/>
          </a:stretch>
        </p:blipFill>
        <p:spPr>
          <a:xfrm>
            <a:off x="1755058" y="830908"/>
            <a:ext cx="9188245" cy="5774607"/>
          </a:xfrm>
          <a:prstGeom prst="rect">
            <a:avLst/>
          </a:prstGeom>
          <a:ln>
            <a:solidFill>
              <a:schemeClr val="tx1"/>
            </a:solidFill>
          </a:ln>
        </p:spPr>
      </p:pic>
    </p:spTree>
    <p:extLst>
      <p:ext uri="{BB962C8B-B14F-4D97-AF65-F5344CB8AC3E}">
        <p14:creationId xmlns:p14="http://schemas.microsoft.com/office/powerpoint/2010/main" val="926837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788022-7B77-446E-9E72-B0EB1568AFB5}"/>
              </a:ext>
            </a:extLst>
          </p:cNvPr>
          <p:cNvSpPr txBox="1"/>
          <p:nvPr/>
        </p:nvSpPr>
        <p:spPr>
          <a:xfrm>
            <a:off x="132735" y="147483"/>
            <a:ext cx="7610168" cy="461665"/>
          </a:xfrm>
          <a:prstGeom prst="rect">
            <a:avLst/>
          </a:prstGeom>
          <a:noFill/>
        </p:spPr>
        <p:txBody>
          <a:bodyPr wrap="square" rtlCol="0">
            <a:spAutoFit/>
          </a:bodyPr>
          <a:lstStyle/>
          <a:p>
            <a:r>
              <a:rPr lang="en-US" sz="2400" b="1" i="1" dirty="0"/>
              <a:t>Process of Creating Database &amp; Tables….</a:t>
            </a:r>
            <a:endParaRPr lang="en-IN" sz="2400" b="1" i="1" dirty="0"/>
          </a:p>
        </p:txBody>
      </p:sp>
      <p:sp>
        <p:nvSpPr>
          <p:cNvPr id="3" name="TextBox 2">
            <a:extLst>
              <a:ext uri="{FF2B5EF4-FFF2-40B4-BE49-F238E27FC236}">
                <a16:creationId xmlns:a16="http://schemas.microsoft.com/office/drawing/2014/main" id="{111EA08C-B439-8BDB-C27A-FD6C7114F1A1}"/>
              </a:ext>
            </a:extLst>
          </p:cNvPr>
          <p:cNvSpPr txBox="1"/>
          <p:nvPr/>
        </p:nvSpPr>
        <p:spPr>
          <a:xfrm>
            <a:off x="132735" y="705238"/>
            <a:ext cx="7610168" cy="707886"/>
          </a:xfrm>
          <a:prstGeom prst="rect">
            <a:avLst/>
          </a:prstGeom>
          <a:noFill/>
        </p:spPr>
        <p:txBody>
          <a:bodyPr wrap="square" rtlCol="0">
            <a:spAutoFit/>
          </a:bodyPr>
          <a:lstStyle/>
          <a:p>
            <a:r>
              <a:rPr lang="en-US" sz="2000" b="1" i="1" dirty="0"/>
              <a:t>Step-1 Create Database HRMS</a:t>
            </a:r>
          </a:p>
          <a:p>
            <a:r>
              <a:rPr lang="en-IN" sz="2000" b="1" i="1" dirty="0"/>
              <a:t>Step-2 Use Database HRMS</a:t>
            </a:r>
            <a:endParaRPr lang="en-US" sz="2000" b="1" i="1" dirty="0"/>
          </a:p>
        </p:txBody>
      </p:sp>
      <p:sp>
        <p:nvSpPr>
          <p:cNvPr id="4" name="TextBox 3">
            <a:extLst>
              <a:ext uri="{FF2B5EF4-FFF2-40B4-BE49-F238E27FC236}">
                <a16:creationId xmlns:a16="http://schemas.microsoft.com/office/drawing/2014/main" id="{3F553581-EC07-A606-908B-FB105BAC76F5}"/>
              </a:ext>
            </a:extLst>
          </p:cNvPr>
          <p:cNvSpPr txBox="1"/>
          <p:nvPr/>
        </p:nvSpPr>
        <p:spPr>
          <a:xfrm>
            <a:off x="132735" y="1413124"/>
            <a:ext cx="7610168" cy="1508105"/>
          </a:xfrm>
          <a:prstGeom prst="rect">
            <a:avLst/>
          </a:prstGeom>
          <a:noFill/>
        </p:spPr>
        <p:txBody>
          <a:bodyPr wrap="square" rtlCol="0">
            <a:spAutoFit/>
          </a:bodyPr>
          <a:lstStyle/>
          <a:p>
            <a:r>
              <a:rPr lang="en-US" sz="2000" b="1" i="1" dirty="0"/>
              <a:t>Step-3 Creating Regions Table</a:t>
            </a:r>
          </a:p>
          <a:p>
            <a:r>
              <a:rPr lang="en-IN" sz="1800" dirty="0">
                <a:solidFill>
                  <a:srgbClr val="0000FF"/>
                </a:solidFill>
                <a:latin typeface="Consolas" panose="020B0609020204030204" pitchFamily="49" charset="0"/>
              </a:rPr>
              <a:t>CREATE</a:t>
            </a:r>
            <a:r>
              <a:rPr lang="en-IN" sz="1800" dirty="0">
                <a:solidFill>
                  <a:srgbClr val="000000"/>
                </a:solidFill>
                <a:latin typeface="Consolas" panose="020B0609020204030204" pitchFamily="49" charset="0"/>
              </a:rPr>
              <a:t> </a:t>
            </a:r>
            <a:r>
              <a:rPr lang="en-IN" sz="1800" dirty="0">
                <a:solidFill>
                  <a:srgbClr val="0000FF"/>
                </a:solidFill>
                <a:latin typeface="Consolas" panose="020B0609020204030204" pitchFamily="49" charset="0"/>
              </a:rPr>
              <a:t>TABLE</a:t>
            </a:r>
            <a:r>
              <a:rPr lang="en-IN" sz="1800" dirty="0">
                <a:solidFill>
                  <a:srgbClr val="000000"/>
                </a:solidFill>
                <a:latin typeface="Consolas" panose="020B0609020204030204" pitchFamily="49" charset="0"/>
              </a:rPr>
              <a:t> regions</a:t>
            </a:r>
            <a:r>
              <a:rPr lang="en-IN" sz="1800" dirty="0">
                <a:solidFill>
                  <a:srgbClr val="0000FF"/>
                </a:solidFill>
                <a:latin typeface="Consolas" panose="020B0609020204030204" pitchFamily="49" charset="0"/>
              </a:rPr>
              <a:t> </a:t>
            </a:r>
            <a:r>
              <a:rPr lang="en-IN" sz="1800" dirty="0">
                <a:solidFill>
                  <a:srgbClr val="808080"/>
                </a:solidFill>
                <a:latin typeface="Consolas" panose="020B0609020204030204" pitchFamily="49" charset="0"/>
              </a:rPr>
              <a:t>(</a:t>
            </a:r>
            <a:endParaRPr lang="en-IN" sz="1800" dirty="0">
              <a:solidFill>
                <a:srgbClr val="000000"/>
              </a:solidFill>
              <a:latin typeface="Consolas" panose="020B0609020204030204" pitchFamily="49" charset="0"/>
            </a:endParaRPr>
          </a:p>
          <a:p>
            <a:r>
              <a:rPr lang="en-US" sz="1800" dirty="0" err="1">
                <a:solidFill>
                  <a:srgbClr val="000000"/>
                </a:solidFill>
                <a:latin typeface="Consolas" panose="020B0609020204030204" pitchFamily="49" charset="0"/>
              </a:rPr>
              <a:t>region_id</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PRIMARY</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KEY</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de-DE" sz="1800" dirty="0">
                <a:solidFill>
                  <a:srgbClr val="000000"/>
                </a:solidFill>
                <a:latin typeface="Consolas" panose="020B0609020204030204" pitchFamily="49" charset="0"/>
              </a:rPr>
              <a:t>region_name </a:t>
            </a:r>
            <a:r>
              <a:rPr lang="de-DE" sz="1800" dirty="0">
                <a:solidFill>
                  <a:srgbClr val="0000FF"/>
                </a:solidFill>
                <a:latin typeface="Consolas" panose="020B0609020204030204" pitchFamily="49" charset="0"/>
              </a:rPr>
              <a:t>VARCHAR </a:t>
            </a:r>
            <a:r>
              <a:rPr lang="de-DE" sz="1800" dirty="0">
                <a:solidFill>
                  <a:srgbClr val="808080"/>
                </a:solidFill>
                <a:latin typeface="Consolas" panose="020B0609020204030204" pitchFamily="49" charset="0"/>
              </a:rPr>
              <a:t>(</a:t>
            </a:r>
            <a:r>
              <a:rPr lang="de-DE" sz="1800" dirty="0">
                <a:solidFill>
                  <a:srgbClr val="000000"/>
                </a:solidFill>
                <a:latin typeface="Consolas" panose="020B0609020204030204" pitchFamily="49" charset="0"/>
              </a:rPr>
              <a:t>25</a:t>
            </a:r>
            <a:r>
              <a:rPr lang="de-DE" sz="1800" dirty="0">
                <a:solidFill>
                  <a:srgbClr val="808080"/>
                </a:solidFill>
                <a:latin typeface="Consolas" panose="020B0609020204030204" pitchFamily="49" charset="0"/>
              </a:rPr>
              <a:t>)</a:t>
            </a:r>
            <a:r>
              <a:rPr lang="de-DE" sz="1800" dirty="0">
                <a:solidFill>
                  <a:srgbClr val="000000"/>
                </a:solidFill>
                <a:latin typeface="Consolas" panose="020B0609020204030204" pitchFamily="49" charset="0"/>
              </a:rPr>
              <a:t> </a:t>
            </a:r>
            <a:r>
              <a:rPr lang="de-DE" sz="1800" dirty="0">
                <a:solidFill>
                  <a:srgbClr val="0000FF"/>
                </a:solidFill>
                <a:latin typeface="Consolas" panose="020B0609020204030204" pitchFamily="49" charset="0"/>
              </a:rPr>
              <a:t>DEFAULT</a:t>
            </a:r>
            <a:r>
              <a:rPr lang="de-DE" sz="1800" dirty="0">
                <a:solidFill>
                  <a:srgbClr val="000000"/>
                </a:solidFill>
                <a:latin typeface="Consolas" panose="020B0609020204030204" pitchFamily="49" charset="0"/>
              </a:rPr>
              <a:t> </a:t>
            </a:r>
            <a:r>
              <a:rPr lang="de-DE" sz="1800" dirty="0">
                <a:solidFill>
                  <a:srgbClr val="808080"/>
                </a:solidFill>
                <a:latin typeface="Consolas" panose="020B0609020204030204" pitchFamily="49" charset="0"/>
              </a:rPr>
              <a:t>NULL</a:t>
            </a:r>
            <a:endParaRPr lang="de-DE" sz="1800" dirty="0">
              <a:solidFill>
                <a:srgbClr val="000000"/>
              </a:solidFill>
              <a:latin typeface="Consolas" panose="020B0609020204030204" pitchFamily="49" charset="0"/>
            </a:endParaRPr>
          </a:p>
          <a:p>
            <a:r>
              <a:rPr lang="en-IN" sz="1800" dirty="0">
                <a:solidFill>
                  <a:srgbClr val="808080"/>
                </a:solidFill>
                <a:latin typeface="Consolas" panose="020B0609020204030204" pitchFamily="49" charset="0"/>
              </a:rPr>
              <a:t>);</a:t>
            </a:r>
            <a:endParaRPr lang="en-US" sz="2000" b="1" i="1" dirty="0"/>
          </a:p>
        </p:txBody>
      </p:sp>
      <p:sp>
        <p:nvSpPr>
          <p:cNvPr id="5" name="TextBox 4">
            <a:extLst>
              <a:ext uri="{FF2B5EF4-FFF2-40B4-BE49-F238E27FC236}">
                <a16:creationId xmlns:a16="http://schemas.microsoft.com/office/drawing/2014/main" id="{EC961648-ADE3-DEA6-1B84-D3C01BA6BA81}"/>
              </a:ext>
            </a:extLst>
          </p:cNvPr>
          <p:cNvSpPr txBox="1"/>
          <p:nvPr/>
        </p:nvSpPr>
        <p:spPr>
          <a:xfrm>
            <a:off x="132735" y="2921229"/>
            <a:ext cx="7610168" cy="2893100"/>
          </a:xfrm>
          <a:prstGeom prst="rect">
            <a:avLst/>
          </a:prstGeom>
          <a:noFill/>
        </p:spPr>
        <p:txBody>
          <a:bodyPr wrap="square" rtlCol="0">
            <a:spAutoFit/>
          </a:bodyPr>
          <a:lstStyle/>
          <a:p>
            <a:r>
              <a:rPr lang="en-US" sz="2000" b="1" i="1" dirty="0"/>
              <a:t>Step-4 Creating Countries Table</a:t>
            </a:r>
          </a:p>
          <a:p>
            <a:r>
              <a:rPr lang="en-IN" sz="1800" dirty="0">
                <a:solidFill>
                  <a:srgbClr val="0000FF"/>
                </a:solidFill>
                <a:latin typeface="Consolas" panose="020B0609020204030204" pitchFamily="49" charset="0"/>
              </a:rPr>
              <a:t>Create</a:t>
            </a:r>
            <a:r>
              <a:rPr lang="en-IN" sz="1800" dirty="0">
                <a:solidFill>
                  <a:srgbClr val="000000"/>
                </a:solidFill>
                <a:latin typeface="Consolas" panose="020B0609020204030204" pitchFamily="49" charset="0"/>
              </a:rPr>
              <a:t> </a:t>
            </a:r>
            <a:r>
              <a:rPr lang="en-IN" sz="1800" dirty="0">
                <a:solidFill>
                  <a:srgbClr val="0000FF"/>
                </a:solidFill>
                <a:latin typeface="Consolas" panose="020B0609020204030204" pitchFamily="49" charset="0"/>
              </a:rPr>
              <a:t>table</a:t>
            </a:r>
            <a:r>
              <a:rPr lang="en-IN" sz="1800" dirty="0">
                <a:solidFill>
                  <a:srgbClr val="000000"/>
                </a:solidFill>
                <a:latin typeface="Consolas" panose="020B0609020204030204" pitchFamily="49" charset="0"/>
              </a:rPr>
              <a:t> countries </a:t>
            </a:r>
          </a:p>
          <a:p>
            <a:r>
              <a:rPr lang="en-IN" sz="1800" dirty="0">
                <a:solidFill>
                  <a:srgbClr val="808080"/>
                </a:solidFill>
                <a:latin typeface="Consolas" panose="020B0609020204030204" pitchFamily="49" charset="0"/>
              </a:rPr>
              <a:t>(</a:t>
            </a:r>
            <a:endParaRPr lang="en-IN" sz="1800" dirty="0">
              <a:solidFill>
                <a:srgbClr val="000000"/>
              </a:solidFill>
              <a:latin typeface="Consolas" panose="020B0609020204030204" pitchFamily="49" charset="0"/>
            </a:endParaRPr>
          </a:p>
          <a:p>
            <a:r>
              <a:rPr lang="en-US" sz="1800" dirty="0" err="1">
                <a:solidFill>
                  <a:srgbClr val="000000"/>
                </a:solidFill>
                <a:latin typeface="Consolas" panose="020B0609020204030204" pitchFamily="49" charset="0"/>
              </a:rPr>
              <a:t>country_id</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CHAR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PRIMARY</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KEY</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err="1">
                <a:solidFill>
                  <a:srgbClr val="000000"/>
                </a:solidFill>
                <a:latin typeface="Consolas" panose="020B0609020204030204" pitchFamily="49" charset="0"/>
              </a:rPr>
              <a:t>country_name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VARCHAR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40</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DEFAULT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NULL,</a:t>
            </a:r>
            <a:endParaRPr lang="en-US" sz="1800" dirty="0">
              <a:solidFill>
                <a:srgbClr val="000000"/>
              </a:solidFill>
              <a:latin typeface="Consolas" panose="020B0609020204030204" pitchFamily="49" charset="0"/>
            </a:endParaRPr>
          </a:p>
          <a:p>
            <a:r>
              <a:rPr lang="en-US" sz="1800" dirty="0" err="1">
                <a:solidFill>
                  <a:srgbClr val="000000"/>
                </a:solidFill>
                <a:latin typeface="Consolas" panose="020B0609020204030204" pitchFamily="49" charset="0"/>
              </a:rPr>
              <a:t>region_id</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NOT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NULL,</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FOREIGN</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KEY </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region_id</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REFERENCES</a:t>
            </a:r>
            <a:r>
              <a:rPr lang="en-US" sz="1800" dirty="0">
                <a:solidFill>
                  <a:srgbClr val="000000"/>
                </a:solidFill>
                <a:latin typeface="Consolas" panose="020B0609020204030204" pitchFamily="49" charset="0"/>
              </a:rPr>
              <a:t> regions</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region_id</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ON</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DELETE</a:t>
            </a:r>
            <a:endParaRPr lang="en-US" sz="1800" dirty="0">
              <a:solidFill>
                <a:srgbClr val="000000"/>
              </a:solidFill>
              <a:latin typeface="Consolas" panose="020B0609020204030204" pitchFamily="49" charset="0"/>
            </a:endParaRPr>
          </a:p>
          <a:p>
            <a:r>
              <a:rPr lang="en-IN" sz="1800" dirty="0">
                <a:solidFill>
                  <a:srgbClr val="0000FF"/>
                </a:solidFill>
                <a:latin typeface="Consolas" panose="020B0609020204030204" pitchFamily="49" charset="0"/>
              </a:rPr>
              <a:t>CASCADE</a:t>
            </a:r>
            <a:r>
              <a:rPr lang="en-IN" sz="1800" dirty="0">
                <a:solidFill>
                  <a:srgbClr val="000000"/>
                </a:solidFill>
                <a:latin typeface="Consolas" panose="020B0609020204030204" pitchFamily="49" charset="0"/>
              </a:rPr>
              <a:t> </a:t>
            </a:r>
            <a:r>
              <a:rPr lang="en-IN" sz="1800" dirty="0">
                <a:solidFill>
                  <a:srgbClr val="0000FF"/>
                </a:solidFill>
                <a:latin typeface="Consolas" panose="020B0609020204030204" pitchFamily="49" charset="0"/>
              </a:rPr>
              <a:t>ON</a:t>
            </a:r>
            <a:r>
              <a:rPr lang="en-IN" sz="1800" dirty="0">
                <a:solidFill>
                  <a:srgbClr val="000000"/>
                </a:solidFill>
                <a:latin typeface="Consolas" panose="020B0609020204030204" pitchFamily="49" charset="0"/>
              </a:rPr>
              <a:t> </a:t>
            </a:r>
            <a:r>
              <a:rPr lang="en-IN" sz="1800" dirty="0">
                <a:solidFill>
                  <a:srgbClr val="FF00FF"/>
                </a:solidFill>
                <a:latin typeface="Consolas" panose="020B0609020204030204" pitchFamily="49" charset="0"/>
              </a:rPr>
              <a:t>UPDATE</a:t>
            </a:r>
            <a:r>
              <a:rPr lang="en-IN" sz="1800" dirty="0">
                <a:solidFill>
                  <a:srgbClr val="000000"/>
                </a:solidFill>
                <a:latin typeface="Consolas" panose="020B0609020204030204" pitchFamily="49" charset="0"/>
              </a:rPr>
              <a:t> </a:t>
            </a:r>
            <a:r>
              <a:rPr lang="en-IN" sz="1800" dirty="0">
                <a:solidFill>
                  <a:srgbClr val="0000FF"/>
                </a:solidFill>
                <a:latin typeface="Consolas" panose="020B0609020204030204" pitchFamily="49" charset="0"/>
              </a:rPr>
              <a:t>CASCADE</a:t>
            </a:r>
            <a:endParaRPr lang="en-IN" sz="1800" dirty="0">
              <a:solidFill>
                <a:srgbClr val="000000"/>
              </a:solidFill>
              <a:latin typeface="Consolas" panose="020B0609020204030204" pitchFamily="49" charset="0"/>
            </a:endParaRPr>
          </a:p>
          <a:p>
            <a:r>
              <a:rPr lang="en-IN" sz="1800" dirty="0">
                <a:solidFill>
                  <a:srgbClr val="808080"/>
                </a:solidFill>
                <a:latin typeface="Consolas" panose="020B0609020204030204" pitchFamily="49" charset="0"/>
              </a:rPr>
              <a:t>);</a:t>
            </a:r>
            <a:endParaRPr lang="en-US" sz="2000" b="1" i="1" dirty="0"/>
          </a:p>
        </p:txBody>
      </p:sp>
      <p:sp>
        <p:nvSpPr>
          <p:cNvPr id="6" name="TextBox 5">
            <a:extLst>
              <a:ext uri="{FF2B5EF4-FFF2-40B4-BE49-F238E27FC236}">
                <a16:creationId xmlns:a16="http://schemas.microsoft.com/office/drawing/2014/main" id="{CFD49433-7EA7-59A4-86F8-C45F6DD9C26B}"/>
              </a:ext>
            </a:extLst>
          </p:cNvPr>
          <p:cNvSpPr txBox="1"/>
          <p:nvPr/>
        </p:nvSpPr>
        <p:spPr>
          <a:xfrm>
            <a:off x="132734" y="5952707"/>
            <a:ext cx="11828207" cy="400110"/>
          </a:xfrm>
          <a:prstGeom prst="rect">
            <a:avLst/>
          </a:prstGeom>
          <a:noFill/>
        </p:spPr>
        <p:txBody>
          <a:bodyPr wrap="square" rtlCol="0">
            <a:spAutoFit/>
          </a:bodyPr>
          <a:lstStyle/>
          <a:p>
            <a:r>
              <a:rPr lang="en-US" sz="2000" b="1" i="1" dirty="0">
                <a:highlight>
                  <a:srgbClr val="FFFF00"/>
                </a:highlight>
              </a:rPr>
              <a:t>Note : In the similar way I have created Location, Jobs, Department, Employees &amp; Dependents tables….</a:t>
            </a:r>
          </a:p>
        </p:txBody>
      </p:sp>
    </p:spTree>
    <p:extLst>
      <p:ext uri="{BB962C8B-B14F-4D97-AF65-F5344CB8AC3E}">
        <p14:creationId xmlns:p14="http://schemas.microsoft.com/office/powerpoint/2010/main" val="3580891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D7A2F63-9F25-3B21-8BD2-FDCA82BCEAEF}"/>
              </a:ext>
            </a:extLst>
          </p:cNvPr>
          <p:cNvSpPr txBox="1"/>
          <p:nvPr/>
        </p:nvSpPr>
        <p:spPr>
          <a:xfrm>
            <a:off x="147484" y="162232"/>
            <a:ext cx="11503741" cy="954107"/>
          </a:xfrm>
          <a:prstGeom prst="rect">
            <a:avLst/>
          </a:prstGeom>
          <a:noFill/>
        </p:spPr>
        <p:txBody>
          <a:bodyPr wrap="square" rtlCol="0">
            <a:spAutoFit/>
          </a:bodyPr>
          <a:lstStyle/>
          <a:p>
            <a:r>
              <a:rPr lang="en-US" sz="2800" b="1" i="1" dirty="0"/>
              <a:t>Task-1 </a:t>
            </a:r>
          </a:p>
          <a:p>
            <a:r>
              <a:rPr lang="en-US" sz="2800" b="1" i="1" dirty="0"/>
              <a:t>1) WRITE A QUERY FOR SELECT STATEMENTS :-</a:t>
            </a:r>
          </a:p>
        </p:txBody>
      </p:sp>
      <p:sp>
        <p:nvSpPr>
          <p:cNvPr id="6" name="TextBox 5">
            <a:extLst>
              <a:ext uri="{FF2B5EF4-FFF2-40B4-BE49-F238E27FC236}">
                <a16:creationId xmlns:a16="http://schemas.microsoft.com/office/drawing/2014/main" id="{2C618E19-CB60-CBA6-484F-48DFE66689F4}"/>
              </a:ext>
            </a:extLst>
          </p:cNvPr>
          <p:cNvSpPr txBox="1"/>
          <p:nvPr/>
        </p:nvSpPr>
        <p:spPr>
          <a:xfrm>
            <a:off x="147484" y="1116339"/>
            <a:ext cx="11503742" cy="5632311"/>
          </a:xfrm>
          <a:prstGeom prst="rect">
            <a:avLst/>
          </a:prstGeom>
          <a:noFill/>
        </p:spPr>
        <p:txBody>
          <a:bodyPr wrap="square" rtlCol="0">
            <a:spAutoFit/>
          </a:bodyPr>
          <a:lstStyle/>
          <a:p>
            <a:r>
              <a:rPr lang="en-US" b="1" i="1" dirty="0"/>
              <a:t>--A) To get data from all the rows and columns in the employee's table..</a:t>
            </a:r>
          </a:p>
          <a:p>
            <a:endParaRPr lang="en-US" b="1" i="1" dirty="0"/>
          </a:p>
          <a:p>
            <a:r>
              <a:rPr lang="en-IN" sz="1800" dirty="0">
                <a:solidFill>
                  <a:srgbClr val="0000FF"/>
                </a:solidFill>
                <a:latin typeface="Consolas" panose="020B0609020204030204" pitchFamily="49" charset="0"/>
              </a:rPr>
              <a:t>Select</a:t>
            </a:r>
            <a:r>
              <a:rPr lang="en-IN" sz="1800" dirty="0">
                <a:solidFill>
                  <a:srgbClr val="000000"/>
                </a:solidFill>
                <a:latin typeface="Consolas" panose="020B0609020204030204" pitchFamily="49" charset="0"/>
              </a:rPr>
              <a:t> </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 </a:t>
            </a:r>
            <a:r>
              <a:rPr lang="en-IN" sz="1800" dirty="0">
                <a:solidFill>
                  <a:srgbClr val="0000FF"/>
                </a:solidFill>
                <a:latin typeface="Consolas" panose="020B0609020204030204" pitchFamily="49" charset="0"/>
              </a:rPr>
              <a:t>from</a:t>
            </a:r>
            <a:r>
              <a:rPr lang="en-IN" sz="1800" dirty="0">
                <a:solidFill>
                  <a:srgbClr val="000000"/>
                </a:solidFill>
                <a:latin typeface="Consolas" panose="020B0609020204030204" pitchFamily="49" charset="0"/>
              </a:rPr>
              <a:t> employees</a:t>
            </a:r>
            <a:r>
              <a:rPr lang="en-IN" sz="1800" dirty="0">
                <a:solidFill>
                  <a:srgbClr val="808080"/>
                </a:solidFill>
                <a:latin typeface="Consolas" panose="020B0609020204030204" pitchFamily="49" charset="0"/>
              </a:rPr>
              <a:t>;</a:t>
            </a:r>
          </a:p>
          <a:p>
            <a:endParaRPr lang="en-IN" dirty="0">
              <a:solidFill>
                <a:srgbClr val="808080"/>
              </a:solidFill>
              <a:latin typeface="Consolas" panose="020B0609020204030204" pitchFamily="49" charset="0"/>
            </a:endParaRPr>
          </a:p>
          <a:p>
            <a:r>
              <a:rPr lang="en-US" b="1" i="1" dirty="0"/>
              <a:t>--B) select data from the employee id, first name, last name, and hire date of all rows in the employees table…</a:t>
            </a:r>
          </a:p>
          <a:p>
            <a:endParaRPr lang="en-US" sz="1800" dirty="0">
              <a:solidFill>
                <a:srgbClr val="0000FF"/>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employee_ID</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first_name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last_name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hire_date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employees</a:t>
            </a:r>
            <a:r>
              <a:rPr lang="en-US" sz="1800" dirty="0">
                <a:solidFill>
                  <a:srgbClr val="808080"/>
                </a:solidFill>
                <a:latin typeface="Consolas" panose="020B0609020204030204" pitchFamily="49" charset="0"/>
              </a:rPr>
              <a:t>;</a:t>
            </a:r>
            <a:endParaRPr lang="en-US" sz="1800" b="1" i="1" dirty="0">
              <a:solidFill>
                <a:srgbClr val="808080"/>
              </a:solidFill>
              <a:latin typeface="Consolas" panose="020B0609020204030204" pitchFamily="49" charset="0"/>
            </a:endParaRPr>
          </a:p>
          <a:p>
            <a:endParaRPr lang="en-US" b="1" i="1" dirty="0">
              <a:solidFill>
                <a:srgbClr val="808080"/>
              </a:solidFill>
              <a:latin typeface="Consolas" panose="020B0609020204030204" pitchFamily="49" charset="0"/>
            </a:endParaRPr>
          </a:p>
          <a:p>
            <a:r>
              <a:rPr lang="en-US" b="1" i="1" dirty="0"/>
              <a:t>--C) to get the first name, last name, salary, and new salary</a:t>
            </a:r>
            <a:endParaRPr lang="en-US" b="1" i="1" dirty="0">
              <a:solidFill>
                <a:srgbClr val="008000"/>
              </a:solidFill>
              <a:latin typeface="Consolas" panose="020B0609020204030204" pitchFamily="49" charset="0"/>
            </a:endParaRPr>
          </a:p>
          <a:p>
            <a:endParaRPr lang="en-IN" sz="1800" dirty="0">
              <a:solidFill>
                <a:srgbClr val="0000FF"/>
              </a:solidFill>
              <a:latin typeface="Consolas" panose="020B0609020204030204" pitchFamily="49" charset="0"/>
            </a:endParaRPr>
          </a:p>
          <a:p>
            <a:r>
              <a:rPr lang="en-IN" sz="1800" dirty="0">
                <a:solidFill>
                  <a:srgbClr val="0000FF"/>
                </a:solidFill>
                <a:latin typeface="Consolas" panose="020B0609020204030204" pitchFamily="49" charset="0"/>
              </a:rPr>
              <a:t>Alter</a:t>
            </a:r>
            <a:r>
              <a:rPr lang="en-IN" sz="1800" dirty="0">
                <a:solidFill>
                  <a:srgbClr val="000000"/>
                </a:solidFill>
                <a:latin typeface="Consolas" panose="020B0609020204030204" pitchFamily="49" charset="0"/>
              </a:rPr>
              <a:t> </a:t>
            </a:r>
            <a:r>
              <a:rPr lang="en-IN" sz="1800" dirty="0">
                <a:solidFill>
                  <a:srgbClr val="0000FF"/>
                </a:solidFill>
                <a:latin typeface="Consolas" panose="020B0609020204030204" pitchFamily="49" charset="0"/>
              </a:rPr>
              <a:t>table</a:t>
            </a:r>
            <a:r>
              <a:rPr lang="en-IN" sz="1800" dirty="0">
                <a:solidFill>
                  <a:srgbClr val="000000"/>
                </a:solidFill>
                <a:latin typeface="Consolas" panose="020B0609020204030204" pitchFamily="49" charset="0"/>
              </a:rPr>
              <a:t> employees</a:t>
            </a:r>
          </a:p>
          <a:p>
            <a:r>
              <a:rPr lang="en-US" sz="1800" dirty="0">
                <a:solidFill>
                  <a:srgbClr val="0000FF"/>
                </a:solidFill>
                <a:latin typeface="Consolas" panose="020B0609020204030204" pitchFamily="49" charset="0"/>
              </a:rPr>
              <a:t>add</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New_Salary</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Decimal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10</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endParaRPr lang="en-IN"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first_name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last_name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New_Salary</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employees</a:t>
            </a:r>
            <a:r>
              <a:rPr lang="en-US" sz="1800" dirty="0">
                <a:solidFill>
                  <a:srgbClr val="808080"/>
                </a:solidFill>
                <a:latin typeface="Consolas" panose="020B0609020204030204" pitchFamily="49" charset="0"/>
              </a:rPr>
              <a:t>;</a:t>
            </a:r>
            <a:endParaRPr lang="en-US" sz="1800" b="1" i="1" dirty="0">
              <a:solidFill>
                <a:srgbClr val="008000"/>
              </a:solidFill>
              <a:latin typeface="Consolas" panose="020B0609020204030204" pitchFamily="49" charset="0"/>
            </a:endParaRPr>
          </a:p>
          <a:p>
            <a:endParaRPr lang="en-US" b="1" i="1" dirty="0">
              <a:solidFill>
                <a:srgbClr val="008000"/>
              </a:solidFill>
              <a:latin typeface="Consolas" panose="020B0609020204030204" pitchFamily="49" charset="0"/>
            </a:endParaRPr>
          </a:p>
          <a:p>
            <a:r>
              <a:rPr lang="en-US" b="1" i="1" dirty="0"/>
              <a:t>--D) Increase the salary two times and named as </a:t>
            </a:r>
            <a:r>
              <a:rPr lang="en-US" b="1" i="1" dirty="0" err="1"/>
              <a:t>New_SALARY</a:t>
            </a:r>
            <a:r>
              <a:rPr lang="en-US" b="1" i="1" dirty="0"/>
              <a:t> from employees table</a:t>
            </a:r>
          </a:p>
          <a:p>
            <a:endParaRPr lang="en-IN" sz="1800" dirty="0">
              <a:solidFill>
                <a:srgbClr val="FF00FF"/>
              </a:solidFill>
              <a:latin typeface="Consolas" panose="020B0609020204030204" pitchFamily="49" charset="0"/>
            </a:endParaRPr>
          </a:p>
          <a:p>
            <a:r>
              <a:rPr lang="en-IN" sz="1800" dirty="0">
                <a:solidFill>
                  <a:srgbClr val="FF00FF"/>
                </a:solidFill>
                <a:latin typeface="Consolas" panose="020B0609020204030204" pitchFamily="49" charset="0"/>
              </a:rPr>
              <a:t>Update</a:t>
            </a:r>
            <a:r>
              <a:rPr lang="en-IN" sz="1800" dirty="0">
                <a:solidFill>
                  <a:srgbClr val="000000"/>
                </a:solidFill>
                <a:latin typeface="Consolas" panose="020B0609020204030204" pitchFamily="49" charset="0"/>
              </a:rPr>
              <a:t> employees</a:t>
            </a:r>
          </a:p>
          <a:p>
            <a:r>
              <a:rPr lang="en-US" sz="1800" dirty="0">
                <a:solidFill>
                  <a:srgbClr val="0000FF"/>
                </a:solidFill>
                <a:latin typeface="Consolas" panose="020B0609020204030204" pitchFamily="49" charset="0"/>
              </a:rPr>
              <a:t>set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New_Salary</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salary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2</a:t>
            </a:r>
            <a:r>
              <a:rPr lang="en-US" sz="1800" dirty="0">
                <a:solidFill>
                  <a:srgbClr val="808080"/>
                </a:solidFill>
                <a:latin typeface="Consolas" panose="020B0609020204030204" pitchFamily="49" charset="0"/>
              </a:rPr>
              <a:t>;</a:t>
            </a:r>
            <a:endParaRPr lang="en-IN" b="1" i="1" dirty="0"/>
          </a:p>
          <a:p>
            <a:endParaRPr lang="en-US" b="1" i="1" dirty="0"/>
          </a:p>
        </p:txBody>
      </p:sp>
    </p:spTree>
    <p:extLst>
      <p:ext uri="{BB962C8B-B14F-4D97-AF65-F5344CB8AC3E}">
        <p14:creationId xmlns:p14="http://schemas.microsoft.com/office/powerpoint/2010/main" val="32368968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CBFC4-5990-3AA6-6F06-33A425FB23C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24B17C4-0382-B699-4B58-575EB0241CB0}"/>
              </a:ext>
            </a:extLst>
          </p:cNvPr>
          <p:cNvSpPr txBox="1"/>
          <p:nvPr/>
        </p:nvSpPr>
        <p:spPr>
          <a:xfrm>
            <a:off x="147485" y="162232"/>
            <a:ext cx="10618838" cy="523220"/>
          </a:xfrm>
          <a:prstGeom prst="rect">
            <a:avLst/>
          </a:prstGeom>
          <a:noFill/>
        </p:spPr>
        <p:txBody>
          <a:bodyPr wrap="square" rtlCol="0">
            <a:spAutoFit/>
          </a:bodyPr>
          <a:lstStyle/>
          <a:p>
            <a:r>
              <a:rPr lang="en-US" sz="2800" b="1" i="1" dirty="0"/>
              <a:t>2) WRITE A QUERY FOR ORDER BY STATEMENTS </a:t>
            </a:r>
          </a:p>
        </p:txBody>
      </p:sp>
      <p:sp>
        <p:nvSpPr>
          <p:cNvPr id="2" name="TextBox 1">
            <a:extLst>
              <a:ext uri="{FF2B5EF4-FFF2-40B4-BE49-F238E27FC236}">
                <a16:creationId xmlns:a16="http://schemas.microsoft.com/office/drawing/2014/main" id="{BFBD0FAE-608A-3413-B648-195C22AD399D}"/>
              </a:ext>
            </a:extLst>
          </p:cNvPr>
          <p:cNvSpPr txBox="1"/>
          <p:nvPr/>
        </p:nvSpPr>
        <p:spPr>
          <a:xfrm>
            <a:off x="147484" y="816077"/>
            <a:ext cx="12044515" cy="5355312"/>
          </a:xfrm>
          <a:prstGeom prst="rect">
            <a:avLst/>
          </a:prstGeom>
          <a:noFill/>
        </p:spPr>
        <p:txBody>
          <a:bodyPr wrap="square" rtlCol="0">
            <a:spAutoFit/>
          </a:bodyPr>
          <a:lstStyle/>
          <a:p>
            <a:r>
              <a:rPr lang="en-US" b="1" i="1" dirty="0"/>
              <a:t>--A) Returns the data from the employee id, first name, last name, hire date, and salary column of the employees table:</a:t>
            </a: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First_name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Last_name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hire_date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Salary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employees</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endParaRPr lang="en-IN" sz="1800" dirty="0">
              <a:solidFill>
                <a:srgbClr val="000000"/>
              </a:solidFill>
              <a:latin typeface="Consolas" panose="020B0609020204030204" pitchFamily="49" charset="0"/>
            </a:endParaRPr>
          </a:p>
          <a:p>
            <a:r>
              <a:rPr lang="en-US" b="1" i="1" dirty="0"/>
              <a:t>--B) to sort employees by first names in alphabetical order</a:t>
            </a:r>
            <a:r>
              <a:rPr lang="en-US" sz="1800" dirty="0">
                <a:solidFill>
                  <a:srgbClr val="00800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First_name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employees</a:t>
            </a:r>
          </a:p>
          <a:p>
            <a:r>
              <a:rPr lang="en-US" sz="1800" dirty="0">
                <a:solidFill>
                  <a:srgbClr val="0000FF"/>
                </a:solidFill>
                <a:latin typeface="Consolas" panose="020B0609020204030204" pitchFamily="49" charset="0"/>
              </a:rPr>
              <a:t>order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first_name</a:t>
            </a:r>
            <a:r>
              <a:rPr lang="en-US" sz="1800" dirty="0">
                <a:solidFill>
                  <a:srgbClr val="000000"/>
                </a:solidFill>
                <a:latin typeface="Consolas" panose="020B0609020204030204" pitchFamily="49" charset="0"/>
              </a:rPr>
              <a:t> </a:t>
            </a:r>
            <a:r>
              <a:rPr lang="en-US" sz="1800" dirty="0" err="1">
                <a:solidFill>
                  <a:srgbClr val="0000FF"/>
                </a:solidFill>
                <a:latin typeface="Consolas" panose="020B0609020204030204" pitchFamily="49" charset="0"/>
              </a:rPr>
              <a:t>asc</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endParaRPr lang="en-IN" sz="1800" dirty="0">
              <a:solidFill>
                <a:srgbClr val="000000"/>
              </a:solidFill>
              <a:latin typeface="Consolas" panose="020B0609020204030204" pitchFamily="49" charset="0"/>
            </a:endParaRPr>
          </a:p>
          <a:p>
            <a:r>
              <a:rPr lang="en-US" b="1" i="1" dirty="0"/>
              <a:t>--C) to sort the employees by the first name in ascending order and the last name in descending order:</a:t>
            </a: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First_name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last_name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employees</a:t>
            </a:r>
          </a:p>
          <a:p>
            <a:r>
              <a:rPr lang="en-US" sz="1800" dirty="0">
                <a:solidFill>
                  <a:srgbClr val="0000FF"/>
                </a:solidFill>
                <a:latin typeface="Consolas" panose="020B0609020204030204" pitchFamily="49" charset="0"/>
              </a:rPr>
              <a:t>order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first_name</a:t>
            </a:r>
            <a:r>
              <a:rPr lang="en-US" sz="1800" dirty="0">
                <a:solidFill>
                  <a:srgbClr val="000000"/>
                </a:solidFill>
                <a:latin typeface="Consolas" panose="020B0609020204030204" pitchFamily="49" charset="0"/>
              </a:rPr>
              <a:t> </a:t>
            </a:r>
            <a:r>
              <a:rPr lang="en-US" sz="1800" dirty="0" err="1">
                <a:solidFill>
                  <a:srgbClr val="0000FF"/>
                </a:solidFill>
                <a:latin typeface="Consolas" panose="020B0609020204030204" pitchFamily="49" charset="0"/>
              </a:rPr>
              <a:t>asc</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last_name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desc</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endParaRPr lang="en-IN" sz="1800" dirty="0">
              <a:solidFill>
                <a:srgbClr val="000000"/>
              </a:solidFill>
              <a:latin typeface="Consolas" panose="020B0609020204030204" pitchFamily="49" charset="0"/>
            </a:endParaRPr>
          </a:p>
          <a:p>
            <a:r>
              <a:rPr lang="en-US" b="1" i="1" dirty="0"/>
              <a:t>--D) to sort employees by salary from high to low</a:t>
            </a:r>
            <a:r>
              <a:rPr lang="en-US" sz="1800" dirty="0">
                <a:solidFill>
                  <a:srgbClr val="00800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employees </a:t>
            </a:r>
            <a:r>
              <a:rPr lang="en-US" sz="1800" dirty="0">
                <a:solidFill>
                  <a:srgbClr val="0000FF"/>
                </a:solidFill>
                <a:latin typeface="Consolas" panose="020B0609020204030204" pitchFamily="49" charset="0"/>
              </a:rPr>
              <a:t>order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salary </a:t>
            </a:r>
            <a:r>
              <a:rPr lang="en-US" sz="1800" dirty="0">
                <a:solidFill>
                  <a:srgbClr val="0000FF"/>
                </a:solidFill>
                <a:latin typeface="Consolas" panose="020B0609020204030204" pitchFamily="49" charset="0"/>
              </a:rPr>
              <a:t>Desc</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endParaRPr lang="en-IN" sz="1800" dirty="0">
              <a:solidFill>
                <a:srgbClr val="000000"/>
              </a:solidFill>
              <a:latin typeface="Consolas" panose="020B0609020204030204" pitchFamily="49" charset="0"/>
            </a:endParaRPr>
          </a:p>
          <a:p>
            <a:r>
              <a:rPr lang="en-US" b="1" i="1" dirty="0"/>
              <a:t>--E) to sort the employees by values in the </a:t>
            </a:r>
            <a:r>
              <a:rPr lang="en-US" b="1" i="1" dirty="0" err="1"/>
              <a:t>hire_date</a:t>
            </a:r>
            <a:r>
              <a:rPr lang="en-US" b="1" i="1" dirty="0"/>
              <a:t> column from</a:t>
            </a:r>
            <a:r>
              <a:rPr lang="en-US" sz="1800" dirty="0">
                <a:solidFill>
                  <a:srgbClr val="00800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employees </a:t>
            </a:r>
            <a:r>
              <a:rPr lang="en-US" sz="1800" dirty="0">
                <a:solidFill>
                  <a:srgbClr val="0000FF"/>
                </a:solidFill>
                <a:latin typeface="Consolas" panose="020B0609020204030204" pitchFamily="49" charset="0"/>
              </a:rPr>
              <a:t>order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hire_date</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endParaRPr lang="en-IN" sz="1800" dirty="0">
              <a:solidFill>
                <a:srgbClr val="000000"/>
              </a:solidFill>
              <a:latin typeface="Consolas" panose="020B0609020204030204" pitchFamily="49" charset="0"/>
            </a:endParaRPr>
          </a:p>
          <a:p>
            <a:r>
              <a:rPr lang="en-US" b="1" i="1" dirty="0"/>
              <a:t>--F) sort the employees by the hire dates in descending order</a:t>
            </a:r>
            <a:r>
              <a:rPr lang="en-US" sz="1800" dirty="0">
                <a:solidFill>
                  <a:srgbClr val="00800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employees </a:t>
            </a:r>
            <a:r>
              <a:rPr lang="en-US" sz="1800" dirty="0">
                <a:solidFill>
                  <a:srgbClr val="0000FF"/>
                </a:solidFill>
                <a:latin typeface="Consolas" panose="020B0609020204030204" pitchFamily="49" charset="0"/>
              </a:rPr>
              <a:t>order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hire_date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desc</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28895846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CB58A-5A2A-6D4E-030E-6F9BB8A6C1E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8B83E48-6614-0383-7D52-05D89E5AE6A4}"/>
              </a:ext>
            </a:extLst>
          </p:cNvPr>
          <p:cNvSpPr txBox="1"/>
          <p:nvPr/>
        </p:nvSpPr>
        <p:spPr>
          <a:xfrm>
            <a:off x="147485" y="162232"/>
            <a:ext cx="10618838" cy="523220"/>
          </a:xfrm>
          <a:prstGeom prst="rect">
            <a:avLst/>
          </a:prstGeom>
          <a:noFill/>
        </p:spPr>
        <p:txBody>
          <a:bodyPr wrap="square" rtlCol="0">
            <a:spAutoFit/>
          </a:bodyPr>
          <a:lstStyle/>
          <a:p>
            <a:r>
              <a:rPr lang="en-US" sz="2800" b="1" i="1" dirty="0"/>
              <a:t>3) WRITE A QUERY FOR DISTINCT STATEMENTS</a:t>
            </a:r>
          </a:p>
        </p:txBody>
      </p:sp>
      <p:sp>
        <p:nvSpPr>
          <p:cNvPr id="2" name="TextBox 1">
            <a:extLst>
              <a:ext uri="{FF2B5EF4-FFF2-40B4-BE49-F238E27FC236}">
                <a16:creationId xmlns:a16="http://schemas.microsoft.com/office/drawing/2014/main" id="{92037D30-5BF6-0782-94AA-18F960AE0C76}"/>
              </a:ext>
            </a:extLst>
          </p:cNvPr>
          <p:cNvSpPr txBox="1"/>
          <p:nvPr/>
        </p:nvSpPr>
        <p:spPr>
          <a:xfrm>
            <a:off x="147485" y="1028343"/>
            <a:ext cx="12044515" cy="4801314"/>
          </a:xfrm>
          <a:prstGeom prst="rect">
            <a:avLst/>
          </a:prstGeom>
          <a:noFill/>
        </p:spPr>
        <p:txBody>
          <a:bodyPr wrap="square" rtlCol="0">
            <a:spAutoFit/>
          </a:bodyPr>
          <a:lstStyle/>
          <a:p>
            <a:r>
              <a:rPr lang="en-US" b="1" i="1" dirty="0"/>
              <a:t>--A) Selects the salary data from the salary column of the employees table and sorts them from high to low</a:t>
            </a:r>
          </a:p>
          <a:p>
            <a:r>
              <a:rPr lang="en-IN" sz="1800" dirty="0">
                <a:solidFill>
                  <a:srgbClr val="0000FF"/>
                </a:solidFill>
                <a:latin typeface="Consolas" panose="020B0609020204030204" pitchFamily="49" charset="0"/>
              </a:rPr>
              <a:t>Select</a:t>
            </a:r>
            <a:r>
              <a:rPr lang="en-IN" sz="1800" dirty="0">
                <a:solidFill>
                  <a:srgbClr val="000000"/>
                </a:solidFill>
                <a:latin typeface="Consolas" panose="020B0609020204030204" pitchFamily="49" charset="0"/>
              </a:rPr>
              <a:t> Salary </a:t>
            </a:r>
            <a:r>
              <a:rPr lang="en-IN" sz="1800" dirty="0">
                <a:solidFill>
                  <a:srgbClr val="0000FF"/>
                </a:solidFill>
                <a:latin typeface="Consolas" panose="020B0609020204030204" pitchFamily="49" charset="0"/>
              </a:rPr>
              <a:t>from</a:t>
            </a:r>
            <a:r>
              <a:rPr lang="en-IN" sz="1800" dirty="0">
                <a:solidFill>
                  <a:srgbClr val="000000"/>
                </a:solidFill>
                <a:latin typeface="Consolas" panose="020B0609020204030204" pitchFamily="49" charset="0"/>
              </a:rPr>
              <a:t> employees</a:t>
            </a:r>
          </a:p>
          <a:p>
            <a:r>
              <a:rPr lang="en-IN" sz="1800" dirty="0">
                <a:solidFill>
                  <a:srgbClr val="0000FF"/>
                </a:solidFill>
                <a:latin typeface="Consolas" panose="020B0609020204030204" pitchFamily="49" charset="0"/>
              </a:rPr>
              <a:t>order</a:t>
            </a:r>
            <a:r>
              <a:rPr lang="en-IN" sz="1800" dirty="0">
                <a:solidFill>
                  <a:srgbClr val="000000"/>
                </a:solidFill>
                <a:latin typeface="Consolas" panose="020B0609020204030204" pitchFamily="49" charset="0"/>
              </a:rPr>
              <a:t> </a:t>
            </a:r>
            <a:r>
              <a:rPr lang="en-IN" sz="1800" dirty="0">
                <a:solidFill>
                  <a:srgbClr val="0000FF"/>
                </a:solidFill>
                <a:latin typeface="Consolas" panose="020B0609020204030204" pitchFamily="49" charset="0"/>
              </a:rPr>
              <a:t>by</a:t>
            </a:r>
            <a:r>
              <a:rPr lang="en-IN" sz="1800" dirty="0">
                <a:solidFill>
                  <a:srgbClr val="000000"/>
                </a:solidFill>
                <a:latin typeface="Consolas" panose="020B0609020204030204" pitchFamily="49" charset="0"/>
              </a:rPr>
              <a:t> salary </a:t>
            </a:r>
            <a:r>
              <a:rPr lang="en-IN" sz="1800" dirty="0" err="1">
                <a:solidFill>
                  <a:srgbClr val="0000FF"/>
                </a:solidFill>
                <a:latin typeface="Consolas" panose="020B0609020204030204" pitchFamily="49" charset="0"/>
              </a:rPr>
              <a:t>desc</a:t>
            </a:r>
            <a:r>
              <a:rPr lang="en-IN" sz="1800" dirty="0">
                <a:solidFill>
                  <a:srgbClr val="808080"/>
                </a:solidFill>
                <a:latin typeface="Consolas" panose="020B0609020204030204" pitchFamily="49" charset="0"/>
              </a:rPr>
              <a:t>;</a:t>
            </a:r>
            <a:endParaRPr lang="en-IN" sz="1800" dirty="0">
              <a:solidFill>
                <a:srgbClr val="000000"/>
              </a:solidFill>
              <a:latin typeface="Consolas" panose="020B0609020204030204" pitchFamily="49" charset="0"/>
            </a:endParaRPr>
          </a:p>
          <a:p>
            <a:endParaRPr lang="en-IN" sz="1800" dirty="0">
              <a:solidFill>
                <a:srgbClr val="000000"/>
              </a:solidFill>
              <a:latin typeface="Consolas" panose="020B0609020204030204" pitchFamily="49" charset="0"/>
            </a:endParaRPr>
          </a:p>
          <a:p>
            <a:r>
              <a:rPr lang="en-US" b="1" i="1" dirty="0"/>
              <a:t>--B) select unique values from the salary column of the employees table:</a:t>
            </a: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distinct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Salary</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Employees</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endParaRPr lang="en-IN" sz="1800" dirty="0">
              <a:solidFill>
                <a:srgbClr val="000000"/>
              </a:solidFill>
              <a:latin typeface="Consolas" panose="020B0609020204030204" pitchFamily="49" charset="0"/>
            </a:endParaRPr>
          </a:p>
          <a:p>
            <a:r>
              <a:rPr lang="en-US" b="1" i="1" dirty="0"/>
              <a:t>--C) selects the job id and salary from the employees table</a:t>
            </a:r>
            <a:r>
              <a:rPr lang="en-US" sz="1800" dirty="0">
                <a:solidFill>
                  <a:srgbClr val="00800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job_id</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Salary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employees</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endParaRPr lang="en-IN" sz="1800" dirty="0">
              <a:solidFill>
                <a:srgbClr val="000000"/>
              </a:solidFill>
              <a:latin typeface="Consolas" panose="020B0609020204030204" pitchFamily="49" charset="0"/>
            </a:endParaRPr>
          </a:p>
          <a:p>
            <a:r>
              <a:rPr lang="en-US" b="1" i="1" dirty="0"/>
              <a:t>--D) to remove the duplicate values in job id and salary:</a:t>
            </a: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distinct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job_id</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salary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employees</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endParaRPr lang="en-IN" sz="1800" dirty="0">
              <a:solidFill>
                <a:srgbClr val="000000"/>
              </a:solidFill>
              <a:latin typeface="Consolas" panose="020B0609020204030204" pitchFamily="49" charset="0"/>
            </a:endParaRPr>
          </a:p>
          <a:p>
            <a:r>
              <a:rPr lang="en-US" b="1" i="1" dirty="0"/>
              <a:t>--E) returns the distinct phone numbers of employees:</a:t>
            </a: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distinct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phone_number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employees</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endParaRPr lang="en-IN" sz="1800" dirty="0">
              <a:solidFill>
                <a:srgbClr val="000000"/>
              </a:solidFill>
              <a:latin typeface="Consolas" panose="020B0609020204030204" pitchFamily="49" charset="0"/>
            </a:endParaRPr>
          </a:p>
          <a:p>
            <a:endParaRPr lang="en-US" sz="18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3709971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37320-3780-D5E6-6D9E-FCBC0D1A86B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8F48C75-AF6C-C518-5259-74F2F9047EB9}"/>
              </a:ext>
            </a:extLst>
          </p:cNvPr>
          <p:cNvSpPr txBox="1"/>
          <p:nvPr/>
        </p:nvSpPr>
        <p:spPr>
          <a:xfrm>
            <a:off x="147485" y="162232"/>
            <a:ext cx="10618838" cy="523220"/>
          </a:xfrm>
          <a:prstGeom prst="rect">
            <a:avLst/>
          </a:prstGeom>
          <a:noFill/>
        </p:spPr>
        <p:txBody>
          <a:bodyPr wrap="square" rtlCol="0">
            <a:spAutoFit/>
          </a:bodyPr>
          <a:lstStyle/>
          <a:p>
            <a:r>
              <a:rPr lang="en-US" sz="2800" b="1" i="1" dirty="0"/>
              <a:t>4) WRITE A QUERY FOR TOP N STATEMENTS</a:t>
            </a:r>
          </a:p>
        </p:txBody>
      </p:sp>
      <p:sp>
        <p:nvSpPr>
          <p:cNvPr id="2" name="TextBox 1">
            <a:extLst>
              <a:ext uri="{FF2B5EF4-FFF2-40B4-BE49-F238E27FC236}">
                <a16:creationId xmlns:a16="http://schemas.microsoft.com/office/drawing/2014/main" id="{7FB14420-FEFE-6075-460D-B5D6562770EC}"/>
              </a:ext>
            </a:extLst>
          </p:cNvPr>
          <p:cNvSpPr txBox="1"/>
          <p:nvPr/>
        </p:nvSpPr>
        <p:spPr>
          <a:xfrm>
            <a:off x="147485" y="1028343"/>
            <a:ext cx="12044515" cy="4247317"/>
          </a:xfrm>
          <a:prstGeom prst="rect">
            <a:avLst/>
          </a:prstGeom>
          <a:noFill/>
        </p:spPr>
        <p:txBody>
          <a:bodyPr wrap="square" rtlCol="0">
            <a:spAutoFit/>
          </a:bodyPr>
          <a:lstStyle/>
          <a:p>
            <a:r>
              <a:rPr lang="en-US" b="1" i="1" dirty="0"/>
              <a:t>--A) returns all rows in the employees table sorted by the </a:t>
            </a:r>
            <a:r>
              <a:rPr lang="en-US" b="1" i="1" dirty="0" err="1"/>
              <a:t>first_name</a:t>
            </a:r>
            <a:r>
              <a:rPr lang="en-US" b="1" i="1" dirty="0"/>
              <a:t> column</a:t>
            </a:r>
          </a:p>
          <a:p>
            <a:r>
              <a:rPr lang="en-IN" sz="1800" dirty="0">
                <a:solidFill>
                  <a:srgbClr val="0000FF"/>
                </a:solidFill>
                <a:latin typeface="Consolas" panose="020B0609020204030204" pitchFamily="49" charset="0"/>
              </a:rPr>
              <a:t>Select</a:t>
            </a:r>
            <a:r>
              <a:rPr lang="en-IN" sz="1800" dirty="0">
                <a:solidFill>
                  <a:srgbClr val="000000"/>
                </a:solidFill>
                <a:latin typeface="Consolas" panose="020B0609020204030204" pitchFamily="49" charset="0"/>
              </a:rPr>
              <a:t> </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 </a:t>
            </a:r>
            <a:r>
              <a:rPr lang="en-IN" sz="1800" dirty="0">
                <a:solidFill>
                  <a:srgbClr val="0000FF"/>
                </a:solidFill>
                <a:latin typeface="Consolas" panose="020B0609020204030204" pitchFamily="49" charset="0"/>
              </a:rPr>
              <a:t>from</a:t>
            </a:r>
            <a:r>
              <a:rPr lang="en-IN" sz="1800" dirty="0">
                <a:solidFill>
                  <a:srgbClr val="000000"/>
                </a:solidFill>
                <a:latin typeface="Consolas" panose="020B0609020204030204" pitchFamily="49" charset="0"/>
              </a:rPr>
              <a:t> employees</a:t>
            </a:r>
          </a:p>
          <a:p>
            <a:r>
              <a:rPr lang="en-US" sz="1800" dirty="0">
                <a:solidFill>
                  <a:srgbClr val="0000FF"/>
                </a:solidFill>
                <a:latin typeface="Consolas" panose="020B0609020204030204" pitchFamily="49" charset="0"/>
              </a:rPr>
              <a:t>order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first_name</a:t>
            </a:r>
            <a:r>
              <a:rPr lang="en-US" sz="1800" dirty="0">
                <a:solidFill>
                  <a:srgbClr val="000000"/>
                </a:solidFill>
                <a:latin typeface="Consolas" panose="020B0609020204030204" pitchFamily="49" charset="0"/>
              </a:rPr>
              <a:t> </a:t>
            </a:r>
            <a:r>
              <a:rPr lang="en-US" sz="1800" dirty="0" err="1">
                <a:solidFill>
                  <a:srgbClr val="0000FF"/>
                </a:solidFill>
                <a:latin typeface="Consolas" panose="020B0609020204030204" pitchFamily="49" charset="0"/>
              </a:rPr>
              <a:t>asc</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endParaRPr lang="en-IN" sz="1800" dirty="0">
              <a:solidFill>
                <a:srgbClr val="000000"/>
              </a:solidFill>
              <a:latin typeface="Consolas" panose="020B0609020204030204" pitchFamily="49" charset="0"/>
            </a:endParaRPr>
          </a:p>
          <a:p>
            <a:r>
              <a:rPr lang="en-US" b="1" i="1" dirty="0"/>
              <a:t>--B) to return the first 5 rows in the result set returned by the SELECT clause:</a:t>
            </a: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top</a:t>
            </a:r>
            <a:r>
              <a:rPr lang="en-US" sz="1800" dirty="0">
                <a:solidFill>
                  <a:srgbClr val="000000"/>
                </a:solidFill>
                <a:latin typeface="Consolas" panose="020B0609020204030204" pitchFamily="49" charset="0"/>
              </a:rPr>
              <a:t> 5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employees</a:t>
            </a:r>
            <a:r>
              <a:rPr lang="en-US" sz="1800" dirty="0">
                <a:solidFill>
                  <a:srgbClr val="808080"/>
                </a:solidFill>
                <a:latin typeface="Consolas" panose="020B0609020204030204" pitchFamily="49" charset="0"/>
              </a:rPr>
              <a:t>;</a:t>
            </a:r>
            <a:endParaRPr lang="en-IN" sz="1800" dirty="0">
              <a:solidFill>
                <a:srgbClr val="000000"/>
              </a:solidFill>
              <a:latin typeface="Consolas" panose="020B0609020204030204" pitchFamily="49" charset="0"/>
            </a:endParaRPr>
          </a:p>
          <a:p>
            <a:endParaRPr lang="en-IN" sz="1800" dirty="0">
              <a:solidFill>
                <a:srgbClr val="000000"/>
              </a:solidFill>
              <a:latin typeface="Consolas" panose="020B0609020204030204" pitchFamily="49" charset="0"/>
            </a:endParaRPr>
          </a:p>
          <a:p>
            <a:r>
              <a:rPr lang="en-US" b="1" i="1" dirty="0"/>
              <a:t>--C) gets the top five employees with the highest salaries.</a:t>
            </a: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top</a:t>
            </a:r>
            <a:r>
              <a:rPr lang="en-US" sz="1800" dirty="0">
                <a:solidFill>
                  <a:srgbClr val="000000"/>
                </a:solidFill>
                <a:latin typeface="Consolas" panose="020B0609020204030204" pitchFamily="49" charset="0"/>
              </a:rPr>
              <a:t> 5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employees</a:t>
            </a:r>
          </a:p>
          <a:p>
            <a:r>
              <a:rPr lang="en-IN" sz="1800" dirty="0">
                <a:solidFill>
                  <a:srgbClr val="0000FF"/>
                </a:solidFill>
                <a:latin typeface="Consolas" panose="020B0609020204030204" pitchFamily="49" charset="0"/>
              </a:rPr>
              <a:t>order</a:t>
            </a:r>
            <a:r>
              <a:rPr lang="en-IN" sz="1800" dirty="0">
                <a:solidFill>
                  <a:srgbClr val="000000"/>
                </a:solidFill>
                <a:latin typeface="Consolas" panose="020B0609020204030204" pitchFamily="49" charset="0"/>
              </a:rPr>
              <a:t> </a:t>
            </a:r>
            <a:r>
              <a:rPr lang="en-IN" sz="1800" dirty="0">
                <a:solidFill>
                  <a:srgbClr val="0000FF"/>
                </a:solidFill>
                <a:latin typeface="Consolas" panose="020B0609020204030204" pitchFamily="49" charset="0"/>
              </a:rPr>
              <a:t>by</a:t>
            </a:r>
            <a:r>
              <a:rPr lang="en-IN" sz="1800" dirty="0">
                <a:solidFill>
                  <a:srgbClr val="000000"/>
                </a:solidFill>
                <a:latin typeface="Consolas" panose="020B0609020204030204" pitchFamily="49" charset="0"/>
              </a:rPr>
              <a:t> salary </a:t>
            </a:r>
            <a:r>
              <a:rPr lang="en-IN" sz="1800" dirty="0" err="1">
                <a:solidFill>
                  <a:srgbClr val="0000FF"/>
                </a:solidFill>
                <a:latin typeface="Consolas" panose="020B0609020204030204" pitchFamily="49" charset="0"/>
              </a:rPr>
              <a:t>desc</a:t>
            </a:r>
            <a:r>
              <a:rPr lang="en-IN" sz="1800" dirty="0">
                <a:solidFill>
                  <a:srgbClr val="808080"/>
                </a:solidFill>
                <a:latin typeface="Consolas" panose="020B0609020204030204" pitchFamily="49" charset="0"/>
              </a:rPr>
              <a:t>;</a:t>
            </a:r>
            <a:endParaRPr lang="en-IN" sz="1800" dirty="0">
              <a:solidFill>
                <a:srgbClr val="000000"/>
              </a:solidFill>
              <a:latin typeface="Consolas" panose="020B0609020204030204" pitchFamily="49" charset="0"/>
            </a:endParaRPr>
          </a:p>
          <a:p>
            <a:endParaRPr lang="en-IN" sz="1800" dirty="0">
              <a:solidFill>
                <a:srgbClr val="000000"/>
              </a:solidFill>
              <a:latin typeface="Consolas" panose="020B0609020204030204" pitchFamily="49" charset="0"/>
            </a:endParaRPr>
          </a:p>
          <a:p>
            <a:r>
              <a:rPr lang="en-US" b="1" i="1" dirty="0"/>
              <a:t>--D) to get employees who have the 2nd highest salary in the company</a:t>
            </a: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top</a:t>
            </a:r>
            <a:r>
              <a:rPr lang="en-US" sz="1800" dirty="0">
                <a:solidFill>
                  <a:srgbClr val="000000"/>
                </a:solidFill>
                <a:latin typeface="Consolas" panose="020B0609020204030204" pitchFamily="49" charset="0"/>
              </a:rPr>
              <a:t> 2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employees</a:t>
            </a:r>
          </a:p>
          <a:p>
            <a:r>
              <a:rPr lang="en-IN" sz="1800" dirty="0">
                <a:solidFill>
                  <a:srgbClr val="0000FF"/>
                </a:solidFill>
                <a:latin typeface="Consolas" panose="020B0609020204030204" pitchFamily="49" charset="0"/>
              </a:rPr>
              <a:t>order</a:t>
            </a:r>
            <a:r>
              <a:rPr lang="en-IN" sz="1800" dirty="0">
                <a:solidFill>
                  <a:srgbClr val="000000"/>
                </a:solidFill>
                <a:latin typeface="Consolas" panose="020B0609020204030204" pitchFamily="49" charset="0"/>
              </a:rPr>
              <a:t> </a:t>
            </a:r>
            <a:r>
              <a:rPr lang="en-IN" sz="1800" dirty="0">
                <a:solidFill>
                  <a:srgbClr val="0000FF"/>
                </a:solidFill>
                <a:latin typeface="Consolas" panose="020B0609020204030204" pitchFamily="49" charset="0"/>
              </a:rPr>
              <a:t>by</a:t>
            </a:r>
            <a:r>
              <a:rPr lang="en-IN" sz="1800" dirty="0">
                <a:solidFill>
                  <a:srgbClr val="000000"/>
                </a:solidFill>
                <a:latin typeface="Consolas" panose="020B0609020204030204" pitchFamily="49" charset="0"/>
              </a:rPr>
              <a:t> salary </a:t>
            </a:r>
            <a:r>
              <a:rPr lang="en-IN" sz="1800" dirty="0" err="1">
                <a:solidFill>
                  <a:srgbClr val="0000FF"/>
                </a:solidFill>
                <a:latin typeface="Consolas" panose="020B0609020204030204" pitchFamily="49" charset="0"/>
              </a:rPr>
              <a:t>desc</a:t>
            </a:r>
            <a:r>
              <a:rPr lang="en-IN" sz="1800" dirty="0">
                <a:solidFill>
                  <a:srgbClr val="808080"/>
                </a:solidFill>
                <a:latin typeface="Consolas" panose="020B0609020204030204" pitchFamily="49" charset="0"/>
              </a:rPr>
              <a:t>;</a:t>
            </a:r>
            <a:endParaRPr lang="en-IN" sz="1800" dirty="0">
              <a:solidFill>
                <a:srgbClr val="000000"/>
              </a:solidFill>
              <a:latin typeface="Consolas" panose="020B0609020204030204" pitchFamily="49" charset="0"/>
            </a:endParaRPr>
          </a:p>
          <a:p>
            <a:endParaRPr lang="en-US" sz="18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13839255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
          <a:extLst>
            <a:ext uri="{FF2B5EF4-FFF2-40B4-BE49-F238E27FC236}">
              <a16:creationId xmlns:a16="http://schemas.microsoft.com/office/drawing/2014/main" id="{3324C2E8-2D84-B21F-B0C9-6A7D7ABB779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BA94F24-91C3-14F4-DA49-10E489FA721C}"/>
              </a:ext>
            </a:extLst>
          </p:cNvPr>
          <p:cNvSpPr txBox="1"/>
          <p:nvPr/>
        </p:nvSpPr>
        <p:spPr>
          <a:xfrm>
            <a:off x="147485" y="162232"/>
            <a:ext cx="11897030" cy="523220"/>
          </a:xfrm>
          <a:prstGeom prst="rect">
            <a:avLst/>
          </a:prstGeom>
          <a:noFill/>
        </p:spPr>
        <p:txBody>
          <a:bodyPr wrap="square" rtlCol="0">
            <a:spAutoFit/>
          </a:bodyPr>
          <a:lstStyle/>
          <a:p>
            <a:r>
              <a:rPr lang="en-US" sz="2800" b="1" i="1" dirty="0"/>
              <a:t>5) WRITE A QUERY FOR WHERE CLAUSE and COMPARISON OPERATORS :</a:t>
            </a:r>
          </a:p>
        </p:txBody>
      </p:sp>
      <p:sp>
        <p:nvSpPr>
          <p:cNvPr id="2" name="TextBox 1">
            <a:extLst>
              <a:ext uri="{FF2B5EF4-FFF2-40B4-BE49-F238E27FC236}">
                <a16:creationId xmlns:a16="http://schemas.microsoft.com/office/drawing/2014/main" id="{B2EE4150-0C79-FD8A-DC37-29DC39E7B611}"/>
              </a:ext>
            </a:extLst>
          </p:cNvPr>
          <p:cNvSpPr txBox="1"/>
          <p:nvPr/>
        </p:nvSpPr>
        <p:spPr>
          <a:xfrm>
            <a:off x="147485" y="685452"/>
            <a:ext cx="12044515" cy="5909310"/>
          </a:xfrm>
          <a:prstGeom prst="rect">
            <a:avLst/>
          </a:prstGeom>
          <a:noFill/>
        </p:spPr>
        <p:txBody>
          <a:bodyPr wrap="square" rtlCol="0">
            <a:spAutoFit/>
          </a:bodyPr>
          <a:lstStyle/>
          <a:p>
            <a:r>
              <a:rPr lang="en-US" b="1" i="1" dirty="0"/>
              <a:t>--A) Query finds employees who have salaries greater than 14,000 and sorts the results sets based on the salary in descending order.</a:t>
            </a: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employees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salary </a:t>
            </a:r>
            <a:r>
              <a:rPr lang="en-US" sz="1800" dirty="0">
                <a:solidFill>
                  <a:srgbClr val="808080"/>
                </a:solidFill>
                <a:latin typeface="Consolas" panose="020B0609020204030204" pitchFamily="49" charset="0"/>
              </a:rPr>
              <a:t>&gt;</a:t>
            </a:r>
            <a:r>
              <a:rPr lang="en-US" sz="1800" dirty="0">
                <a:solidFill>
                  <a:srgbClr val="000000"/>
                </a:solidFill>
                <a:latin typeface="Consolas" panose="020B0609020204030204" pitchFamily="49" charset="0"/>
              </a:rPr>
              <a:t> 14000</a:t>
            </a:r>
          </a:p>
          <a:p>
            <a:r>
              <a:rPr lang="en-IN" sz="1800" dirty="0">
                <a:solidFill>
                  <a:srgbClr val="0000FF"/>
                </a:solidFill>
                <a:latin typeface="Consolas" panose="020B0609020204030204" pitchFamily="49" charset="0"/>
              </a:rPr>
              <a:t>order</a:t>
            </a:r>
            <a:r>
              <a:rPr lang="en-IN" sz="1800" dirty="0">
                <a:solidFill>
                  <a:srgbClr val="000000"/>
                </a:solidFill>
                <a:latin typeface="Consolas" panose="020B0609020204030204" pitchFamily="49" charset="0"/>
              </a:rPr>
              <a:t> </a:t>
            </a:r>
            <a:r>
              <a:rPr lang="en-IN" sz="1800" dirty="0">
                <a:solidFill>
                  <a:srgbClr val="0000FF"/>
                </a:solidFill>
                <a:latin typeface="Consolas" panose="020B0609020204030204" pitchFamily="49" charset="0"/>
              </a:rPr>
              <a:t>by</a:t>
            </a:r>
            <a:r>
              <a:rPr lang="en-IN" sz="1800" dirty="0">
                <a:solidFill>
                  <a:srgbClr val="000000"/>
                </a:solidFill>
                <a:latin typeface="Consolas" panose="020B0609020204030204" pitchFamily="49" charset="0"/>
              </a:rPr>
              <a:t> salary </a:t>
            </a:r>
            <a:r>
              <a:rPr lang="en-IN" sz="1800" dirty="0" err="1">
                <a:solidFill>
                  <a:srgbClr val="0000FF"/>
                </a:solidFill>
                <a:latin typeface="Consolas" panose="020B0609020204030204" pitchFamily="49" charset="0"/>
              </a:rPr>
              <a:t>desc</a:t>
            </a:r>
            <a:r>
              <a:rPr lang="en-IN" sz="1800" dirty="0">
                <a:solidFill>
                  <a:srgbClr val="808080"/>
                </a:solidFill>
                <a:latin typeface="Consolas" panose="020B0609020204030204" pitchFamily="49" charset="0"/>
              </a:rPr>
              <a:t>;</a:t>
            </a:r>
            <a:endParaRPr lang="en-IN" sz="1800" dirty="0">
              <a:solidFill>
                <a:srgbClr val="000000"/>
              </a:solidFill>
              <a:latin typeface="Consolas" panose="020B0609020204030204" pitchFamily="49" charset="0"/>
            </a:endParaRPr>
          </a:p>
          <a:p>
            <a:endParaRPr lang="en-IN" sz="1800" dirty="0">
              <a:solidFill>
                <a:srgbClr val="000000"/>
              </a:solidFill>
              <a:latin typeface="Consolas" panose="020B0609020204030204" pitchFamily="49" charset="0"/>
            </a:endParaRPr>
          </a:p>
          <a:p>
            <a:r>
              <a:rPr lang="en-US" b="1" i="1" dirty="0"/>
              <a:t>--B) Query finds all employees who work in the department id 5.</a:t>
            </a: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employees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department_id</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5</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endParaRPr lang="en-IN" sz="1800" dirty="0">
              <a:solidFill>
                <a:srgbClr val="000000"/>
              </a:solidFill>
              <a:latin typeface="Consolas" panose="020B0609020204030204" pitchFamily="49" charset="0"/>
            </a:endParaRPr>
          </a:p>
          <a:p>
            <a:r>
              <a:rPr lang="en-US" b="1" i="1" dirty="0"/>
              <a:t>--C) Query finds the employee whose last name is Chen</a:t>
            </a: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employees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last_name</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'Chen'</a:t>
            </a:r>
            <a:endParaRPr lang="en-US" sz="1800" dirty="0">
              <a:solidFill>
                <a:srgbClr val="000000"/>
              </a:solidFill>
              <a:latin typeface="Consolas" panose="020B0609020204030204" pitchFamily="49" charset="0"/>
            </a:endParaRPr>
          </a:p>
          <a:p>
            <a:endParaRPr lang="en-IN" sz="1800" dirty="0">
              <a:solidFill>
                <a:srgbClr val="000000"/>
              </a:solidFill>
              <a:latin typeface="Consolas" panose="020B0609020204030204" pitchFamily="49" charset="0"/>
            </a:endParaRPr>
          </a:p>
          <a:p>
            <a:r>
              <a:rPr lang="en-US" b="1" i="1" dirty="0"/>
              <a:t>--D) To get all employees who joined the company after January 1st, 1999</a:t>
            </a: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employees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hire_date</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&gt;</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'1999-01-01'</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endParaRPr lang="en-IN" sz="1800" dirty="0">
              <a:solidFill>
                <a:srgbClr val="000000"/>
              </a:solidFill>
              <a:latin typeface="Consolas" panose="020B0609020204030204" pitchFamily="49" charset="0"/>
            </a:endParaRPr>
          </a:p>
          <a:p>
            <a:r>
              <a:rPr lang="en-US" b="1" i="1" dirty="0"/>
              <a:t>--E) To find the employees who joined the company in 1999</a:t>
            </a: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employees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Year</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hire_date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1999</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endParaRPr lang="en-IN" sz="1800" dirty="0">
              <a:solidFill>
                <a:srgbClr val="000000"/>
              </a:solidFill>
              <a:latin typeface="Consolas" panose="020B0609020204030204" pitchFamily="49" charset="0"/>
            </a:endParaRPr>
          </a:p>
          <a:p>
            <a:r>
              <a:rPr lang="en-US" b="1" i="1" dirty="0"/>
              <a:t>--F) Statement finds the employee whose last name is </a:t>
            </a:r>
            <a:r>
              <a:rPr lang="en-US" b="1" i="1" dirty="0" err="1"/>
              <a:t>Himuro</a:t>
            </a:r>
            <a:endParaRPr lang="en-US" b="1" i="1" dirty="0"/>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employees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last_name</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a:t>
            </a:r>
            <a:r>
              <a:rPr lang="en-US" sz="1800" dirty="0" err="1">
                <a:solidFill>
                  <a:srgbClr val="FF0000"/>
                </a:solidFill>
                <a:latin typeface="Consolas" panose="020B0609020204030204" pitchFamily="49" charset="0"/>
              </a:rPr>
              <a:t>Himuro</a:t>
            </a:r>
            <a:r>
              <a:rPr lang="en-US" sz="1800" dirty="0">
                <a:solidFill>
                  <a:srgbClr val="FF0000"/>
                </a:solidFill>
                <a:latin typeface="Consolas" panose="020B0609020204030204" pitchFamily="49" charset="0"/>
              </a:rPr>
              <a:t>'</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endParaRPr lang="en-IN" sz="1800" dirty="0">
              <a:solidFill>
                <a:srgbClr val="000000"/>
              </a:solidFill>
              <a:latin typeface="Consolas" panose="020B0609020204030204" pitchFamily="49" charset="0"/>
            </a:endParaRPr>
          </a:p>
          <a:p>
            <a:endParaRPr lang="en-US" sz="18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1281445256"/>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
          <a:extLst>
            <a:ext uri="{FF2B5EF4-FFF2-40B4-BE49-F238E27FC236}">
              <a16:creationId xmlns:a16="http://schemas.microsoft.com/office/drawing/2014/main" id="{CC09858F-D052-29C9-E745-955D3FB5722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23252C0-9B74-630A-3FBA-FE1596D3373B}"/>
              </a:ext>
            </a:extLst>
          </p:cNvPr>
          <p:cNvSpPr txBox="1"/>
          <p:nvPr/>
        </p:nvSpPr>
        <p:spPr>
          <a:xfrm>
            <a:off x="147485" y="31106"/>
            <a:ext cx="11897030" cy="523220"/>
          </a:xfrm>
          <a:prstGeom prst="rect">
            <a:avLst/>
          </a:prstGeom>
          <a:noFill/>
        </p:spPr>
        <p:txBody>
          <a:bodyPr wrap="square" rtlCol="0">
            <a:spAutoFit/>
          </a:bodyPr>
          <a:lstStyle/>
          <a:p>
            <a:r>
              <a:rPr lang="en-US" sz="2800" b="1" i="1" dirty="0"/>
              <a:t>6)</a:t>
            </a:r>
            <a:r>
              <a:rPr lang="en-IN" sz="2800" b="1" i="1" dirty="0"/>
              <a:t> WRITE A QUERY FOR:- </a:t>
            </a:r>
            <a:endParaRPr lang="en-US" sz="2800" b="1" i="1" dirty="0"/>
          </a:p>
        </p:txBody>
      </p:sp>
      <p:sp>
        <p:nvSpPr>
          <p:cNvPr id="2" name="TextBox 1">
            <a:extLst>
              <a:ext uri="{FF2B5EF4-FFF2-40B4-BE49-F238E27FC236}">
                <a16:creationId xmlns:a16="http://schemas.microsoft.com/office/drawing/2014/main" id="{094BCD9A-7760-F527-24AF-DF2C6351A460}"/>
              </a:ext>
            </a:extLst>
          </p:cNvPr>
          <p:cNvSpPr txBox="1"/>
          <p:nvPr/>
        </p:nvSpPr>
        <p:spPr>
          <a:xfrm>
            <a:off x="147485" y="554326"/>
            <a:ext cx="12044515" cy="6524863"/>
          </a:xfrm>
          <a:prstGeom prst="rect">
            <a:avLst/>
          </a:prstGeom>
          <a:noFill/>
        </p:spPr>
        <p:txBody>
          <a:bodyPr wrap="square" rtlCol="0">
            <a:spAutoFit/>
          </a:bodyPr>
          <a:lstStyle/>
          <a:p>
            <a:r>
              <a:rPr lang="en-IN" sz="1600" dirty="0">
                <a:solidFill>
                  <a:srgbClr val="0000FF"/>
                </a:solidFill>
                <a:latin typeface="Consolas" panose="020B0609020204030204" pitchFamily="49" charset="0"/>
              </a:rPr>
              <a:t>Create table Course</a:t>
            </a:r>
          </a:p>
          <a:p>
            <a:r>
              <a:rPr lang="en-US" sz="1600" dirty="0">
                <a:solidFill>
                  <a:srgbClr val="0000FF"/>
                </a:solidFill>
                <a:latin typeface="Consolas" panose="020B0609020204030204" pitchFamily="49" charset="0"/>
              </a:rPr>
              <a:t>(</a:t>
            </a:r>
            <a:r>
              <a:rPr lang="en-US" sz="1600" dirty="0" err="1">
                <a:solidFill>
                  <a:srgbClr val="0000FF"/>
                </a:solidFill>
                <a:latin typeface="Consolas" panose="020B0609020204030204" pitchFamily="49" charset="0"/>
              </a:rPr>
              <a:t>Course_ID</a:t>
            </a:r>
            <a:r>
              <a:rPr lang="en-US" sz="1600" dirty="0">
                <a:solidFill>
                  <a:srgbClr val="0000FF"/>
                </a:solidFill>
                <a:latin typeface="Consolas" panose="020B0609020204030204" pitchFamily="49" charset="0"/>
              </a:rPr>
              <a:t> Int Primary Key,</a:t>
            </a:r>
            <a:r>
              <a:rPr lang="en-IN" sz="1600" dirty="0" err="1">
                <a:solidFill>
                  <a:srgbClr val="0000FF"/>
                </a:solidFill>
                <a:latin typeface="Consolas" panose="020B0609020204030204" pitchFamily="49" charset="0"/>
              </a:rPr>
              <a:t>Course_Name</a:t>
            </a:r>
            <a:r>
              <a:rPr lang="en-IN" sz="1600" dirty="0">
                <a:solidFill>
                  <a:srgbClr val="0000FF"/>
                </a:solidFill>
                <a:latin typeface="Consolas" panose="020B0609020204030204" pitchFamily="49" charset="0"/>
              </a:rPr>
              <a:t> Varchar);</a:t>
            </a:r>
          </a:p>
          <a:p>
            <a:endParaRPr lang="en-IN" sz="1200" dirty="0">
              <a:solidFill>
                <a:srgbClr val="000000"/>
              </a:solidFill>
              <a:latin typeface="Consolas" panose="020B0609020204030204" pitchFamily="49" charset="0"/>
            </a:endParaRPr>
          </a:p>
          <a:p>
            <a:r>
              <a:rPr lang="en-IN" sz="1200" dirty="0">
                <a:solidFill>
                  <a:srgbClr val="0000FF"/>
                </a:solidFill>
                <a:latin typeface="Consolas" panose="020B0609020204030204" pitchFamily="49" charset="0"/>
              </a:rPr>
              <a:t>Select</a:t>
            </a:r>
            <a:r>
              <a:rPr lang="en-IN" sz="1200" dirty="0">
                <a:solidFill>
                  <a:srgbClr val="000000"/>
                </a:solidFill>
                <a:latin typeface="Consolas" panose="020B0609020204030204" pitchFamily="49" charset="0"/>
              </a:rPr>
              <a:t> </a:t>
            </a:r>
            <a:r>
              <a:rPr lang="en-IN" sz="1200" dirty="0">
                <a:solidFill>
                  <a:srgbClr val="808080"/>
                </a:solidFill>
                <a:latin typeface="Consolas" panose="020B0609020204030204" pitchFamily="49" charset="0"/>
              </a:rPr>
              <a:t>*</a:t>
            </a:r>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from</a:t>
            </a:r>
            <a:r>
              <a:rPr lang="en-IN" sz="1200" dirty="0">
                <a:solidFill>
                  <a:srgbClr val="000000"/>
                </a:solidFill>
                <a:latin typeface="Consolas" panose="020B0609020204030204" pitchFamily="49" charset="0"/>
              </a:rPr>
              <a:t> Course</a:t>
            </a:r>
            <a:r>
              <a:rPr lang="en-IN" sz="1200" dirty="0">
                <a:solidFill>
                  <a:srgbClr val="808080"/>
                </a:solidFill>
                <a:latin typeface="Consolas" panose="020B0609020204030204" pitchFamily="49" charset="0"/>
              </a:rPr>
              <a:t>;</a:t>
            </a:r>
            <a:endParaRPr lang="en-IN" sz="1200" dirty="0">
              <a:solidFill>
                <a:srgbClr val="000000"/>
              </a:solidFill>
              <a:latin typeface="Consolas" panose="020B0609020204030204" pitchFamily="49" charset="0"/>
            </a:endParaRPr>
          </a:p>
          <a:p>
            <a:r>
              <a:rPr lang="en-US" b="1" i="1" dirty="0"/>
              <a:t>--A. Adds a new column named </a:t>
            </a:r>
            <a:r>
              <a:rPr lang="en-US" b="1" i="1" dirty="0" err="1"/>
              <a:t>credit_hours</a:t>
            </a:r>
            <a:r>
              <a:rPr lang="en-US" b="1" i="1" dirty="0"/>
              <a:t> to the courses table</a:t>
            </a:r>
          </a:p>
          <a:p>
            <a:r>
              <a:rPr lang="en-IN" sz="1600" dirty="0">
                <a:solidFill>
                  <a:srgbClr val="0000FF"/>
                </a:solidFill>
                <a:latin typeface="Consolas" panose="020B0609020204030204" pitchFamily="49" charset="0"/>
              </a:rPr>
              <a:t>Alter</a:t>
            </a:r>
            <a:r>
              <a:rPr lang="en-IN" sz="1600" dirty="0">
                <a:solidFill>
                  <a:srgbClr val="000000"/>
                </a:solidFill>
                <a:latin typeface="Consolas" panose="020B0609020204030204" pitchFamily="49" charset="0"/>
              </a:rPr>
              <a:t> </a:t>
            </a:r>
            <a:r>
              <a:rPr lang="en-IN" sz="1600" dirty="0">
                <a:solidFill>
                  <a:srgbClr val="0000FF"/>
                </a:solidFill>
                <a:latin typeface="Consolas" panose="020B0609020204030204" pitchFamily="49" charset="0"/>
              </a:rPr>
              <a:t>table</a:t>
            </a:r>
            <a:r>
              <a:rPr lang="en-IN" sz="1600" dirty="0">
                <a:solidFill>
                  <a:srgbClr val="000000"/>
                </a:solidFill>
                <a:latin typeface="Consolas" panose="020B0609020204030204" pitchFamily="49" charset="0"/>
              </a:rPr>
              <a:t> course</a:t>
            </a:r>
          </a:p>
          <a:p>
            <a:r>
              <a:rPr lang="en-US" sz="1600" dirty="0">
                <a:solidFill>
                  <a:srgbClr val="0000FF"/>
                </a:solidFill>
                <a:latin typeface="Consolas" panose="020B0609020204030204" pitchFamily="49" charset="0"/>
              </a:rPr>
              <a:t>add</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Credit_Hours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decimal </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6</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2</a:t>
            </a:r>
            <a:r>
              <a:rPr lang="en-US" sz="1600" dirty="0">
                <a:solidFill>
                  <a:srgbClr val="808080"/>
                </a:solidFill>
                <a:latin typeface="Consolas" panose="020B0609020204030204" pitchFamily="49" charset="0"/>
              </a:rPr>
              <a:t>);</a:t>
            </a:r>
            <a:endParaRPr lang="en-US" sz="1600" dirty="0">
              <a:solidFill>
                <a:srgbClr val="000000"/>
              </a:solidFill>
              <a:latin typeface="Consolas" panose="020B0609020204030204" pitchFamily="49" charset="0"/>
            </a:endParaRPr>
          </a:p>
          <a:p>
            <a:endParaRPr lang="en-IN" sz="1200" dirty="0">
              <a:solidFill>
                <a:srgbClr val="000000"/>
              </a:solidFill>
              <a:latin typeface="Consolas" panose="020B0609020204030204" pitchFamily="49" charset="0"/>
            </a:endParaRPr>
          </a:p>
          <a:p>
            <a:r>
              <a:rPr lang="en-US" b="1" i="1" dirty="0"/>
              <a:t>--B. Adds the fee and </a:t>
            </a:r>
            <a:r>
              <a:rPr lang="en-US" b="1" i="1" dirty="0" err="1"/>
              <a:t>max_limit</a:t>
            </a:r>
            <a:r>
              <a:rPr lang="en-US" b="1" i="1" dirty="0"/>
              <a:t> columns to the courses table and places these columns after the </a:t>
            </a:r>
            <a:r>
              <a:rPr lang="en-US" b="1" i="1" dirty="0" err="1"/>
              <a:t>course_name</a:t>
            </a:r>
            <a:r>
              <a:rPr lang="en-US" b="1" i="1" dirty="0"/>
              <a:t> column.</a:t>
            </a:r>
          </a:p>
          <a:p>
            <a:r>
              <a:rPr lang="en-IN" sz="1400" dirty="0">
                <a:solidFill>
                  <a:srgbClr val="0000FF"/>
                </a:solidFill>
                <a:latin typeface="Consolas" panose="020B0609020204030204" pitchFamily="49" charset="0"/>
              </a:rPr>
              <a:t>Select</a:t>
            </a:r>
            <a:r>
              <a:rPr lang="en-IN" sz="1400" dirty="0">
                <a:solidFill>
                  <a:srgbClr val="000000"/>
                </a:solidFill>
                <a:latin typeface="Consolas" panose="020B0609020204030204" pitchFamily="49" charset="0"/>
              </a:rPr>
              <a:t> </a:t>
            </a:r>
            <a:r>
              <a:rPr lang="en-IN" sz="1400" dirty="0">
                <a:solidFill>
                  <a:srgbClr val="808080"/>
                </a:solidFill>
                <a:latin typeface="Consolas" panose="020B0609020204030204" pitchFamily="49" charset="0"/>
              </a:rPr>
              <a:t>*</a:t>
            </a: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from</a:t>
            </a:r>
            <a:r>
              <a:rPr lang="en-IN" sz="1400" dirty="0">
                <a:solidFill>
                  <a:srgbClr val="000000"/>
                </a:solidFill>
                <a:latin typeface="Consolas" panose="020B0609020204030204" pitchFamily="49" charset="0"/>
              </a:rPr>
              <a:t> Course</a:t>
            </a:r>
            <a:r>
              <a:rPr lang="en-IN" sz="1400" dirty="0">
                <a:solidFill>
                  <a:srgbClr val="808080"/>
                </a:solidFill>
                <a:latin typeface="Consolas" panose="020B0609020204030204" pitchFamily="49" charset="0"/>
              </a:rPr>
              <a:t>;</a:t>
            </a:r>
            <a:endParaRPr lang="en-IN" sz="1400" dirty="0">
              <a:solidFill>
                <a:srgbClr val="000000"/>
              </a:solidFill>
              <a:latin typeface="Consolas" panose="020B0609020204030204" pitchFamily="49" charset="0"/>
            </a:endParaRPr>
          </a:p>
          <a:p>
            <a:endParaRPr lang="en-IN" sz="1400" dirty="0">
              <a:solidFill>
                <a:srgbClr val="000000"/>
              </a:solidFill>
              <a:latin typeface="Consolas" panose="020B0609020204030204" pitchFamily="49" charset="0"/>
            </a:endParaRPr>
          </a:p>
          <a:p>
            <a:r>
              <a:rPr lang="en-IN" sz="1400" dirty="0">
                <a:solidFill>
                  <a:srgbClr val="0000FF"/>
                </a:solidFill>
                <a:latin typeface="Consolas" panose="020B0609020204030204" pitchFamily="49" charset="0"/>
              </a:rPr>
              <a:t>Alter</a:t>
            </a: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table</a:t>
            </a:r>
            <a:r>
              <a:rPr lang="en-IN" sz="1400" dirty="0">
                <a:solidFill>
                  <a:srgbClr val="000000"/>
                </a:solidFill>
                <a:latin typeface="Consolas" panose="020B0609020204030204" pitchFamily="49" charset="0"/>
              </a:rPr>
              <a:t> course</a:t>
            </a:r>
          </a:p>
          <a:p>
            <a:r>
              <a:rPr lang="en-US" sz="1400" dirty="0">
                <a:solidFill>
                  <a:srgbClr val="0000FF"/>
                </a:solidFill>
                <a:latin typeface="Consolas" panose="020B0609020204030204" pitchFamily="49" charset="0"/>
              </a:rPr>
              <a:t>add</a:t>
            </a:r>
            <a:r>
              <a:rPr lang="en-US" sz="1400" dirty="0">
                <a:solidFill>
                  <a:srgbClr val="000000"/>
                </a:solidFill>
                <a:latin typeface="Consolas" panose="020B0609020204030204" pitchFamily="49" charset="0"/>
              </a:rPr>
              <a:t> Fee </a:t>
            </a:r>
            <a:r>
              <a:rPr lang="en-US" sz="1400" dirty="0">
                <a:solidFill>
                  <a:srgbClr val="0000FF"/>
                </a:solidFill>
                <a:latin typeface="Consolas" panose="020B0609020204030204" pitchFamily="49" charset="0"/>
              </a:rPr>
              <a:t>decimal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10</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2</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Max_Limit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int</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Not</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Null;</a:t>
            </a:r>
            <a:endParaRPr lang="en-US" sz="1400" dirty="0">
              <a:solidFill>
                <a:srgbClr val="000000"/>
              </a:solidFill>
              <a:latin typeface="Consolas" panose="020B0609020204030204" pitchFamily="49" charset="0"/>
            </a:endParaRPr>
          </a:p>
          <a:p>
            <a:endParaRPr lang="en-IN" sz="1200" dirty="0">
              <a:solidFill>
                <a:srgbClr val="000000"/>
              </a:solidFill>
              <a:latin typeface="Consolas" panose="020B0609020204030204" pitchFamily="49" charset="0"/>
            </a:endParaRPr>
          </a:p>
          <a:p>
            <a:r>
              <a:rPr lang="en-US" b="1" i="1" dirty="0"/>
              <a:t>--C) Changes the attribute of the fee column to NOT NULL.</a:t>
            </a:r>
          </a:p>
          <a:p>
            <a:r>
              <a:rPr lang="en-IN" sz="1400" dirty="0">
                <a:solidFill>
                  <a:srgbClr val="0000FF"/>
                </a:solidFill>
                <a:latin typeface="Consolas" panose="020B0609020204030204" pitchFamily="49" charset="0"/>
              </a:rPr>
              <a:t>Alter</a:t>
            </a: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table</a:t>
            </a:r>
            <a:r>
              <a:rPr lang="en-IN" sz="1400" dirty="0">
                <a:solidFill>
                  <a:srgbClr val="000000"/>
                </a:solidFill>
                <a:latin typeface="Consolas" panose="020B0609020204030204" pitchFamily="49" charset="0"/>
              </a:rPr>
              <a:t> course</a:t>
            </a:r>
          </a:p>
          <a:p>
            <a:r>
              <a:rPr lang="en-US" sz="1400" dirty="0">
                <a:solidFill>
                  <a:srgbClr val="0000FF"/>
                </a:solidFill>
                <a:latin typeface="Consolas" panose="020B0609020204030204" pitchFamily="49" charset="0"/>
              </a:rPr>
              <a:t>Alter</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column</a:t>
            </a:r>
            <a:r>
              <a:rPr lang="en-US" sz="1400" dirty="0">
                <a:solidFill>
                  <a:srgbClr val="000000"/>
                </a:solidFill>
                <a:latin typeface="Consolas" panose="020B0609020204030204" pitchFamily="49" charset="0"/>
              </a:rPr>
              <a:t> Fee </a:t>
            </a:r>
            <a:r>
              <a:rPr lang="en-US" sz="1400" dirty="0">
                <a:solidFill>
                  <a:srgbClr val="0000FF"/>
                </a:solidFill>
                <a:latin typeface="Consolas" panose="020B0609020204030204" pitchFamily="49" charset="0"/>
              </a:rPr>
              <a:t>Decimal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10</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2</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Not</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Null;</a:t>
            </a:r>
            <a:endParaRPr lang="en-US" sz="1400" dirty="0">
              <a:solidFill>
                <a:srgbClr val="000000"/>
              </a:solidFill>
              <a:latin typeface="Consolas" panose="020B0609020204030204" pitchFamily="49" charset="0"/>
            </a:endParaRPr>
          </a:p>
          <a:p>
            <a:endParaRPr lang="en-IN" sz="1200" dirty="0">
              <a:solidFill>
                <a:srgbClr val="000000"/>
              </a:solidFill>
              <a:latin typeface="Consolas" panose="020B0609020204030204" pitchFamily="49" charset="0"/>
            </a:endParaRPr>
          </a:p>
          <a:p>
            <a:r>
              <a:rPr lang="en-US" b="1" i="1" dirty="0"/>
              <a:t>--D) to remove the fee column of the courses table</a:t>
            </a:r>
          </a:p>
          <a:p>
            <a:r>
              <a:rPr lang="en-IN" sz="1400" dirty="0">
                <a:solidFill>
                  <a:srgbClr val="0000FF"/>
                </a:solidFill>
                <a:latin typeface="Consolas" panose="020B0609020204030204" pitchFamily="49" charset="0"/>
              </a:rPr>
              <a:t>Alter</a:t>
            </a: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table</a:t>
            </a:r>
            <a:r>
              <a:rPr lang="en-IN" sz="1400" dirty="0">
                <a:solidFill>
                  <a:srgbClr val="000000"/>
                </a:solidFill>
                <a:latin typeface="Consolas" panose="020B0609020204030204" pitchFamily="49" charset="0"/>
              </a:rPr>
              <a:t> course</a:t>
            </a:r>
          </a:p>
          <a:p>
            <a:r>
              <a:rPr lang="en-IN" sz="1400" dirty="0">
                <a:solidFill>
                  <a:srgbClr val="0000FF"/>
                </a:solidFill>
                <a:latin typeface="Consolas" panose="020B0609020204030204" pitchFamily="49" charset="0"/>
              </a:rPr>
              <a:t>Drop</a:t>
            </a: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column</a:t>
            </a:r>
            <a:r>
              <a:rPr lang="en-IN" sz="1400" dirty="0">
                <a:solidFill>
                  <a:srgbClr val="000000"/>
                </a:solidFill>
                <a:latin typeface="Consolas" panose="020B0609020204030204" pitchFamily="49" charset="0"/>
              </a:rPr>
              <a:t> Fee</a:t>
            </a:r>
          </a:p>
          <a:p>
            <a:endParaRPr lang="en-IN" sz="1200" dirty="0">
              <a:solidFill>
                <a:srgbClr val="000000"/>
              </a:solidFill>
              <a:latin typeface="Consolas" panose="020B0609020204030204" pitchFamily="49" charset="0"/>
            </a:endParaRPr>
          </a:p>
          <a:p>
            <a:r>
              <a:rPr lang="en-US" b="1" i="1" dirty="0"/>
              <a:t>--E) Removes the </a:t>
            </a:r>
            <a:r>
              <a:rPr lang="en-US" b="1" i="1" dirty="0" err="1"/>
              <a:t>max_limit</a:t>
            </a:r>
            <a:r>
              <a:rPr lang="en-US" b="1" i="1" dirty="0"/>
              <a:t> and </a:t>
            </a:r>
            <a:r>
              <a:rPr lang="en-US" b="1" i="1" dirty="0" err="1"/>
              <a:t>credit_hours</a:t>
            </a:r>
            <a:r>
              <a:rPr lang="en-US" b="1" i="1" dirty="0"/>
              <a:t> of the courses table.</a:t>
            </a:r>
          </a:p>
          <a:p>
            <a:r>
              <a:rPr lang="en-IN" sz="1400" dirty="0">
                <a:solidFill>
                  <a:srgbClr val="000000"/>
                </a:solidFill>
                <a:latin typeface="Consolas" panose="020B0609020204030204" pitchFamily="49" charset="0"/>
              </a:rPr>
              <a:t>Select * from Course;</a:t>
            </a:r>
          </a:p>
          <a:p>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Alter table Course</a:t>
            </a:r>
          </a:p>
          <a:p>
            <a:r>
              <a:rPr lang="en-US" sz="1400" dirty="0">
                <a:solidFill>
                  <a:srgbClr val="000000"/>
                </a:solidFill>
                <a:latin typeface="Consolas" panose="020B0609020204030204" pitchFamily="49" charset="0"/>
              </a:rPr>
              <a:t>Drop column </a:t>
            </a:r>
            <a:r>
              <a:rPr lang="en-US" sz="1400" dirty="0" err="1">
                <a:solidFill>
                  <a:srgbClr val="000000"/>
                </a:solidFill>
                <a:latin typeface="Consolas" panose="020B0609020204030204" pitchFamily="49" charset="0"/>
              </a:rPr>
              <a:t>Max_Limit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Credit_Hours</a:t>
            </a:r>
            <a:r>
              <a:rPr lang="en-US" sz="1200" dirty="0">
                <a:solidFill>
                  <a:srgbClr val="808080"/>
                </a:solidFill>
                <a:latin typeface="Consolas" panose="020B0609020204030204" pitchFamily="49" charset="0"/>
              </a:rPr>
              <a:t>;</a:t>
            </a:r>
            <a:endParaRPr lang="en-US" sz="1200" dirty="0">
              <a:solidFill>
                <a:srgbClr val="000000"/>
              </a:solidFill>
              <a:latin typeface="Consolas" panose="020B0609020204030204" pitchFamily="49" charset="0"/>
            </a:endParaRPr>
          </a:p>
          <a:p>
            <a:endParaRPr lang="en-IN" sz="1200" dirty="0">
              <a:solidFill>
                <a:srgbClr val="000000"/>
              </a:solidFill>
              <a:latin typeface="Consolas" panose="020B0609020204030204" pitchFamily="49" charset="0"/>
            </a:endParaRPr>
          </a:p>
          <a:p>
            <a:endParaRPr lang="en-US" sz="12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3506764404"/>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
          <a:extLst>
            <a:ext uri="{FF2B5EF4-FFF2-40B4-BE49-F238E27FC236}">
              <a16:creationId xmlns:a16="http://schemas.microsoft.com/office/drawing/2014/main" id="{65365CA9-0E1D-A6AE-84E5-601C3F44BBD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414187A-3EB5-843D-8AE8-073810BD627D}"/>
              </a:ext>
            </a:extLst>
          </p:cNvPr>
          <p:cNvSpPr txBox="1"/>
          <p:nvPr/>
        </p:nvSpPr>
        <p:spPr>
          <a:xfrm>
            <a:off x="0" y="0"/>
            <a:ext cx="11897030" cy="523220"/>
          </a:xfrm>
          <a:prstGeom prst="rect">
            <a:avLst/>
          </a:prstGeom>
          <a:noFill/>
        </p:spPr>
        <p:txBody>
          <a:bodyPr wrap="square" rtlCol="0">
            <a:spAutoFit/>
          </a:bodyPr>
          <a:lstStyle/>
          <a:p>
            <a:r>
              <a:rPr lang="en-US" sz="2800" b="1" i="1" dirty="0"/>
              <a:t>Task 3 : Joins….</a:t>
            </a:r>
          </a:p>
        </p:txBody>
      </p:sp>
      <p:sp>
        <p:nvSpPr>
          <p:cNvPr id="3" name="TextBox 2">
            <a:extLst>
              <a:ext uri="{FF2B5EF4-FFF2-40B4-BE49-F238E27FC236}">
                <a16:creationId xmlns:a16="http://schemas.microsoft.com/office/drawing/2014/main" id="{17D8BCD6-C488-843D-1591-27F6A22E7532}"/>
              </a:ext>
            </a:extLst>
          </p:cNvPr>
          <p:cNvSpPr txBox="1"/>
          <p:nvPr/>
        </p:nvSpPr>
        <p:spPr>
          <a:xfrm>
            <a:off x="0" y="478333"/>
            <a:ext cx="12192000" cy="6555641"/>
          </a:xfrm>
          <a:prstGeom prst="rect">
            <a:avLst/>
          </a:prstGeom>
          <a:noFill/>
        </p:spPr>
        <p:txBody>
          <a:bodyPr wrap="square" rtlCol="0">
            <a:spAutoFit/>
          </a:bodyPr>
          <a:lstStyle/>
          <a:p>
            <a:r>
              <a:rPr lang="en-IN" b="1" i="1" dirty="0">
                <a:highlight>
                  <a:srgbClr val="FFFF00"/>
                </a:highlight>
              </a:rPr>
              <a:t>SQL INNER JOIN clause */</a:t>
            </a:r>
          </a:p>
          <a:p>
            <a:r>
              <a:rPr lang="en-US" b="1" i="1" dirty="0"/>
              <a:t>--1) Write a Query to</a:t>
            </a:r>
          </a:p>
          <a:p>
            <a:r>
              <a:rPr lang="en-US" b="1" i="1" dirty="0"/>
              <a:t>--A. To get the information of the department id 1,2, and </a:t>
            </a:r>
            <a:r>
              <a:rPr lang="en-US" sz="1800" dirty="0">
                <a:solidFill>
                  <a:srgbClr val="008000"/>
                </a:solidFill>
                <a:latin typeface="Consolas" panose="020B0609020204030204" pitchFamily="49" charset="0"/>
              </a:rPr>
              <a:t>3</a:t>
            </a:r>
            <a:endParaRPr lang="en-US" sz="1800" dirty="0">
              <a:solidFill>
                <a:srgbClr val="000000"/>
              </a:solidFill>
              <a:latin typeface="Consolas" panose="020B0609020204030204" pitchFamily="49" charset="0"/>
            </a:endParaRPr>
          </a:p>
          <a:p>
            <a:r>
              <a:rPr lang="en-US" sz="1400" dirty="0">
                <a:solidFill>
                  <a:srgbClr val="0000FF"/>
                </a:solidFill>
                <a:latin typeface="Consolas" panose="020B0609020204030204" pitchFamily="49" charset="0"/>
              </a:rPr>
              <a:t>Select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D</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department_id</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D</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department_name</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D</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location_id</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from</a:t>
            </a:r>
            <a:r>
              <a:rPr lang="en-US" sz="1400" dirty="0">
                <a:solidFill>
                  <a:srgbClr val="000000"/>
                </a:solidFill>
                <a:latin typeface="Consolas" panose="020B0609020204030204" pitchFamily="49" charset="0"/>
              </a:rPr>
              <a:t> departments </a:t>
            </a:r>
            <a:r>
              <a:rPr lang="en-US" sz="1400" dirty="0">
                <a:solidFill>
                  <a:srgbClr val="0000FF"/>
                </a:solidFill>
                <a:latin typeface="Consolas" panose="020B0609020204030204" pitchFamily="49" charset="0"/>
              </a:rPr>
              <a:t>as</a:t>
            </a:r>
            <a:r>
              <a:rPr lang="en-US" sz="1400" dirty="0">
                <a:solidFill>
                  <a:srgbClr val="000000"/>
                </a:solidFill>
                <a:latin typeface="Consolas" panose="020B0609020204030204" pitchFamily="49" charset="0"/>
              </a:rPr>
              <a:t> D</a:t>
            </a:r>
          </a:p>
          <a:p>
            <a:r>
              <a:rPr lang="en-US" sz="1400" dirty="0">
                <a:solidFill>
                  <a:srgbClr val="808080"/>
                </a:solidFill>
                <a:latin typeface="Consolas" panose="020B0609020204030204" pitchFamily="49" charset="0"/>
              </a:rPr>
              <a:t>inner</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join</a:t>
            </a:r>
            <a:r>
              <a:rPr lang="en-US" sz="1400" dirty="0">
                <a:solidFill>
                  <a:srgbClr val="000000"/>
                </a:solidFill>
                <a:latin typeface="Consolas" panose="020B0609020204030204" pitchFamily="49" charset="0"/>
              </a:rPr>
              <a:t> employees </a:t>
            </a:r>
            <a:r>
              <a:rPr lang="en-US" sz="1400" dirty="0">
                <a:solidFill>
                  <a:srgbClr val="0000FF"/>
                </a:solidFill>
                <a:latin typeface="Consolas" panose="020B0609020204030204" pitchFamily="49" charset="0"/>
              </a:rPr>
              <a:t>as</a:t>
            </a:r>
            <a:r>
              <a:rPr lang="en-US" sz="1400" dirty="0">
                <a:solidFill>
                  <a:srgbClr val="000000"/>
                </a:solidFill>
                <a:latin typeface="Consolas" panose="020B0609020204030204" pitchFamily="49" charset="0"/>
              </a:rPr>
              <a:t> E</a:t>
            </a:r>
          </a:p>
          <a:p>
            <a:r>
              <a:rPr lang="en-US" sz="1400" dirty="0">
                <a:solidFill>
                  <a:srgbClr val="0000FF"/>
                </a:solidFill>
                <a:latin typeface="Consolas" panose="020B0609020204030204" pitchFamily="49" charset="0"/>
              </a:rPr>
              <a:t>on</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d</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department_id</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E</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department_id</a:t>
            </a:r>
            <a:endParaRPr lang="en-US" sz="1400" dirty="0">
              <a:solidFill>
                <a:srgbClr val="000000"/>
              </a:solidFill>
              <a:latin typeface="Consolas" panose="020B0609020204030204" pitchFamily="49" charset="0"/>
            </a:endParaRPr>
          </a:p>
          <a:p>
            <a:r>
              <a:rPr lang="en-US" sz="1400" dirty="0">
                <a:solidFill>
                  <a:srgbClr val="0000FF"/>
                </a:solidFill>
                <a:latin typeface="Consolas" panose="020B0609020204030204" pitchFamily="49" charset="0"/>
              </a:rPr>
              <a:t>where</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d</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department_id</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in</a:t>
            </a:r>
            <a:r>
              <a:rPr lang="en-US" sz="1400" dirty="0">
                <a:solidFill>
                  <a:srgbClr val="0000FF"/>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1</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2</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3</a:t>
            </a:r>
            <a:r>
              <a:rPr lang="en-US" sz="1400" dirty="0">
                <a:solidFill>
                  <a:srgbClr val="80808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FF"/>
                </a:solidFill>
                <a:latin typeface="Consolas" panose="020B0609020204030204" pitchFamily="49" charset="0"/>
              </a:rPr>
              <a:t>order</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by</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D</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department_id</a:t>
            </a:r>
            <a:r>
              <a:rPr lang="en-US" sz="1400" dirty="0">
                <a:solidFill>
                  <a:srgbClr val="000000"/>
                </a:solidFill>
                <a:latin typeface="Consolas" panose="020B0609020204030204" pitchFamily="49" charset="0"/>
              </a:rPr>
              <a:t> </a:t>
            </a:r>
            <a:r>
              <a:rPr lang="en-US" sz="1400" dirty="0" err="1">
                <a:solidFill>
                  <a:srgbClr val="0000FF"/>
                </a:solidFill>
                <a:latin typeface="Consolas" panose="020B0609020204030204" pitchFamily="49" charset="0"/>
              </a:rPr>
              <a:t>Asc</a:t>
            </a:r>
            <a:r>
              <a:rPr lang="en-US" sz="1400" dirty="0">
                <a:solidFill>
                  <a:srgbClr val="80808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b="1" i="1" dirty="0"/>
              <a:t>--B. To get the information of employees who work in the department id 1, 2 and 3</a:t>
            </a:r>
          </a:p>
          <a:p>
            <a:r>
              <a:rPr lang="en-IN" sz="1400" dirty="0">
                <a:solidFill>
                  <a:srgbClr val="0000FF"/>
                </a:solidFill>
                <a:latin typeface="Consolas" panose="020B0609020204030204" pitchFamily="49" charset="0"/>
              </a:rPr>
              <a:t>Select</a:t>
            </a:r>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E</a:t>
            </a:r>
            <a:r>
              <a:rPr lang="en-IN" sz="1400" dirty="0" err="1">
                <a:solidFill>
                  <a:srgbClr val="808080"/>
                </a:solidFill>
                <a:latin typeface="Consolas" panose="020B0609020204030204" pitchFamily="49" charset="0"/>
              </a:rPr>
              <a:t>.</a:t>
            </a:r>
            <a:r>
              <a:rPr lang="en-IN" sz="1400" dirty="0" err="1">
                <a:solidFill>
                  <a:srgbClr val="000000"/>
                </a:solidFill>
                <a:latin typeface="Consolas" panose="020B0609020204030204" pitchFamily="49" charset="0"/>
              </a:rPr>
              <a:t>employee_id</a:t>
            </a:r>
            <a:r>
              <a:rPr lang="en-IN" sz="1400" dirty="0">
                <a:solidFill>
                  <a:srgbClr val="808080"/>
                </a:solidFill>
                <a:latin typeface="Consolas" panose="020B0609020204030204" pitchFamily="49" charset="0"/>
              </a:rPr>
              <a:t>,</a:t>
            </a:r>
            <a:r>
              <a:rPr lang="en-IN" sz="1400" dirty="0">
                <a:solidFill>
                  <a:srgbClr val="000000"/>
                </a:solidFill>
                <a:latin typeface="Consolas" panose="020B0609020204030204" pitchFamily="49" charset="0"/>
              </a:rPr>
              <a:t> E</a:t>
            </a:r>
            <a:r>
              <a:rPr lang="en-IN" sz="1400" dirty="0">
                <a:solidFill>
                  <a:srgbClr val="808080"/>
                </a:solidFill>
                <a:latin typeface="Consolas" panose="020B0609020204030204" pitchFamily="49" charset="0"/>
              </a:rPr>
              <a:t>.</a:t>
            </a:r>
            <a:r>
              <a:rPr lang="en-IN" sz="1400" dirty="0">
                <a:solidFill>
                  <a:srgbClr val="000000"/>
                </a:solidFill>
                <a:latin typeface="Consolas" panose="020B0609020204030204" pitchFamily="49" charset="0"/>
              </a:rPr>
              <a:t>First_name</a:t>
            </a:r>
            <a:r>
              <a:rPr lang="en-IN" sz="1400" dirty="0">
                <a:solidFill>
                  <a:srgbClr val="808080"/>
                </a:solidFill>
                <a:latin typeface="Consolas" panose="020B0609020204030204" pitchFamily="49" charset="0"/>
              </a:rPr>
              <a:t>,</a:t>
            </a:r>
            <a:r>
              <a:rPr lang="en-IN" sz="1400" dirty="0">
                <a:solidFill>
                  <a:srgbClr val="000000"/>
                </a:solidFill>
                <a:latin typeface="Consolas" panose="020B0609020204030204" pitchFamily="49" charset="0"/>
              </a:rPr>
              <a:t>E</a:t>
            </a:r>
            <a:r>
              <a:rPr lang="en-IN" sz="1400" dirty="0">
                <a:solidFill>
                  <a:srgbClr val="808080"/>
                </a:solidFill>
                <a:latin typeface="Consolas" panose="020B0609020204030204" pitchFamily="49" charset="0"/>
              </a:rPr>
              <a:t>.</a:t>
            </a:r>
            <a:r>
              <a:rPr lang="en-IN" sz="1400" dirty="0">
                <a:solidFill>
                  <a:srgbClr val="000000"/>
                </a:solidFill>
                <a:latin typeface="Consolas" panose="020B0609020204030204" pitchFamily="49" charset="0"/>
              </a:rPr>
              <a:t>last_name</a:t>
            </a:r>
            <a:r>
              <a:rPr lang="en-IN" sz="1400" dirty="0">
                <a:solidFill>
                  <a:srgbClr val="808080"/>
                </a:solidFill>
                <a:latin typeface="Consolas" panose="020B0609020204030204" pitchFamily="49" charset="0"/>
              </a:rPr>
              <a:t>,</a:t>
            </a:r>
            <a:r>
              <a:rPr lang="en-IN" sz="1400" dirty="0">
                <a:solidFill>
                  <a:srgbClr val="000000"/>
                </a:solidFill>
                <a:latin typeface="Consolas" panose="020B0609020204030204" pitchFamily="49" charset="0"/>
              </a:rPr>
              <a:t>E</a:t>
            </a:r>
            <a:r>
              <a:rPr lang="en-IN" sz="1400" dirty="0">
                <a:solidFill>
                  <a:srgbClr val="808080"/>
                </a:solidFill>
                <a:latin typeface="Consolas" panose="020B0609020204030204" pitchFamily="49" charset="0"/>
              </a:rPr>
              <a:t>.</a:t>
            </a:r>
            <a:r>
              <a:rPr lang="en-IN" sz="1400" dirty="0">
                <a:solidFill>
                  <a:srgbClr val="000000"/>
                </a:solidFill>
                <a:latin typeface="Consolas" panose="020B0609020204030204" pitchFamily="49" charset="0"/>
              </a:rPr>
              <a:t>phone_number</a:t>
            </a:r>
            <a:r>
              <a:rPr lang="en-IN" sz="1400" dirty="0">
                <a:solidFill>
                  <a:srgbClr val="808080"/>
                </a:solidFill>
                <a:latin typeface="Consolas" panose="020B0609020204030204" pitchFamily="49" charset="0"/>
              </a:rPr>
              <a:t>,</a:t>
            </a:r>
            <a:r>
              <a:rPr lang="en-IN" sz="1400" dirty="0">
                <a:solidFill>
                  <a:srgbClr val="000000"/>
                </a:solidFill>
                <a:latin typeface="Consolas" panose="020B0609020204030204" pitchFamily="49" charset="0"/>
              </a:rPr>
              <a:t>E</a:t>
            </a:r>
            <a:r>
              <a:rPr lang="en-IN" sz="1400" dirty="0">
                <a:solidFill>
                  <a:srgbClr val="808080"/>
                </a:solidFill>
                <a:latin typeface="Consolas" panose="020B0609020204030204" pitchFamily="49" charset="0"/>
              </a:rPr>
              <a:t>.</a:t>
            </a:r>
            <a:r>
              <a:rPr lang="en-IN" sz="1400" dirty="0">
                <a:solidFill>
                  <a:srgbClr val="000000"/>
                </a:solidFill>
                <a:latin typeface="Consolas" panose="020B0609020204030204" pitchFamily="49" charset="0"/>
              </a:rPr>
              <a:t>hire_date</a:t>
            </a:r>
            <a:r>
              <a:rPr lang="en-IN" sz="1400" dirty="0">
                <a:solidFill>
                  <a:srgbClr val="808080"/>
                </a:solidFill>
                <a:latin typeface="Consolas" panose="020B0609020204030204" pitchFamily="49" charset="0"/>
              </a:rPr>
              <a:t>,</a:t>
            </a:r>
            <a:r>
              <a:rPr lang="en-IN" sz="1400" dirty="0">
                <a:solidFill>
                  <a:srgbClr val="000000"/>
                </a:solidFill>
                <a:latin typeface="Consolas" panose="020B0609020204030204" pitchFamily="49" charset="0"/>
              </a:rPr>
              <a:t>E</a:t>
            </a:r>
            <a:r>
              <a:rPr lang="en-IN" sz="1400" dirty="0">
                <a:solidFill>
                  <a:srgbClr val="808080"/>
                </a:solidFill>
                <a:latin typeface="Consolas" panose="020B0609020204030204" pitchFamily="49" charset="0"/>
              </a:rPr>
              <a:t>.</a:t>
            </a:r>
            <a:r>
              <a:rPr lang="en-IN" sz="1400" dirty="0">
                <a:solidFill>
                  <a:srgbClr val="000000"/>
                </a:solidFill>
                <a:latin typeface="Consolas" panose="020B0609020204030204" pitchFamily="49" charset="0"/>
              </a:rPr>
              <a:t>job_id</a:t>
            </a:r>
            <a:r>
              <a:rPr lang="en-IN" sz="1400" dirty="0">
                <a:solidFill>
                  <a:srgbClr val="808080"/>
                </a:solidFill>
                <a:latin typeface="Consolas" panose="020B0609020204030204" pitchFamily="49" charset="0"/>
              </a:rPr>
              <a:t>,</a:t>
            </a:r>
            <a:r>
              <a:rPr lang="en-IN" sz="1400" dirty="0">
                <a:solidFill>
                  <a:srgbClr val="000000"/>
                </a:solidFill>
                <a:latin typeface="Consolas" panose="020B0609020204030204" pitchFamily="49" charset="0"/>
              </a:rPr>
              <a:t>E</a:t>
            </a:r>
            <a:r>
              <a:rPr lang="en-IN" sz="1400" dirty="0">
                <a:solidFill>
                  <a:srgbClr val="808080"/>
                </a:solidFill>
                <a:latin typeface="Consolas" panose="020B0609020204030204" pitchFamily="49" charset="0"/>
              </a:rPr>
              <a:t>.</a:t>
            </a:r>
            <a:r>
              <a:rPr lang="en-IN" sz="1400" dirty="0">
                <a:solidFill>
                  <a:srgbClr val="000000"/>
                </a:solidFill>
                <a:latin typeface="Consolas" panose="020B0609020204030204" pitchFamily="49" charset="0"/>
              </a:rPr>
              <a:t>salary</a:t>
            </a:r>
            <a:r>
              <a:rPr lang="en-IN" sz="1400" dirty="0">
                <a:solidFill>
                  <a:srgbClr val="808080"/>
                </a:solidFill>
                <a:latin typeface="Consolas" panose="020B0609020204030204" pitchFamily="49" charset="0"/>
              </a:rPr>
              <a:t>,</a:t>
            </a:r>
            <a:r>
              <a:rPr lang="en-IN" sz="1400" dirty="0">
                <a:solidFill>
                  <a:srgbClr val="000000"/>
                </a:solidFill>
                <a:latin typeface="Consolas" panose="020B0609020204030204" pitchFamily="49" charset="0"/>
              </a:rPr>
              <a:t>E</a:t>
            </a:r>
            <a:r>
              <a:rPr lang="en-IN" sz="1400" dirty="0">
                <a:solidFill>
                  <a:srgbClr val="808080"/>
                </a:solidFill>
                <a:latin typeface="Consolas" panose="020B0609020204030204" pitchFamily="49" charset="0"/>
              </a:rPr>
              <a:t>.</a:t>
            </a:r>
            <a:r>
              <a:rPr lang="en-IN" sz="1400" dirty="0">
                <a:solidFill>
                  <a:srgbClr val="000000"/>
                </a:solidFill>
                <a:latin typeface="Consolas" panose="020B0609020204030204" pitchFamily="49" charset="0"/>
              </a:rPr>
              <a:t>manager_id</a:t>
            </a:r>
            <a:r>
              <a:rPr lang="en-IN" sz="1400" dirty="0">
                <a:solidFill>
                  <a:srgbClr val="808080"/>
                </a:solidFill>
                <a:latin typeface="Consolas" panose="020B0609020204030204" pitchFamily="49" charset="0"/>
              </a:rPr>
              <a:t>,</a:t>
            </a:r>
            <a:r>
              <a:rPr lang="en-IN" sz="1400" dirty="0">
                <a:solidFill>
                  <a:srgbClr val="000000"/>
                </a:solidFill>
                <a:latin typeface="Consolas" panose="020B0609020204030204" pitchFamily="49" charset="0"/>
              </a:rPr>
              <a:t>E</a:t>
            </a:r>
            <a:r>
              <a:rPr lang="en-IN" sz="1400" dirty="0">
                <a:solidFill>
                  <a:srgbClr val="808080"/>
                </a:solidFill>
                <a:latin typeface="Consolas" panose="020B0609020204030204" pitchFamily="49" charset="0"/>
              </a:rPr>
              <a:t>.</a:t>
            </a:r>
            <a:r>
              <a:rPr lang="en-IN" sz="1400" dirty="0">
                <a:solidFill>
                  <a:srgbClr val="000000"/>
                </a:solidFill>
                <a:latin typeface="Consolas" panose="020B0609020204030204" pitchFamily="49" charset="0"/>
              </a:rPr>
              <a:t>department_id </a:t>
            </a:r>
            <a:r>
              <a:rPr lang="en-IN" sz="1400" dirty="0">
                <a:solidFill>
                  <a:srgbClr val="0000FF"/>
                </a:solidFill>
                <a:latin typeface="Consolas" panose="020B0609020204030204" pitchFamily="49" charset="0"/>
              </a:rPr>
              <a:t>from</a:t>
            </a:r>
            <a:r>
              <a:rPr lang="en-IN" sz="1400" dirty="0">
                <a:solidFill>
                  <a:srgbClr val="000000"/>
                </a:solidFill>
                <a:latin typeface="Consolas" panose="020B0609020204030204" pitchFamily="49" charset="0"/>
              </a:rPr>
              <a:t> employees </a:t>
            </a:r>
            <a:r>
              <a:rPr lang="en-IN" sz="1400" dirty="0">
                <a:solidFill>
                  <a:srgbClr val="0000FF"/>
                </a:solidFill>
                <a:latin typeface="Consolas" panose="020B0609020204030204" pitchFamily="49" charset="0"/>
              </a:rPr>
              <a:t>as</a:t>
            </a:r>
            <a:r>
              <a:rPr lang="en-IN" sz="1400" dirty="0">
                <a:solidFill>
                  <a:srgbClr val="000000"/>
                </a:solidFill>
                <a:latin typeface="Consolas" panose="020B0609020204030204" pitchFamily="49" charset="0"/>
              </a:rPr>
              <a:t> E</a:t>
            </a:r>
          </a:p>
          <a:p>
            <a:r>
              <a:rPr lang="en-US" sz="1400" dirty="0">
                <a:solidFill>
                  <a:srgbClr val="808080"/>
                </a:solidFill>
                <a:latin typeface="Consolas" panose="020B0609020204030204" pitchFamily="49" charset="0"/>
              </a:rPr>
              <a:t>inner</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join</a:t>
            </a:r>
            <a:r>
              <a:rPr lang="en-US" sz="1400" dirty="0">
                <a:solidFill>
                  <a:srgbClr val="000000"/>
                </a:solidFill>
                <a:latin typeface="Consolas" panose="020B0609020204030204" pitchFamily="49" charset="0"/>
              </a:rPr>
              <a:t> departments </a:t>
            </a:r>
            <a:r>
              <a:rPr lang="en-US" sz="1400" dirty="0">
                <a:solidFill>
                  <a:srgbClr val="0000FF"/>
                </a:solidFill>
                <a:latin typeface="Consolas" panose="020B0609020204030204" pitchFamily="49" charset="0"/>
              </a:rPr>
              <a:t>as</a:t>
            </a:r>
            <a:r>
              <a:rPr lang="en-US" sz="1400" dirty="0">
                <a:solidFill>
                  <a:srgbClr val="000000"/>
                </a:solidFill>
                <a:latin typeface="Consolas" panose="020B0609020204030204" pitchFamily="49" charset="0"/>
              </a:rPr>
              <a:t> D</a:t>
            </a:r>
          </a:p>
          <a:p>
            <a:r>
              <a:rPr lang="en-US" sz="1400" dirty="0">
                <a:solidFill>
                  <a:srgbClr val="0000FF"/>
                </a:solidFill>
                <a:latin typeface="Consolas" panose="020B0609020204030204" pitchFamily="49" charset="0"/>
              </a:rPr>
              <a:t>on</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E</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department_id</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E</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department_id</a:t>
            </a:r>
            <a:endParaRPr lang="en-US" sz="1400" dirty="0">
              <a:solidFill>
                <a:srgbClr val="000000"/>
              </a:solidFill>
              <a:latin typeface="Consolas" panose="020B0609020204030204" pitchFamily="49" charset="0"/>
            </a:endParaRPr>
          </a:p>
          <a:p>
            <a:r>
              <a:rPr lang="en-US" sz="1400" dirty="0">
                <a:solidFill>
                  <a:srgbClr val="0000FF"/>
                </a:solidFill>
                <a:latin typeface="Consolas" panose="020B0609020204030204" pitchFamily="49" charset="0"/>
              </a:rPr>
              <a:t>where</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E</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department_id</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in</a:t>
            </a:r>
            <a:r>
              <a:rPr lang="en-US" sz="1400" dirty="0">
                <a:solidFill>
                  <a:srgbClr val="0000FF"/>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1</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2</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3</a:t>
            </a:r>
            <a:r>
              <a:rPr lang="en-US" sz="1400" dirty="0">
                <a:solidFill>
                  <a:srgbClr val="80808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FF"/>
                </a:solidFill>
                <a:latin typeface="Consolas" panose="020B0609020204030204" pitchFamily="49" charset="0"/>
              </a:rPr>
              <a:t>order</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by</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E</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department_id</a:t>
            </a:r>
            <a:r>
              <a:rPr lang="en-US" sz="1400" dirty="0">
                <a:solidFill>
                  <a:srgbClr val="000000"/>
                </a:solidFill>
                <a:latin typeface="Consolas" panose="020B0609020204030204" pitchFamily="49" charset="0"/>
              </a:rPr>
              <a:t> </a:t>
            </a:r>
            <a:r>
              <a:rPr lang="en-US" sz="1400" dirty="0" err="1">
                <a:solidFill>
                  <a:srgbClr val="0000FF"/>
                </a:solidFill>
                <a:latin typeface="Consolas" panose="020B0609020204030204" pitchFamily="49" charset="0"/>
              </a:rPr>
              <a:t>asc</a:t>
            </a:r>
            <a:r>
              <a:rPr lang="en-US" sz="1400" dirty="0">
                <a:solidFill>
                  <a:srgbClr val="80808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b="1" i="1" dirty="0"/>
              <a:t>--C Write a Query to get the first name, last name, job title, and department name of employees who work in department id 1, 2, and 3</a:t>
            </a:r>
            <a:r>
              <a:rPr lang="en-US" sz="1800" dirty="0">
                <a:solidFill>
                  <a:srgbClr val="00800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400" dirty="0">
                <a:solidFill>
                  <a:srgbClr val="0000FF"/>
                </a:solidFill>
                <a:latin typeface="Consolas" panose="020B0609020204030204" pitchFamily="49" charset="0"/>
              </a:rPr>
              <a:t>Select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E</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first_name</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E</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last_name</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J</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job_title</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department_name</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from</a:t>
            </a:r>
            <a:r>
              <a:rPr lang="en-US" sz="1400" dirty="0">
                <a:solidFill>
                  <a:srgbClr val="000000"/>
                </a:solidFill>
                <a:latin typeface="Consolas" panose="020B0609020204030204" pitchFamily="49" charset="0"/>
              </a:rPr>
              <a:t> employees </a:t>
            </a:r>
            <a:r>
              <a:rPr lang="en-US" sz="1400" dirty="0">
                <a:solidFill>
                  <a:srgbClr val="0000FF"/>
                </a:solidFill>
                <a:latin typeface="Consolas" panose="020B0609020204030204" pitchFamily="49" charset="0"/>
              </a:rPr>
              <a:t>as</a:t>
            </a:r>
            <a:r>
              <a:rPr lang="en-US" sz="1400" dirty="0">
                <a:solidFill>
                  <a:srgbClr val="000000"/>
                </a:solidFill>
                <a:latin typeface="Consolas" panose="020B0609020204030204" pitchFamily="49" charset="0"/>
              </a:rPr>
              <a:t> E</a:t>
            </a:r>
          </a:p>
          <a:p>
            <a:r>
              <a:rPr lang="en-US" sz="1400" dirty="0">
                <a:solidFill>
                  <a:srgbClr val="808080"/>
                </a:solidFill>
                <a:latin typeface="Consolas" panose="020B0609020204030204" pitchFamily="49" charset="0"/>
              </a:rPr>
              <a:t>inner</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join</a:t>
            </a:r>
            <a:r>
              <a:rPr lang="en-US" sz="1400" dirty="0">
                <a:solidFill>
                  <a:srgbClr val="000000"/>
                </a:solidFill>
                <a:latin typeface="Consolas" panose="020B0609020204030204" pitchFamily="49" charset="0"/>
              </a:rPr>
              <a:t> jobs </a:t>
            </a:r>
            <a:r>
              <a:rPr lang="en-US" sz="1400" dirty="0">
                <a:solidFill>
                  <a:srgbClr val="0000FF"/>
                </a:solidFill>
                <a:latin typeface="Consolas" panose="020B0609020204030204" pitchFamily="49" charset="0"/>
              </a:rPr>
              <a:t>as</a:t>
            </a:r>
            <a:r>
              <a:rPr lang="en-US" sz="1400" dirty="0">
                <a:solidFill>
                  <a:srgbClr val="000000"/>
                </a:solidFill>
                <a:latin typeface="Consolas" panose="020B0609020204030204" pitchFamily="49" charset="0"/>
              </a:rPr>
              <a:t> J</a:t>
            </a:r>
          </a:p>
          <a:p>
            <a:r>
              <a:rPr lang="en-US" sz="1400" dirty="0">
                <a:solidFill>
                  <a:srgbClr val="0000FF"/>
                </a:solidFill>
                <a:latin typeface="Consolas" panose="020B0609020204030204" pitchFamily="49" charset="0"/>
              </a:rPr>
              <a:t>on</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E</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job_id</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J</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job_id</a:t>
            </a:r>
            <a:endParaRPr lang="en-US" sz="1400" dirty="0">
              <a:solidFill>
                <a:srgbClr val="000000"/>
              </a:solidFill>
              <a:latin typeface="Consolas" panose="020B0609020204030204" pitchFamily="49" charset="0"/>
            </a:endParaRPr>
          </a:p>
          <a:p>
            <a:r>
              <a:rPr lang="en-US" sz="1400" dirty="0">
                <a:solidFill>
                  <a:srgbClr val="808080"/>
                </a:solidFill>
                <a:latin typeface="Consolas" panose="020B0609020204030204" pitchFamily="49" charset="0"/>
              </a:rPr>
              <a:t>inner</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join</a:t>
            </a:r>
            <a:r>
              <a:rPr lang="en-US" sz="1400" dirty="0">
                <a:solidFill>
                  <a:srgbClr val="000000"/>
                </a:solidFill>
                <a:latin typeface="Consolas" panose="020B0609020204030204" pitchFamily="49" charset="0"/>
              </a:rPr>
              <a:t> departments </a:t>
            </a:r>
            <a:r>
              <a:rPr lang="en-US" sz="1400" dirty="0">
                <a:solidFill>
                  <a:srgbClr val="0000FF"/>
                </a:solidFill>
                <a:latin typeface="Consolas" panose="020B0609020204030204" pitchFamily="49" charset="0"/>
              </a:rPr>
              <a:t>as</a:t>
            </a:r>
            <a:r>
              <a:rPr lang="en-US" sz="1400" dirty="0">
                <a:solidFill>
                  <a:srgbClr val="000000"/>
                </a:solidFill>
                <a:latin typeface="Consolas" panose="020B0609020204030204" pitchFamily="49" charset="0"/>
              </a:rPr>
              <a:t> D</a:t>
            </a:r>
          </a:p>
          <a:p>
            <a:r>
              <a:rPr lang="en-US" sz="1400" dirty="0">
                <a:solidFill>
                  <a:srgbClr val="0000FF"/>
                </a:solidFill>
                <a:latin typeface="Consolas" panose="020B0609020204030204" pitchFamily="49" charset="0"/>
              </a:rPr>
              <a:t>on</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E</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department_id</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E</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department_id</a:t>
            </a:r>
            <a:endParaRPr lang="en-US" sz="1400" dirty="0">
              <a:solidFill>
                <a:srgbClr val="000000"/>
              </a:solidFill>
              <a:latin typeface="Consolas" panose="020B0609020204030204" pitchFamily="49" charset="0"/>
            </a:endParaRPr>
          </a:p>
          <a:p>
            <a:r>
              <a:rPr lang="en-US" sz="1400" dirty="0">
                <a:solidFill>
                  <a:srgbClr val="0000FF"/>
                </a:solidFill>
                <a:latin typeface="Consolas" panose="020B0609020204030204" pitchFamily="49" charset="0"/>
              </a:rPr>
              <a:t>where</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D</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department_id</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in</a:t>
            </a:r>
            <a:r>
              <a:rPr lang="en-US" sz="1400" dirty="0">
                <a:solidFill>
                  <a:srgbClr val="0000FF"/>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1</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2</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3</a:t>
            </a:r>
            <a:r>
              <a:rPr lang="en-US" sz="1400" dirty="0">
                <a:solidFill>
                  <a:srgbClr val="80808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FF"/>
                </a:solidFill>
                <a:latin typeface="Consolas" panose="020B0609020204030204" pitchFamily="49" charset="0"/>
              </a:rPr>
              <a:t>order</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by</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D</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department_id</a:t>
            </a:r>
            <a:r>
              <a:rPr lang="en-US" sz="1400" dirty="0">
                <a:solidFill>
                  <a:srgbClr val="000000"/>
                </a:solidFill>
                <a:latin typeface="Consolas" panose="020B0609020204030204" pitchFamily="49" charset="0"/>
              </a:rPr>
              <a:t> </a:t>
            </a:r>
            <a:r>
              <a:rPr lang="en-US" sz="1400" dirty="0" err="1">
                <a:solidFill>
                  <a:srgbClr val="0000FF"/>
                </a:solidFill>
                <a:latin typeface="Consolas" panose="020B0609020204030204" pitchFamily="49" charset="0"/>
              </a:rPr>
              <a:t>asc</a:t>
            </a:r>
            <a:endParaRPr lang="en-US" sz="1400" dirty="0">
              <a:solidFill>
                <a:srgbClr val="000000"/>
              </a:solidFill>
              <a:latin typeface="Consolas" panose="020B0609020204030204" pitchFamily="49" charset="0"/>
            </a:endParaRPr>
          </a:p>
          <a:p>
            <a:endParaRPr lang="en-IN" sz="1800" dirty="0">
              <a:solidFill>
                <a:srgbClr val="000000"/>
              </a:solidFill>
              <a:latin typeface="Consolas" panose="020B0609020204030204" pitchFamily="49" charset="0"/>
            </a:endParaRPr>
          </a:p>
          <a:p>
            <a:endParaRPr lang="en-US" sz="2800" b="1" i="1" dirty="0"/>
          </a:p>
        </p:txBody>
      </p:sp>
    </p:spTree>
    <p:extLst>
      <p:ext uri="{BB962C8B-B14F-4D97-AF65-F5344CB8AC3E}">
        <p14:creationId xmlns:p14="http://schemas.microsoft.com/office/powerpoint/2010/main" val="3840727648"/>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
          <a:extLst>
            <a:ext uri="{FF2B5EF4-FFF2-40B4-BE49-F238E27FC236}">
              <a16:creationId xmlns:a16="http://schemas.microsoft.com/office/drawing/2014/main" id="{53C15F56-C4B4-9DB5-DC1F-C4D6FC7625D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729A3A2-4205-FA06-5D8C-5FFE47B0F33B}"/>
              </a:ext>
            </a:extLst>
          </p:cNvPr>
          <p:cNvSpPr txBox="1"/>
          <p:nvPr/>
        </p:nvSpPr>
        <p:spPr>
          <a:xfrm>
            <a:off x="0" y="0"/>
            <a:ext cx="11897030" cy="523220"/>
          </a:xfrm>
          <a:prstGeom prst="rect">
            <a:avLst/>
          </a:prstGeom>
          <a:noFill/>
        </p:spPr>
        <p:txBody>
          <a:bodyPr wrap="square" rtlCol="0">
            <a:spAutoFit/>
          </a:bodyPr>
          <a:lstStyle/>
          <a:p>
            <a:r>
              <a:rPr lang="en-US" sz="2800" b="1" i="1" dirty="0"/>
              <a:t>Task 3 : Joins….</a:t>
            </a:r>
          </a:p>
        </p:txBody>
      </p:sp>
      <p:sp>
        <p:nvSpPr>
          <p:cNvPr id="3" name="TextBox 2">
            <a:extLst>
              <a:ext uri="{FF2B5EF4-FFF2-40B4-BE49-F238E27FC236}">
                <a16:creationId xmlns:a16="http://schemas.microsoft.com/office/drawing/2014/main" id="{D7E775E4-547F-E737-EA66-7E5555757F6B}"/>
              </a:ext>
            </a:extLst>
          </p:cNvPr>
          <p:cNvSpPr txBox="1"/>
          <p:nvPr/>
        </p:nvSpPr>
        <p:spPr>
          <a:xfrm>
            <a:off x="0" y="478333"/>
            <a:ext cx="12192000" cy="6063198"/>
          </a:xfrm>
          <a:prstGeom prst="rect">
            <a:avLst/>
          </a:prstGeom>
          <a:noFill/>
        </p:spPr>
        <p:txBody>
          <a:bodyPr wrap="square" rtlCol="0">
            <a:spAutoFit/>
          </a:bodyPr>
          <a:lstStyle/>
          <a:p>
            <a:r>
              <a:rPr lang="en-IN" sz="1400" b="1" i="1" dirty="0">
                <a:highlight>
                  <a:srgbClr val="FFFF00"/>
                </a:highlight>
              </a:rPr>
              <a:t>/*SQL LEFT JOIN clause */</a:t>
            </a:r>
          </a:p>
          <a:p>
            <a:r>
              <a:rPr lang="en-IN" sz="1400" b="1" i="1" dirty="0"/>
              <a:t>/*Write a Query :--*/</a:t>
            </a:r>
          </a:p>
          <a:p>
            <a:r>
              <a:rPr lang="en-US" sz="1400" b="1" i="1" dirty="0"/>
              <a:t>--A. To query the country names of US, UK, and China</a:t>
            </a:r>
          </a:p>
          <a:p>
            <a:r>
              <a:rPr lang="en-US" sz="1400" dirty="0">
                <a:solidFill>
                  <a:srgbClr val="0000FF"/>
                </a:solidFill>
                <a:latin typeface="Consolas" panose="020B0609020204030204" pitchFamily="49" charset="0"/>
              </a:rPr>
              <a:t>Select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C</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country_name</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from</a:t>
            </a:r>
            <a:r>
              <a:rPr lang="en-US" sz="1400" dirty="0">
                <a:solidFill>
                  <a:srgbClr val="000000"/>
                </a:solidFill>
                <a:latin typeface="Consolas" panose="020B0609020204030204" pitchFamily="49" charset="0"/>
              </a:rPr>
              <a:t> locations </a:t>
            </a:r>
            <a:r>
              <a:rPr lang="en-US" sz="1400" dirty="0">
                <a:solidFill>
                  <a:srgbClr val="0000FF"/>
                </a:solidFill>
                <a:latin typeface="Consolas" panose="020B0609020204030204" pitchFamily="49" charset="0"/>
              </a:rPr>
              <a:t>as</a:t>
            </a:r>
            <a:r>
              <a:rPr lang="en-US" sz="1400" dirty="0">
                <a:solidFill>
                  <a:srgbClr val="000000"/>
                </a:solidFill>
                <a:latin typeface="Consolas" panose="020B0609020204030204" pitchFamily="49" charset="0"/>
              </a:rPr>
              <a:t> L</a:t>
            </a:r>
          </a:p>
          <a:p>
            <a:r>
              <a:rPr lang="en-US" sz="1400" dirty="0">
                <a:solidFill>
                  <a:srgbClr val="808080"/>
                </a:solidFill>
                <a:latin typeface="Consolas" panose="020B0609020204030204" pitchFamily="49" charset="0"/>
              </a:rPr>
              <a:t>left</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join</a:t>
            </a:r>
            <a:r>
              <a:rPr lang="en-US" sz="1400" dirty="0">
                <a:solidFill>
                  <a:srgbClr val="000000"/>
                </a:solidFill>
                <a:latin typeface="Consolas" panose="020B0609020204030204" pitchFamily="49" charset="0"/>
              </a:rPr>
              <a:t> countries </a:t>
            </a:r>
            <a:r>
              <a:rPr lang="en-US" sz="1400" dirty="0">
                <a:solidFill>
                  <a:srgbClr val="0000FF"/>
                </a:solidFill>
                <a:latin typeface="Consolas" panose="020B0609020204030204" pitchFamily="49" charset="0"/>
              </a:rPr>
              <a:t>as</a:t>
            </a:r>
            <a:r>
              <a:rPr lang="en-US" sz="1400" dirty="0">
                <a:solidFill>
                  <a:srgbClr val="000000"/>
                </a:solidFill>
                <a:latin typeface="Consolas" panose="020B0609020204030204" pitchFamily="49" charset="0"/>
              </a:rPr>
              <a:t> C</a:t>
            </a:r>
          </a:p>
          <a:p>
            <a:r>
              <a:rPr lang="en-US" sz="1400" dirty="0">
                <a:solidFill>
                  <a:srgbClr val="0000FF"/>
                </a:solidFill>
                <a:latin typeface="Consolas" panose="020B0609020204030204" pitchFamily="49" charset="0"/>
              </a:rPr>
              <a:t>on</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L</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country_id</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C</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country_id</a:t>
            </a:r>
            <a:endParaRPr lang="en-US" sz="1400" dirty="0">
              <a:solidFill>
                <a:srgbClr val="000000"/>
              </a:solidFill>
              <a:latin typeface="Consolas" panose="020B0609020204030204" pitchFamily="49" charset="0"/>
            </a:endParaRPr>
          </a:p>
          <a:p>
            <a:r>
              <a:rPr lang="en-US" sz="1400" dirty="0">
                <a:solidFill>
                  <a:srgbClr val="0000FF"/>
                </a:solidFill>
                <a:latin typeface="Consolas" panose="020B0609020204030204" pitchFamily="49" charset="0"/>
              </a:rPr>
              <a:t>where</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C</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country_id</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in</a:t>
            </a:r>
            <a:r>
              <a:rPr lang="en-US" sz="1400" dirty="0">
                <a:solidFill>
                  <a:srgbClr val="0000FF"/>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'US'</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'UK'</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'CN’</a:t>
            </a:r>
            <a:r>
              <a:rPr lang="en-US" sz="1400" dirty="0">
                <a:solidFill>
                  <a:srgbClr val="80808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b="1" i="1" dirty="0"/>
              <a:t>--B. query retrieves the locations located in the US, UK and China:</a:t>
            </a:r>
          </a:p>
          <a:p>
            <a:r>
              <a:rPr lang="en-US" sz="1400" dirty="0">
                <a:solidFill>
                  <a:srgbClr val="0000FF"/>
                </a:solidFill>
                <a:latin typeface="Consolas" panose="020B0609020204030204" pitchFamily="49" charset="0"/>
              </a:rPr>
              <a:t>Select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L</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city</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from</a:t>
            </a:r>
            <a:r>
              <a:rPr lang="en-US" sz="1400" dirty="0">
                <a:solidFill>
                  <a:srgbClr val="000000"/>
                </a:solidFill>
                <a:latin typeface="Consolas" panose="020B0609020204030204" pitchFamily="49" charset="0"/>
              </a:rPr>
              <a:t> locations </a:t>
            </a:r>
            <a:r>
              <a:rPr lang="en-US" sz="1400" dirty="0">
                <a:solidFill>
                  <a:srgbClr val="0000FF"/>
                </a:solidFill>
                <a:latin typeface="Consolas" panose="020B0609020204030204" pitchFamily="49" charset="0"/>
              </a:rPr>
              <a:t>as</a:t>
            </a:r>
            <a:r>
              <a:rPr lang="en-US" sz="1400" dirty="0">
                <a:solidFill>
                  <a:srgbClr val="000000"/>
                </a:solidFill>
                <a:latin typeface="Consolas" panose="020B0609020204030204" pitchFamily="49" charset="0"/>
              </a:rPr>
              <a:t> L</a:t>
            </a:r>
          </a:p>
          <a:p>
            <a:r>
              <a:rPr lang="en-US" sz="1400" dirty="0">
                <a:solidFill>
                  <a:srgbClr val="808080"/>
                </a:solidFill>
                <a:latin typeface="Consolas" panose="020B0609020204030204" pitchFamily="49" charset="0"/>
              </a:rPr>
              <a:t>left</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join</a:t>
            </a:r>
            <a:r>
              <a:rPr lang="en-US" sz="1400" dirty="0">
                <a:solidFill>
                  <a:srgbClr val="000000"/>
                </a:solidFill>
                <a:latin typeface="Consolas" panose="020B0609020204030204" pitchFamily="49" charset="0"/>
              </a:rPr>
              <a:t> countries </a:t>
            </a:r>
            <a:r>
              <a:rPr lang="en-US" sz="1400" dirty="0">
                <a:solidFill>
                  <a:srgbClr val="0000FF"/>
                </a:solidFill>
                <a:latin typeface="Consolas" panose="020B0609020204030204" pitchFamily="49" charset="0"/>
              </a:rPr>
              <a:t>as</a:t>
            </a:r>
            <a:r>
              <a:rPr lang="en-US" sz="1400" dirty="0">
                <a:solidFill>
                  <a:srgbClr val="000000"/>
                </a:solidFill>
                <a:latin typeface="Consolas" panose="020B0609020204030204" pitchFamily="49" charset="0"/>
              </a:rPr>
              <a:t> C</a:t>
            </a:r>
          </a:p>
          <a:p>
            <a:r>
              <a:rPr lang="en-US" sz="1400" dirty="0">
                <a:solidFill>
                  <a:srgbClr val="0000FF"/>
                </a:solidFill>
                <a:latin typeface="Consolas" panose="020B0609020204030204" pitchFamily="49" charset="0"/>
              </a:rPr>
              <a:t>on</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L</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country_id</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C</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country_id</a:t>
            </a:r>
            <a:endParaRPr lang="en-US" sz="1400" dirty="0">
              <a:solidFill>
                <a:srgbClr val="000000"/>
              </a:solidFill>
              <a:latin typeface="Consolas" panose="020B0609020204030204" pitchFamily="49" charset="0"/>
            </a:endParaRPr>
          </a:p>
          <a:p>
            <a:r>
              <a:rPr lang="en-US" sz="1400" dirty="0">
                <a:solidFill>
                  <a:srgbClr val="0000FF"/>
                </a:solidFill>
                <a:latin typeface="Consolas" panose="020B0609020204030204" pitchFamily="49" charset="0"/>
              </a:rPr>
              <a:t>where</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C</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country_id</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in</a:t>
            </a:r>
            <a:r>
              <a:rPr lang="en-US" sz="1400" dirty="0">
                <a:solidFill>
                  <a:srgbClr val="0000FF"/>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'US'</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'UK'</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'CN’</a:t>
            </a:r>
            <a:r>
              <a:rPr lang="en-US" sz="1400" dirty="0">
                <a:solidFill>
                  <a:srgbClr val="808080"/>
                </a:solidFill>
                <a:latin typeface="Consolas" panose="020B0609020204030204" pitchFamily="49" charset="0"/>
              </a:rPr>
              <a:t>);</a:t>
            </a:r>
            <a:endParaRPr lang="en-IN" sz="1400" dirty="0">
              <a:solidFill>
                <a:srgbClr val="000000"/>
              </a:solidFill>
              <a:latin typeface="Consolas" panose="020B0609020204030204" pitchFamily="49" charset="0"/>
            </a:endParaRPr>
          </a:p>
          <a:p>
            <a:r>
              <a:rPr lang="en-US" sz="1400" b="1" i="1" dirty="0"/>
              <a:t>--C. To join the countries table with the locations table</a:t>
            </a:r>
            <a:endParaRPr lang="en-IN" sz="1400" dirty="0">
              <a:solidFill>
                <a:srgbClr val="000000"/>
              </a:solidFill>
              <a:latin typeface="Consolas" panose="020B0609020204030204" pitchFamily="49" charset="0"/>
            </a:endParaRPr>
          </a:p>
          <a:p>
            <a:r>
              <a:rPr lang="en-US" sz="1400" dirty="0">
                <a:solidFill>
                  <a:srgbClr val="0000FF"/>
                </a:solidFill>
                <a:latin typeface="Consolas" panose="020B0609020204030204" pitchFamily="49" charset="0"/>
              </a:rPr>
              <a:t>Select</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from</a:t>
            </a:r>
            <a:r>
              <a:rPr lang="en-US" sz="1400" dirty="0">
                <a:solidFill>
                  <a:srgbClr val="000000"/>
                </a:solidFill>
                <a:latin typeface="Consolas" panose="020B0609020204030204" pitchFamily="49" charset="0"/>
              </a:rPr>
              <a:t> locations </a:t>
            </a:r>
            <a:r>
              <a:rPr lang="en-US" sz="1400" dirty="0">
                <a:solidFill>
                  <a:srgbClr val="0000FF"/>
                </a:solidFill>
                <a:latin typeface="Consolas" panose="020B0609020204030204" pitchFamily="49" charset="0"/>
              </a:rPr>
              <a:t>as</a:t>
            </a:r>
            <a:r>
              <a:rPr lang="en-US" sz="1400" dirty="0">
                <a:solidFill>
                  <a:srgbClr val="000000"/>
                </a:solidFill>
                <a:latin typeface="Consolas" panose="020B0609020204030204" pitchFamily="49" charset="0"/>
              </a:rPr>
              <a:t> L</a:t>
            </a:r>
          </a:p>
          <a:p>
            <a:r>
              <a:rPr lang="en-US" sz="1400" dirty="0">
                <a:solidFill>
                  <a:srgbClr val="808080"/>
                </a:solidFill>
                <a:latin typeface="Consolas" panose="020B0609020204030204" pitchFamily="49" charset="0"/>
              </a:rPr>
              <a:t>left</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join</a:t>
            </a:r>
            <a:r>
              <a:rPr lang="en-US" sz="1400" dirty="0">
                <a:solidFill>
                  <a:srgbClr val="000000"/>
                </a:solidFill>
                <a:latin typeface="Consolas" panose="020B0609020204030204" pitchFamily="49" charset="0"/>
              </a:rPr>
              <a:t> countries </a:t>
            </a:r>
            <a:r>
              <a:rPr lang="en-US" sz="1400" dirty="0">
                <a:solidFill>
                  <a:srgbClr val="0000FF"/>
                </a:solidFill>
                <a:latin typeface="Consolas" panose="020B0609020204030204" pitchFamily="49" charset="0"/>
              </a:rPr>
              <a:t>as</a:t>
            </a:r>
            <a:r>
              <a:rPr lang="en-US" sz="1400" dirty="0">
                <a:solidFill>
                  <a:srgbClr val="000000"/>
                </a:solidFill>
                <a:latin typeface="Consolas" panose="020B0609020204030204" pitchFamily="49" charset="0"/>
              </a:rPr>
              <a:t> C</a:t>
            </a:r>
          </a:p>
          <a:p>
            <a:r>
              <a:rPr lang="en-US" sz="1400" dirty="0">
                <a:solidFill>
                  <a:srgbClr val="0000FF"/>
                </a:solidFill>
                <a:latin typeface="Consolas" panose="020B0609020204030204" pitchFamily="49" charset="0"/>
              </a:rPr>
              <a:t>on</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L</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country_id</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C</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country_id</a:t>
            </a:r>
            <a:r>
              <a:rPr lang="en-US" sz="1400" dirty="0">
                <a:solidFill>
                  <a:srgbClr val="808080"/>
                </a:solidFill>
                <a:latin typeface="Consolas" panose="020B0609020204030204" pitchFamily="49" charset="0"/>
              </a:rPr>
              <a:t>;</a:t>
            </a:r>
            <a:endParaRPr lang="en-IN" sz="1400" dirty="0">
              <a:solidFill>
                <a:srgbClr val="000000"/>
              </a:solidFill>
              <a:latin typeface="Consolas" panose="020B0609020204030204" pitchFamily="49" charset="0"/>
            </a:endParaRPr>
          </a:p>
          <a:p>
            <a:r>
              <a:rPr lang="en-US" sz="1400" b="1" i="1" dirty="0"/>
              <a:t>--D. to find the country that does not have any locations in the locations table</a:t>
            </a:r>
          </a:p>
          <a:p>
            <a:r>
              <a:rPr lang="en-US" sz="1400" dirty="0">
                <a:solidFill>
                  <a:srgbClr val="0000FF"/>
                </a:solidFill>
                <a:latin typeface="Consolas" panose="020B0609020204030204" pitchFamily="49" charset="0"/>
              </a:rPr>
              <a:t>Select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C</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country_name</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from</a:t>
            </a:r>
            <a:r>
              <a:rPr lang="en-US" sz="1400" dirty="0">
                <a:solidFill>
                  <a:srgbClr val="000000"/>
                </a:solidFill>
                <a:latin typeface="Consolas" panose="020B0609020204030204" pitchFamily="49" charset="0"/>
              </a:rPr>
              <a:t> countries </a:t>
            </a:r>
            <a:r>
              <a:rPr lang="en-US" sz="1400" dirty="0">
                <a:solidFill>
                  <a:srgbClr val="0000FF"/>
                </a:solidFill>
                <a:latin typeface="Consolas" panose="020B0609020204030204" pitchFamily="49" charset="0"/>
              </a:rPr>
              <a:t>as</a:t>
            </a:r>
            <a:r>
              <a:rPr lang="en-US" sz="1400" dirty="0">
                <a:solidFill>
                  <a:srgbClr val="000000"/>
                </a:solidFill>
                <a:latin typeface="Consolas" panose="020B0609020204030204" pitchFamily="49" charset="0"/>
              </a:rPr>
              <a:t> C</a:t>
            </a:r>
          </a:p>
          <a:p>
            <a:r>
              <a:rPr lang="en-US" sz="1400" dirty="0">
                <a:solidFill>
                  <a:srgbClr val="808080"/>
                </a:solidFill>
                <a:latin typeface="Consolas" panose="020B0609020204030204" pitchFamily="49" charset="0"/>
              </a:rPr>
              <a:t>Left</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join</a:t>
            </a:r>
            <a:r>
              <a:rPr lang="en-US" sz="1400" dirty="0">
                <a:solidFill>
                  <a:srgbClr val="000000"/>
                </a:solidFill>
                <a:latin typeface="Consolas" panose="020B0609020204030204" pitchFamily="49" charset="0"/>
              </a:rPr>
              <a:t> locations </a:t>
            </a:r>
            <a:r>
              <a:rPr lang="en-US" sz="1400" dirty="0">
                <a:solidFill>
                  <a:srgbClr val="0000FF"/>
                </a:solidFill>
                <a:latin typeface="Consolas" panose="020B0609020204030204" pitchFamily="49" charset="0"/>
              </a:rPr>
              <a:t>as</a:t>
            </a:r>
            <a:r>
              <a:rPr lang="en-US" sz="1400" dirty="0">
                <a:solidFill>
                  <a:srgbClr val="000000"/>
                </a:solidFill>
                <a:latin typeface="Consolas" panose="020B0609020204030204" pitchFamily="49" charset="0"/>
              </a:rPr>
              <a:t> L</a:t>
            </a:r>
          </a:p>
          <a:p>
            <a:r>
              <a:rPr lang="en-US" sz="1400" dirty="0">
                <a:solidFill>
                  <a:srgbClr val="0000FF"/>
                </a:solidFill>
                <a:latin typeface="Consolas" panose="020B0609020204030204" pitchFamily="49" charset="0"/>
              </a:rPr>
              <a:t>on</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L</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country_id</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C</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country_id</a:t>
            </a:r>
            <a:endParaRPr lang="en-US" sz="1400" dirty="0">
              <a:solidFill>
                <a:srgbClr val="000000"/>
              </a:solidFill>
              <a:latin typeface="Consolas" panose="020B0609020204030204" pitchFamily="49" charset="0"/>
            </a:endParaRPr>
          </a:p>
          <a:p>
            <a:r>
              <a:rPr lang="en-US" sz="1400" dirty="0">
                <a:solidFill>
                  <a:srgbClr val="0000FF"/>
                </a:solidFill>
                <a:latin typeface="Consolas" panose="020B0609020204030204" pitchFamily="49" charset="0"/>
              </a:rPr>
              <a:t>where</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L</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country_id</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is</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Null</a:t>
            </a:r>
            <a:endParaRPr lang="en-IN" sz="1400" dirty="0">
              <a:solidFill>
                <a:srgbClr val="000000"/>
              </a:solidFill>
              <a:latin typeface="Consolas" panose="020B0609020204030204" pitchFamily="49" charset="0"/>
            </a:endParaRPr>
          </a:p>
          <a:p>
            <a:r>
              <a:rPr lang="en-US" sz="1400" b="1" i="1" dirty="0"/>
              <a:t>--Write a query to join 3 tables: regions, countries, and locations</a:t>
            </a:r>
          </a:p>
          <a:p>
            <a:r>
              <a:rPr lang="en-US" sz="1200" dirty="0">
                <a:solidFill>
                  <a:srgbClr val="0000FF"/>
                </a:solidFill>
                <a:latin typeface="Consolas" panose="020B0609020204030204" pitchFamily="49" charset="0"/>
              </a:rPr>
              <a:t>Select</a:t>
            </a:r>
            <a:r>
              <a:rPr lang="en-US" sz="1200" dirty="0">
                <a:solidFill>
                  <a:srgbClr val="000000"/>
                </a:solidFill>
                <a:latin typeface="Consolas" panose="020B0609020204030204" pitchFamily="49" charset="0"/>
              </a:rPr>
              <a:t> </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from</a:t>
            </a:r>
            <a:r>
              <a:rPr lang="en-US" sz="1200" dirty="0">
                <a:solidFill>
                  <a:srgbClr val="000000"/>
                </a:solidFill>
                <a:latin typeface="Consolas" panose="020B0609020204030204" pitchFamily="49" charset="0"/>
              </a:rPr>
              <a:t> regions </a:t>
            </a:r>
            <a:r>
              <a:rPr lang="en-US" sz="1200" dirty="0">
                <a:solidFill>
                  <a:srgbClr val="0000FF"/>
                </a:solidFill>
                <a:latin typeface="Consolas" panose="020B0609020204030204" pitchFamily="49" charset="0"/>
              </a:rPr>
              <a:t>as</a:t>
            </a:r>
            <a:r>
              <a:rPr lang="en-US" sz="1200" dirty="0">
                <a:solidFill>
                  <a:srgbClr val="000000"/>
                </a:solidFill>
                <a:latin typeface="Consolas" panose="020B0609020204030204" pitchFamily="49" charset="0"/>
              </a:rPr>
              <a:t> R</a:t>
            </a:r>
          </a:p>
          <a:p>
            <a:r>
              <a:rPr lang="en-US" sz="1200" dirty="0">
                <a:solidFill>
                  <a:srgbClr val="808080"/>
                </a:solidFill>
                <a:latin typeface="Consolas" panose="020B0609020204030204" pitchFamily="49" charset="0"/>
              </a:rPr>
              <a:t>Left</a:t>
            </a:r>
            <a:r>
              <a:rPr lang="en-US" sz="1200" dirty="0">
                <a:solidFill>
                  <a:srgbClr val="000000"/>
                </a:solidFill>
                <a:latin typeface="Consolas" panose="020B0609020204030204" pitchFamily="49" charset="0"/>
              </a:rPr>
              <a:t> </a:t>
            </a:r>
            <a:r>
              <a:rPr lang="en-US" sz="1200" dirty="0">
                <a:solidFill>
                  <a:srgbClr val="808080"/>
                </a:solidFill>
                <a:latin typeface="Consolas" panose="020B0609020204030204" pitchFamily="49" charset="0"/>
              </a:rPr>
              <a:t>join</a:t>
            </a:r>
            <a:r>
              <a:rPr lang="en-US" sz="1200" dirty="0">
                <a:solidFill>
                  <a:srgbClr val="000000"/>
                </a:solidFill>
                <a:latin typeface="Consolas" panose="020B0609020204030204" pitchFamily="49" charset="0"/>
              </a:rPr>
              <a:t> countries </a:t>
            </a:r>
            <a:r>
              <a:rPr lang="en-US" sz="1200" dirty="0">
                <a:solidFill>
                  <a:srgbClr val="0000FF"/>
                </a:solidFill>
                <a:latin typeface="Consolas" panose="020B0609020204030204" pitchFamily="49" charset="0"/>
              </a:rPr>
              <a:t>as</a:t>
            </a:r>
            <a:r>
              <a:rPr lang="en-US" sz="1200" dirty="0">
                <a:solidFill>
                  <a:srgbClr val="000000"/>
                </a:solidFill>
                <a:latin typeface="Consolas" panose="020B0609020204030204" pitchFamily="49" charset="0"/>
              </a:rPr>
              <a:t> C</a:t>
            </a:r>
          </a:p>
          <a:p>
            <a:r>
              <a:rPr lang="en-US" sz="1200" dirty="0">
                <a:solidFill>
                  <a:srgbClr val="0000FF"/>
                </a:solidFill>
                <a:latin typeface="Consolas" panose="020B0609020204030204" pitchFamily="49" charset="0"/>
              </a:rPr>
              <a:t>on</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R</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region_id</a:t>
            </a:r>
            <a:r>
              <a:rPr lang="en-US" sz="1200" dirty="0">
                <a:solidFill>
                  <a:srgbClr val="000000"/>
                </a:solidFill>
                <a:latin typeface="Consolas" panose="020B0609020204030204" pitchFamily="49" charset="0"/>
              </a:rPr>
              <a:t> </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C</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region_id</a:t>
            </a:r>
            <a:endParaRPr lang="en-US" sz="1200" dirty="0">
              <a:solidFill>
                <a:srgbClr val="000000"/>
              </a:solidFill>
              <a:latin typeface="Consolas" panose="020B0609020204030204" pitchFamily="49" charset="0"/>
            </a:endParaRPr>
          </a:p>
          <a:p>
            <a:r>
              <a:rPr lang="en-US" sz="1200" dirty="0">
                <a:solidFill>
                  <a:srgbClr val="808080"/>
                </a:solidFill>
                <a:latin typeface="Consolas" panose="020B0609020204030204" pitchFamily="49" charset="0"/>
              </a:rPr>
              <a:t>Left</a:t>
            </a:r>
            <a:r>
              <a:rPr lang="en-US" sz="1200" dirty="0">
                <a:solidFill>
                  <a:srgbClr val="000000"/>
                </a:solidFill>
                <a:latin typeface="Consolas" panose="020B0609020204030204" pitchFamily="49" charset="0"/>
              </a:rPr>
              <a:t> </a:t>
            </a:r>
            <a:r>
              <a:rPr lang="en-US" sz="1200" dirty="0">
                <a:solidFill>
                  <a:srgbClr val="808080"/>
                </a:solidFill>
                <a:latin typeface="Consolas" panose="020B0609020204030204" pitchFamily="49" charset="0"/>
              </a:rPr>
              <a:t>Join</a:t>
            </a:r>
            <a:r>
              <a:rPr lang="en-US" sz="1200" dirty="0">
                <a:solidFill>
                  <a:srgbClr val="000000"/>
                </a:solidFill>
                <a:latin typeface="Consolas" panose="020B0609020204030204" pitchFamily="49" charset="0"/>
              </a:rPr>
              <a:t> locations </a:t>
            </a:r>
            <a:r>
              <a:rPr lang="en-US" sz="1200" dirty="0">
                <a:solidFill>
                  <a:srgbClr val="0000FF"/>
                </a:solidFill>
                <a:latin typeface="Consolas" panose="020B0609020204030204" pitchFamily="49" charset="0"/>
              </a:rPr>
              <a:t>as</a:t>
            </a:r>
            <a:r>
              <a:rPr lang="en-US" sz="1200" dirty="0">
                <a:solidFill>
                  <a:srgbClr val="000000"/>
                </a:solidFill>
                <a:latin typeface="Consolas" panose="020B0609020204030204" pitchFamily="49" charset="0"/>
              </a:rPr>
              <a:t> L</a:t>
            </a:r>
          </a:p>
          <a:p>
            <a:r>
              <a:rPr lang="en-US" sz="1200" dirty="0">
                <a:solidFill>
                  <a:srgbClr val="0000FF"/>
                </a:solidFill>
                <a:latin typeface="Consolas" panose="020B0609020204030204" pitchFamily="49" charset="0"/>
              </a:rPr>
              <a:t>on</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C</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country_id</a:t>
            </a:r>
            <a:r>
              <a:rPr lang="en-US" sz="1200" dirty="0">
                <a:solidFill>
                  <a:srgbClr val="000000"/>
                </a:solidFill>
                <a:latin typeface="Consolas" panose="020B0609020204030204" pitchFamily="49" charset="0"/>
              </a:rPr>
              <a:t> </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L</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country_id</a:t>
            </a:r>
            <a:endParaRPr lang="en-US" sz="1200" dirty="0">
              <a:solidFill>
                <a:srgbClr val="000000"/>
              </a:solidFill>
              <a:latin typeface="Consolas" panose="020B0609020204030204" pitchFamily="49" charset="0"/>
            </a:endParaRPr>
          </a:p>
          <a:p>
            <a:endParaRPr lang="en-US" sz="2000" b="1" i="1" dirty="0"/>
          </a:p>
        </p:txBody>
      </p:sp>
    </p:spTree>
    <p:extLst>
      <p:ext uri="{BB962C8B-B14F-4D97-AF65-F5344CB8AC3E}">
        <p14:creationId xmlns:p14="http://schemas.microsoft.com/office/powerpoint/2010/main" val="3043333601"/>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
          <a:extLst>
            <a:ext uri="{FF2B5EF4-FFF2-40B4-BE49-F238E27FC236}">
              <a16:creationId xmlns:a16="http://schemas.microsoft.com/office/drawing/2014/main" id="{725339FB-B1AB-C12F-E9AF-9636F52F27A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E7F188A-2618-5DE8-3173-7E0CA1C991C5}"/>
              </a:ext>
            </a:extLst>
          </p:cNvPr>
          <p:cNvSpPr txBox="1"/>
          <p:nvPr/>
        </p:nvSpPr>
        <p:spPr>
          <a:xfrm>
            <a:off x="0" y="0"/>
            <a:ext cx="11897030" cy="523220"/>
          </a:xfrm>
          <a:prstGeom prst="rect">
            <a:avLst/>
          </a:prstGeom>
          <a:noFill/>
        </p:spPr>
        <p:txBody>
          <a:bodyPr wrap="square" rtlCol="0">
            <a:spAutoFit/>
          </a:bodyPr>
          <a:lstStyle/>
          <a:p>
            <a:r>
              <a:rPr lang="en-US" sz="2800" b="1" i="1" dirty="0"/>
              <a:t>Task 3 : Joins….</a:t>
            </a:r>
          </a:p>
        </p:txBody>
      </p:sp>
      <p:sp>
        <p:nvSpPr>
          <p:cNvPr id="3" name="TextBox 2">
            <a:extLst>
              <a:ext uri="{FF2B5EF4-FFF2-40B4-BE49-F238E27FC236}">
                <a16:creationId xmlns:a16="http://schemas.microsoft.com/office/drawing/2014/main" id="{5778FB27-C8E9-E452-7A44-429F723E689A}"/>
              </a:ext>
            </a:extLst>
          </p:cNvPr>
          <p:cNvSpPr txBox="1"/>
          <p:nvPr/>
        </p:nvSpPr>
        <p:spPr>
          <a:xfrm>
            <a:off x="0" y="478333"/>
            <a:ext cx="12192000" cy="1877437"/>
          </a:xfrm>
          <a:prstGeom prst="rect">
            <a:avLst/>
          </a:prstGeom>
          <a:noFill/>
        </p:spPr>
        <p:txBody>
          <a:bodyPr wrap="square" rtlCol="0">
            <a:spAutoFit/>
          </a:bodyPr>
          <a:lstStyle/>
          <a:p>
            <a:r>
              <a:rPr lang="en-IN" sz="1800" dirty="0">
                <a:solidFill>
                  <a:srgbClr val="008000"/>
                </a:solidFill>
                <a:highlight>
                  <a:srgbClr val="FFFF00"/>
                </a:highlight>
                <a:latin typeface="Consolas" panose="020B0609020204030204" pitchFamily="49" charset="0"/>
              </a:rPr>
              <a:t>/* SQL self-join */</a:t>
            </a:r>
            <a:r>
              <a:rPr lang="en-IN" sz="1800" dirty="0">
                <a:solidFill>
                  <a:srgbClr val="000000"/>
                </a:solidFill>
                <a:highlight>
                  <a:srgbClr val="FFFF00"/>
                </a:highlight>
                <a:latin typeface="Consolas" panose="020B0609020204030204" pitchFamily="49" charset="0"/>
              </a:rPr>
              <a:t>  </a:t>
            </a:r>
            <a:endParaRPr lang="en-IN" sz="1400" dirty="0">
              <a:solidFill>
                <a:srgbClr val="000000"/>
              </a:solidFill>
              <a:latin typeface="Consolas" panose="020B0609020204030204" pitchFamily="49" charset="0"/>
            </a:endParaRPr>
          </a:p>
          <a:p>
            <a:endParaRPr lang="en-IN" sz="1400" dirty="0">
              <a:solidFill>
                <a:srgbClr val="000000"/>
              </a:solidFill>
              <a:latin typeface="Consolas" panose="020B0609020204030204" pitchFamily="49" charset="0"/>
            </a:endParaRPr>
          </a:p>
          <a:p>
            <a:r>
              <a:rPr lang="en-US" sz="1400" dirty="0">
                <a:solidFill>
                  <a:srgbClr val="0000FF"/>
                </a:solidFill>
                <a:latin typeface="Consolas" panose="020B0609020204030204" pitchFamily="49" charset="0"/>
              </a:rPr>
              <a:t>SELECT</a:t>
            </a:r>
            <a:r>
              <a:rPr lang="en-US" sz="1400" dirty="0">
                <a:solidFill>
                  <a:srgbClr val="000000"/>
                </a:solidFill>
                <a:latin typeface="Consolas" panose="020B0609020204030204" pitchFamily="49" charset="0"/>
              </a:rPr>
              <a:t> e1</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employee_id </a:t>
            </a:r>
            <a:r>
              <a:rPr lang="en-US" sz="1400" dirty="0">
                <a:solidFill>
                  <a:srgbClr val="0000FF"/>
                </a:solidFill>
                <a:latin typeface="Consolas" panose="020B0609020204030204" pitchFamily="49" charset="0"/>
              </a:rPr>
              <a:t>AS</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Employee_ID</a:t>
            </a:r>
            <a:r>
              <a:rPr lang="en-US" sz="1400" dirty="0">
                <a:solidFill>
                  <a:srgbClr val="80808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err="1">
                <a:solidFill>
                  <a:srgbClr val="FF00FF"/>
                </a:solidFill>
                <a:latin typeface="Consolas" panose="020B0609020204030204" pitchFamily="49" charset="0"/>
              </a:rPr>
              <a:t>Concat</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e1</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first_name</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e1</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last_name</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Employee_Name</a:t>
            </a:r>
            <a:r>
              <a:rPr lang="en-US" sz="1400" dirty="0">
                <a:solidFill>
                  <a:srgbClr val="80808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e2</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employee_id </a:t>
            </a:r>
            <a:r>
              <a:rPr lang="en-US" sz="1400" dirty="0">
                <a:solidFill>
                  <a:srgbClr val="0000FF"/>
                </a:solidFill>
                <a:latin typeface="Consolas" panose="020B0609020204030204" pitchFamily="49" charset="0"/>
              </a:rPr>
              <a:t>AS</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Manager_ID</a:t>
            </a:r>
            <a:r>
              <a:rPr lang="en-US" sz="1400" dirty="0">
                <a:solidFill>
                  <a:srgbClr val="80808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err="1">
                <a:solidFill>
                  <a:srgbClr val="FF00FF"/>
                </a:solidFill>
                <a:latin typeface="Consolas" panose="020B0609020204030204" pitchFamily="49" charset="0"/>
              </a:rPr>
              <a:t>Concat</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e2</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first_name</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e2</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last_name</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Manager_Name</a:t>
            </a:r>
            <a:endParaRPr lang="en-US" sz="1400" dirty="0">
              <a:solidFill>
                <a:srgbClr val="000000"/>
              </a:solidFill>
              <a:latin typeface="Consolas" panose="020B0609020204030204" pitchFamily="49" charset="0"/>
            </a:endParaRPr>
          </a:p>
          <a:p>
            <a:r>
              <a:rPr lang="en-IN" sz="1400" dirty="0">
                <a:solidFill>
                  <a:srgbClr val="0000FF"/>
                </a:solidFill>
                <a:latin typeface="Consolas" panose="020B0609020204030204" pitchFamily="49" charset="0"/>
              </a:rPr>
              <a:t>FROM</a:t>
            </a:r>
            <a:r>
              <a:rPr lang="en-IN" sz="1400" dirty="0">
                <a:solidFill>
                  <a:srgbClr val="000000"/>
                </a:solidFill>
                <a:latin typeface="Consolas" panose="020B0609020204030204" pitchFamily="49" charset="0"/>
              </a:rPr>
              <a:t> employees e1</a:t>
            </a:r>
          </a:p>
          <a:p>
            <a:r>
              <a:rPr lang="en-US" sz="1400" dirty="0">
                <a:solidFill>
                  <a:srgbClr val="808080"/>
                </a:solidFill>
                <a:latin typeface="Consolas" panose="020B0609020204030204" pitchFamily="49" charset="0"/>
              </a:rPr>
              <a:t>inner</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JOIN</a:t>
            </a:r>
            <a:r>
              <a:rPr lang="en-US" sz="1400" dirty="0">
                <a:solidFill>
                  <a:srgbClr val="000000"/>
                </a:solidFill>
                <a:latin typeface="Consolas" panose="020B0609020204030204" pitchFamily="49" charset="0"/>
              </a:rPr>
              <a:t> employees e2 </a:t>
            </a:r>
            <a:r>
              <a:rPr lang="en-US" sz="1400" dirty="0">
                <a:solidFill>
                  <a:srgbClr val="0000FF"/>
                </a:solidFill>
                <a:latin typeface="Consolas" panose="020B0609020204030204" pitchFamily="49" charset="0"/>
              </a:rPr>
              <a:t>ON</a:t>
            </a:r>
            <a:r>
              <a:rPr lang="en-US" sz="1400" dirty="0">
                <a:solidFill>
                  <a:srgbClr val="000000"/>
                </a:solidFill>
                <a:latin typeface="Consolas" panose="020B0609020204030204" pitchFamily="49" charset="0"/>
              </a:rPr>
              <a:t> e1</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manager_id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e2</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employee_id</a:t>
            </a:r>
            <a:r>
              <a:rPr lang="en-US" sz="1400" dirty="0">
                <a:solidFill>
                  <a:srgbClr val="808080"/>
                </a:solidFill>
                <a:latin typeface="Consolas" panose="020B0609020204030204" pitchFamily="49" charset="0"/>
              </a:rPr>
              <a:t>;</a:t>
            </a:r>
            <a:endParaRPr lang="en-US" b="1" i="1" dirty="0">
              <a:solidFill>
                <a:srgbClr val="808080"/>
              </a:solidFill>
              <a:latin typeface="Consolas" panose="020B0609020204030204" pitchFamily="49" charset="0"/>
            </a:endParaRPr>
          </a:p>
        </p:txBody>
      </p:sp>
      <p:sp>
        <p:nvSpPr>
          <p:cNvPr id="2" name="TextBox 1">
            <a:extLst>
              <a:ext uri="{FF2B5EF4-FFF2-40B4-BE49-F238E27FC236}">
                <a16:creationId xmlns:a16="http://schemas.microsoft.com/office/drawing/2014/main" id="{B47B7701-166F-4C8A-1F42-03FE4F4581AF}"/>
              </a:ext>
            </a:extLst>
          </p:cNvPr>
          <p:cNvSpPr txBox="1"/>
          <p:nvPr/>
        </p:nvSpPr>
        <p:spPr>
          <a:xfrm>
            <a:off x="0" y="2355770"/>
            <a:ext cx="12192000" cy="4770537"/>
          </a:xfrm>
          <a:prstGeom prst="rect">
            <a:avLst/>
          </a:prstGeom>
          <a:noFill/>
        </p:spPr>
        <p:txBody>
          <a:bodyPr wrap="square" rtlCol="0">
            <a:spAutoFit/>
          </a:bodyPr>
          <a:lstStyle/>
          <a:p>
            <a:r>
              <a:rPr lang="en-IN" sz="1600" dirty="0">
                <a:solidFill>
                  <a:srgbClr val="008000"/>
                </a:solidFill>
                <a:highlight>
                  <a:srgbClr val="FFFF00"/>
                </a:highlight>
                <a:latin typeface="Consolas" panose="020B0609020204030204" pitchFamily="49" charset="0"/>
              </a:rPr>
              <a:t>/* SQL CROSS JOIN clause */</a:t>
            </a:r>
            <a:endParaRPr lang="en-IN" sz="1600" dirty="0">
              <a:solidFill>
                <a:srgbClr val="000000"/>
              </a:solidFill>
              <a:highlight>
                <a:srgbClr val="FFFF00"/>
              </a:highlight>
              <a:latin typeface="Consolas" panose="020B0609020204030204" pitchFamily="49" charset="0"/>
            </a:endParaRPr>
          </a:p>
          <a:p>
            <a:r>
              <a:rPr lang="en-US" sz="1600" dirty="0">
                <a:solidFill>
                  <a:srgbClr val="008000"/>
                </a:solidFill>
                <a:latin typeface="Consolas" panose="020B0609020204030204" pitchFamily="49" charset="0"/>
              </a:rPr>
              <a:t>/* The following statements create the </a:t>
            </a:r>
            <a:r>
              <a:rPr lang="en-US" sz="1600" dirty="0" err="1">
                <a:solidFill>
                  <a:srgbClr val="008000"/>
                </a:solidFill>
                <a:latin typeface="Consolas" panose="020B0609020204030204" pitchFamily="49" charset="0"/>
              </a:rPr>
              <a:t>sales_organization</a:t>
            </a:r>
            <a:r>
              <a:rPr lang="en-US" sz="1600" dirty="0">
                <a:solidFill>
                  <a:srgbClr val="008000"/>
                </a:solidFill>
                <a:latin typeface="Consolas" panose="020B0609020204030204" pitchFamily="49" charset="0"/>
              </a:rPr>
              <a:t> and </a:t>
            </a:r>
            <a:r>
              <a:rPr lang="en-US" sz="1600" dirty="0" err="1">
                <a:solidFill>
                  <a:srgbClr val="008000"/>
                </a:solidFill>
                <a:latin typeface="Consolas" panose="020B0609020204030204" pitchFamily="49" charset="0"/>
              </a:rPr>
              <a:t>sales_channel</a:t>
            </a:r>
            <a:r>
              <a:rPr lang="en-US" sz="1600" dirty="0">
                <a:solidFill>
                  <a:srgbClr val="008000"/>
                </a:solidFill>
                <a:latin typeface="Consolas" panose="020B0609020204030204" pitchFamily="49" charset="0"/>
              </a:rPr>
              <a:t> tables */</a:t>
            </a:r>
            <a:endParaRPr lang="en-US" sz="1600" dirty="0">
              <a:solidFill>
                <a:srgbClr val="000000"/>
              </a:solidFill>
              <a:latin typeface="Consolas" panose="020B0609020204030204" pitchFamily="49" charset="0"/>
            </a:endParaRPr>
          </a:p>
          <a:p>
            <a:endParaRPr lang="en-IN" sz="1600" dirty="0">
              <a:solidFill>
                <a:srgbClr val="000000"/>
              </a:solidFill>
              <a:latin typeface="Consolas" panose="020B0609020204030204" pitchFamily="49" charset="0"/>
            </a:endParaRPr>
          </a:p>
          <a:p>
            <a:r>
              <a:rPr lang="en-IN" sz="1600" dirty="0">
                <a:solidFill>
                  <a:srgbClr val="0000FF"/>
                </a:solidFill>
                <a:latin typeface="Consolas" panose="020B0609020204030204" pitchFamily="49" charset="0"/>
              </a:rPr>
              <a:t>CREATE</a:t>
            </a:r>
            <a:r>
              <a:rPr lang="en-IN" sz="1600" dirty="0">
                <a:solidFill>
                  <a:srgbClr val="000000"/>
                </a:solidFill>
                <a:latin typeface="Consolas" panose="020B0609020204030204" pitchFamily="49" charset="0"/>
              </a:rPr>
              <a:t> </a:t>
            </a:r>
            <a:r>
              <a:rPr lang="en-IN" sz="1600" dirty="0">
                <a:solidFill>
                  <a:srgbClr val="0000FF"/>
                </a:solidFill>
                <a:latin typeface="Consolas" panose="020B0609020204030204" pitchFamily="49" charset="0"/>
              </a:rPr>
              <a:t>TABLE</a:t>
            </a:r>
            <a:r>
              <a:rPr lang="en-IN" sz="1600" dirty="0">
                <a:solidFill>
                  <a:srgbClr val="000000"/>
                </a:solidFill>
                <a:latin typeface="Consolas" panose="020B0609020204030204" pitchFamily="49" charset="0"/>
              </a:rPr>
              <a:t> </a:t>
            </a:r>
            <a:r>
              <a:rPr lang="en-IN" sz="1600" dirty="0" err="1">
                <a:solidFill>
                  <a:srgbClr val="000000"/>
                </a:solidFill>
                <a:latin typeface="Consolas" panose="020B0609020204030204" pitchFamily="49" charset="0"/>
              </a:rPr>
              <a:t>sales_organization</a:t>
            </a:r>
            <a:r>
              <a:rPr lang="en-IN" sz="1600" dirty="0">
                <a:solidFill>
                  <a:srgbClr val="0000FF"/>
                </a:solidFill>
                <a:latin typeface="Consolas" panose="020B0609020204030204" pitchFamily="49" charset="0"/>
              </a:rPr>
              <a:t> </a:t>
            </a:r>
            <a:r>
              <a:rPr lang="en-IN" sz="1600" dirty="0">
                <a:solidFill>
                  <a:srgbClr val="808080"/>
                </a:solidFill>
                <a:latin typeface="Consolas" panose="020B0609020204030204" pitchFamily="49" charset="0"/>
              </a:rPr>
              <a:t>(</a:t>
            </a:r>
            <a:r>
              <a:rPr lang="en-US" sz="1600" dirty="0" err="1">
                <a:solidFill>
                  <a:srgbClr val="000000"/>
                </a:solidFill>
                <a:latin typeface="Consolas" panose="020B0609020204030204" pitchFamily="49" charset="0"/>
              </a:rPr>
              <a:t>sales_org_id</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PRIMARY</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KEY</a:t>
            </a:r>
            <a:r>
              <a:rPr lang="en-US" sz="1600" dirty="0">
                <a:solidFill>
                  <a:srgbClr val="808080"/>
                </a:solidFill>
                <a:latin typeface="Consolas" panose="020B0609020204030204" pitchFamily="49" charset="0"/>
              </a:rPr>
              <a:t>,</a:t>
            </a:r>
            <a:r>
              <a:rPr lang="en-IN" sz="1600" dirty="0" err="1">
                <a:solidFill>
                  <a:srgbClr val="000000"/>
                </a:solidFill>
                <a:latin typeface="Consolas" panose="020B0609020204030204" pitchFamily="49" charset="0"/>
              </a:rPr>
              <a:t>sales_org</a:t>
            </a:r>
            <a:r>
              <a:rPr lang="en-IN" sz="1600" dirty="0">
                <a:solidFill>
                  <a:srgbClr val="000000"/>
                </a:solidFill>
                <a:latin typeface="Consolas" panose="020B0609020204030204" pitchFamily="49" charset="0"/>
              </a:rPr>
              <a:t> </a:t>
            </a:r>
            <a:r>
              <a:rPr lang="en-IN" sz="1600" dirty="0">
                <a:solidFill>
                  <a:srgbClr val="0000FF"/>
                </a:solidFill>
                <a:latin typeface="Consolas" panose="020B0609020204030204" pitchFamily="49" charset="0"/>
              </a:rPr>
              <a:t>VARCHAR </a:t>
            </a:r>
            <a:r>
              <a:rPr lang="en-IN" sz="1600" dirty="0">
                <a:solidFill>
                  <a:srgbClr val="808080"/>
                </a:solidFill>
                <a:latin typeface="Consolas" panose="020B0609020204030204" pitchFamily="49" charset="0"/>
              </a:rPr>
              <a:t>(</a:t>
            </a:r>
            <a:r>
              <a:rPr lang="en-IN" sz="1600" dirty="0">
                <a:solidFill>
                  <a:srgbClr val="000000"/>
                </a:solidFill>
                <a:latin typeface="Consolas" panose="020B0609020204030204" pitchFamily="49" charset="0"/>
              </a:rPr>
              <a:t>255</a:t>
            </a:r>
            <a:r>
              <a:rPr lang="en-IN" sz="1600" dirty="0">
                <a:solidFill>
                  <a:srgbClr val="808080"/>
                </a:solidFill>
                <a:latin typeface="Consolas" panose="020B0609020204030204" pitchFamily="49" charset="0"/>
              </a:rPr>
              <a:t>));</a:t>
            </a:r>
            <a:endParaRPr lang="en-IN" sz="1600" dirty="0">
              <a:solidFill>
                <a:srgbClr val="000000"/>
              </a:solidFill>
              <a:latin typeface="Consolas" panose="020B0609020204030204" pitchFamily="49" charset="0"/>
            </a:endParaRPr>
          </a:p>
          <a:p>
            <a:endParaRPr lang="en-IN" sz="1600" dirty="0">
              <a:solidFill>
                <a:srgbClr val="000000"/>
              </a:solidFill>
              <a:latin typeface="Consolas" panose="020B0609020204030204" pitchFamily="49" charset="0"/>
            </a:endParaRPr>
          </a:p>
          <a:p>
            <a:r>
              <a:rPr lang="en-IN" sz="1600" dirty="0">
                <a:solidFill>
                  <a:srgbClr val="0000FF"/>
                </a:solidFill>
                <a:latin typeface="Consolas" panose="020B0609020204030204" pitchFamily="49" charset="0"/>
              </a:rPr>
              <a:t>CREATE</a:t>
            </a:r>
            <a:r>
              <a:rPr lang="en-IN" sz="1600" dirty="0">
                <a:solidFill>
                  <a:srgbClr val="000000"/>
                </a:solidFill>
                <a:latin typeface="Consolas" panose="020B0609020204030204" pitchFamily="49" charset="0"/>
              </a:rPr>
              <a:t> </a:t>
            </a:r>
            <a:r>
              <a:rPr lang="en-IN" sz="1600" dirty="0">
                <a:solidFill>
                  <a:srgbClr val="0000FF"/>
                </a:solidFill>
                <a:latin typeface="Consolas" panose="020B0609020204030204" pitchFamily="49" charset="0"/>
              </a:rPr>
              <a:t>TABLE</a:t>
            </a:r>
            <a:r>
              <a:rPr lang="en-IN" sz="1600" dirty="0">
                <a:solidFill>
                  <a:srgbClr val="000000"/>
                </a:solidFill>
                <a:latin typeface="Consolas" panose="020B0609020204030204" pitchFamily="49" charset="0"/>
              </a:rPr>
              <a:t> </a:t>
            </a:r>
            <a:r>
              <a:rPr lang="en-IN" sz="1600" dirty="0" err="1">
                <a:solidFill>
                  <a:srgbClr val="000000"/>
                </a:solidFill>
                <a:latin typeface="Consolas" panose="020B0609020204030204" pitchFamily="49" charset="0"/>
              </a:rPr>
              <a:t>sales_channel</a:t>
            </a:r>
            <a:r>
              <a:rPr lang="en-IN" sz="1600" dirty="0">
                <a:solidFill>
                  <a:srgbClr val="0000FF"/>
                </a:solidFill>
                <a:latin typeface="Consolas" panose="020B0609020204030204" pitchFamily="49" charset="0"/>
              </a:rPr>
              <a:t> </a:t>
            </a:r>
            <a:r>
              <a:rPr lang="en-IN" sz="1600" dirty="0">
                <a:solidFill>
                  <a:srgbClr val="808080"/>
                </a:solidFill>
                <a:latin typeface="Consolas" panose="020B0609020204030204" pitchFamily="49" charset="0"/>
              </a:rPr>
              <a:t>(</a:t>
            </a:r>
            <a:r>
              <a:rPr lang="en-US" sz="1600" dirty="0" err="1">
                <a:solidFill>
                  <a:srgbClr val="000000"/>
                </a:solidFill>
                <a:latin typeface="Consolas" panose="020B0609020204030204" pitchFamily="49" charset="0"/>
              </a:rPr>
              <a:t>channel_id</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PRIMARY</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KEY</a:t>
            </a:r>
            <a:r>
              <a:rPr lang="en-US" sz="1600" dirty="0">
                <a:solidFill>
                  <a:srgbClr val="808080"/>
                </a:solidFill>
                <a:latin typeface="Consolas" panose="020B0609020204030204" pitchFamily="49" charset="0"/>
              </a:rPr>
              <a:t>,</a:t>
            </a:r>
            <a:r>
              <a:rPr lang="en-IN" sz="1600" dirty="0">
                <a:solidFill>
                  <a:srgbClr val="000000"/>
                </a:solidFill>
                <a:latin typeface="Consolas" panose="020B0609020204030204" pitchFamily="49" charset="0"/>
              </a:rPr>
              <a:t>channel </a:t>
            </a:r>
            <a:r>
              <a:rPr lang="en-IN" sz="1600" dirty="0">
                <a:solidFill>
                  <a:srgbClr val="0000FF"/>
                </a:solidFill>
                <a:latin typeface="Consolas" panose="020B0609020204030204" pitchFamily="49" charset="0"/>
              </a:rPr>
              <a:t>VARCHAR </a:t>
            </a:r>
            <a:r>
              <a:rPr lang="en-IN" sz="1600" dirty="0">
                <a:solidFill>
                  <a:srgbClr val="808080"/>
                </a:solidFill>
                <a:latin typeface="Consolas" panose="020B0609020204030204" pitchFamily="49" charset="0"/>
              </a:rPr>
              <a:t>(</a:t>
            </a:r>
            <a:r>
              <a:rPr lang="en-IN" sz="1600" dirty="0">
                <a:solidFill>
                  <a:srgbClr val="000000"/>
                </a:solidFill>
                <a:latin typeface="Consolas" panose="020B0609020204030204" pitchFamily="49" charset="0"/>
              </a:rPr>
              <a:t>255</a:t>
            </a:r>
            <a:r>
              <a:rPr lang="en-IN" sz="1600" dirty="0">
                <a:solidFill>
                  <a:srgbClr val="808080"/>
                </a:solidFill>
                <a:latin typeface="Consolas" panose="020B0609020204030204" pitchFamily="49" charset="0"/>
              </a:rPr>
              <a:t>));</a:t>
            </a:r>
            <a:endParaRPr lang="en-IN" sz="1600" dirty="0">
              <a:solidFill>
                <a:srgbClr val="000000"/>
              </a:solidFill>
              <a:latin typeface="Consolas" panose="020B0609020204030204" pitchFamily="49" charset="0"/>
            </a:endParaRPr>
          </a:p>
          <a:p>
            <a:endParaRPr lang="en-IN" sz="1600" dirty="0">
              <a:solidFill>
                <a:srgbClr val="000000"/>
              </a:solidFill>
              <a:latin typeface="Consolas" panose="020B0609020204030204" pitchFamily="49" charset="0"/>
            </a:endParaRPr>
          </a:p>
          <a:p>
            <a:r>
              <a:rPr lang="en-US" sz="1600" dirty="0">
                <a:solidFill>
                  <a:srgbClr val="008000"/>
                </a:solidFill>
                <a:latin typeface="Consolas" panose="020B0609020204030204" pitchFamily="49" charset="0"/>
              </a:rPr>
              <a:t>/* Inserting records into Baskets table */</a:t>
            </a:r>
            <a:endParaRPr lang="en-US" sz="1600" dirty="0">
              <a:solidFill>
                <a:srgbClr val="000000"/>
              </a:solidFill>
              <a:latin typeface="Consolas" panose="020B0609020204030204" pitchFamily="49" charset="0"/>
            </a:endParaRPr>
          </a:p>
          <a:p>
            <a:r>
              <a:rPr lang="en-US" sz="1600" dirty="0">
                <a:solidFill>
                  <a:srgbClr val="0000FF"/>
                </a:solidFill>
                <a:latin typeface="Consolas" panose="020B0609020204030204" pitchFamily="49" charset="0"/>
              </a:rPr>
              <a:t>INSERT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INTO</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sales_organization</a:t>
            </a:r>
            <a:r>
              <a:rPr lang="en-US" sz="1600" dirty="0">
                <a:solidFill>
                  <a:srgbClr val="0000FF"/>
                </a:solidFill>
                <a:latin typeface="Consolas" panose="020B0609020204030204" pitchFamily="49" charset="0"/>
              </a:rPr>
              <a:t> </a:t>
            </a:r>
            <a:r>
              <a:rPr lang="en-US" sz="1600" dirty="0">
                <a:solidFill>
                  <a:srgbClr val="808080"/>
                </a:solidFill>
                <a:latin typeface="Consolas" panose="020B0609020204030204" pitchFamily="49" charset="0"/>
              </a:rPr>
              <a:t>(</a:t>
            </a:r>
            <a:r>
              <a:rPr lang="en-US" sz="1600" dirty="0" err="1">
                <a:solidFill>
                  <a:srgbClr val="000000"/>
                </a:solidFill>
                <a:latin typeface="Consolas" panose="020B0609020204030204" pitchFamily="49" charset="0"/>
              </a:rPr>
              <a:t>sales_org_id</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sales_org</a:t>
            </a:r>
            <a:r>
              <a:rPr lang="en-US" sz="1600" dirty="0">
                <a:solidFill>
                  <a:srgbClr val="808080"/>
                </a:solidFill>
                <a:latin typeface="Consolas" panose="020B0609020204030204" pitchFamily="49" charset="0"/>
              </a:rPr>
              <a:t>) </a:t>
            </a:r>
            <a:r>
              <a:rPr lang="en-IN" sz="1600" dirty="0">
                <a:solidFill>
                  <a:srgbClr val="0000FF"/>
                </a:solidFill>
                <a:latin typeface="Consolas" panose="020B0609020204030204" pitchFamily="49" charset="0"/>
              </a:rPr>
              <a:t>VALUES</a:t>
            </a:r>
            <a:r>
              <a:rPr lang="en-IN" sz="1600" dirty="0">
                <a:solidFill>
                  <a:srgbClr val="808080"/>
                </a:solidFill>
                <a:latin typeface="Consolas" panose="020B0609020204030204" pitchFamily="49" charset="0"/>
              </a:rPr>
              <a:t>(</a:t>
            </a:r>
            <a:r>
              <a:rPr lang="en-IN" sz="1600" dirty="0">
                <a:solidFill>
                  <a:srgbClr val="000000"/>
                </a:solidFill>
                <a:latin typeface="Consolas" panose="020B0609020204030204" pitchFamily="49" charset="0"/>
              </a:rPr>
              <a:t>1</a:t>
            </a:r>
            <a:r>
              <a:rPr lang="en-IN" sz="1600" dirty="0">
                <a:solidFill>
                  <a:srgbClr val="808080"/>
                </a:solidFill>
                <a:latin typeface="Consolas" panose="020B0609020204030204" pitchFamily="49" charset="0"/>
              </a:rPr>
              <a:t>,</a:t>
            </a:r>
            <a:r>
              <a:rPr lang="en-IN" sz="1600" dirty="0">
                <a:solidFill>
                  <a:srgbClr val="000000"/>
                </a:solidFill>
                <a:latin typeface="Consolas" panose="020B0609020204030204" pitchFamily="49" charset="0"/>
              </a:rPr>
              <a:t> </a:t>
            </a:r>
            <a:r>
              <a:rPr lang="en-IN" sz="1600" dirty="0">
                <a:solidFill>
                  <a:srgbClr val="FF0000"/>
                </a:solidFill>
                <a:latin typeface="Consolas" panose="020B0609020204030204" pitchFamily="49" charset="0"/>
              </a:rPr>
              <a:t>'Domestic’</a:t>
            </a:r>
            <a:r>
              <a:rPr lang="en-IN" sz="1600" dirty="0">
                <a:solidFill>
                  <a:srgbClr val="808080"/>
                </a:solidFill>
                <a:latin typeface="Consolas" panose="020B0609020204030204" pitchFamily="49" charset="0"/>
              </a:rPr>
              <a:t>),</a:t>
            </a:r>
            <a:r>
              <a:rPr lang="en-IN" sz="1600" dirty="0">
                <a:solidFill>
                  <a:srgbClr val="000000"/>
                </a:solidFill>
                <a:latin typeface="Consolas" panose="020B0609020204030204" pitchFamily="49" charset="0"/>
              </a:rPr>
              <a:t> </a:t>
            </a:r>
            <a:r>
              <a:rPr lang="en-IN" sz="1600" dirty="0">
                <a:solidFill>
                  <a:srgbClr val="808080"/>
                </a:solidFill>
                <a:latin typeface="Consolas" panose="020B0609020204030204" pitchFamily="49" charset="0"/>
              </a:rPr>
              <a:t>(</a:t>
            </a:r>
            <a:r>
              <a:rPr lang="en-IN" sz="1600" dirty="0">
                <a:solidFill>
                  <a:srgbClr val="000000"/>
                </a:solidFill>
                <a:latin typeface="Consolas" panose="020B0609020204030204" pitchFamily="49" charset="0"/>
              </a:rPr>
              <a:t>2</a:t>
            </a:r>
            <a:r>
              <a:rPr lang="en-IN" sz="1600" dirty="0">
                <a:solidFill>
                  <a:srgbClr val="808080"/>
                </a:solidFill>
                <a:latin typeface="Consolas" panose="020B0609020204030204" pitchFamily="49" charset="0"/>
              </a:rPr>
              <a:t>,</a:t>
            </a:r>
            <a:r>
              <a:rPr lang="en-IN" sz="1600" dirty="0">
                <a:solidFill>
                  <a:srgbClr val="000000"/>
                </a:solidFill>
                <a:latin typeface="Consolas" panose="020B0609020204030204" pitchFamily="49" charset="0"/>
              </a:rPr>
              <a:t> </a:t>
            </a:r>
            <a:r>
              <a:rPr lang="en-IN" sz="1600" dirty="0">
                <a:solidFill>
                  <a:srgbClr val="FF0000"/>
                </a:solidFill>
                <a:latin typeface="Consolas" panose="020B0609020204030204" pitchFamily="49" charset="0"/>
              </a:rPr>
              <a:t>'Export'</a:t>
            </a:r>
            <a:r>
              <a:rPr lang="en-IN" sz="1600" dirty="0">
                <a:solidFill>
                  <a:srgbClr val="808080"/>
                </a:solidFill>
                <a:latin typeface="Consolas" panose="020B0609020204030204" pitchFamily="49" charset="0"/>
              </a:rPr>
              <a:t>);</a:t>
            </a:r>
            <a:endParaRPr lang="en-IN" sz="1600" dirty="0">
              <a:solidFill>
                <a:srgbClr val="000000"/>
              </a:solidFill>
              <a:latin typeface="Consolas" panose="020B0609020204030204" pitchFamily="49" charset="0"/>
            </a:endParaRPr>
          </a:p>
          <a:p>
            <a:endParaRPr lang="en-IN" sz="1600" dirty="0">
              <a:solidFill>
                <a:srgbClr val="000000"/>
              </a:solidFill>
              <a:latin typeface="Consolas" panose="020B0609020204030204" pitchFamily="49" charset="0"/>
            </a:endParaRPr>
          </a:p>
          <a:p>
            <a:r>
              <a:rPr lang="en-US" sz="1600" dirty="0">
                <a:solidFill>
                  <a:srgbClr val="0000FF"/>
                </a:solidFill>
                <a:latin typeface="Consolas" panose="020B0609020204030204" pitchFamily="49" charset="0"/>
              </a:rPr>
              <a:t>INSERT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INTO</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sales_channel</a:t>
            </a:r>
            <a:r>
              <a:rPr lang="en-US" sz="1600" dirty="0">
                <a:solidFill>
                  <a:srgbClr val="0000FF"/>
                </a:solidFill>
                <a:latin typeface="Consolas" panose="020B0609020204030204" pitchFamily="49" charset="0"/>
              </a:rPr>
              <a:t> </a:t>
            </a:r>
            <a:r>
              <a:rPr lang="en-US" sz="1600" dirty="0">
                <a:solidFill>
                  <a:srgbClr val="808080"/>
                </a:solidFill>
                <a:latin typeface="Consolas" panose="020B0609020204030204" pitchFamily="49" charset="0"/>
              </a:rPr>
              <a:t>(</a:t>
            </a:r>
            <a:r>
              <a:rPr lang="en-US" sz="1600" dirty="0" err="1">
                <a:solidFill>
                  <a:srgbClr val="000000"/>
                </a:solidFill>
                <a:latin typeface="Consolas" panose="020B0609020204030204" pitchFamily="49" charset="0"/>
              </a:rPr>
              <a:t>channel_id</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channel</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a:t>
            </a:r>
            <a:r>
              <a:rPr lang="en-IN" sz="1600" dirty="0">
                <a:solidFill>
                  <a:srgbClr val="0000FF"/>
                </a:solidFill>
                <a:latin typeface="Consolas" panose="020B0609020204030204" pitchFamily="49" charset="0"/>
              </a:rPr>
              <a:t>VALUES</a:t>
            </a:r>
            <a:r>
              <a:rPr lang="en-IN" sz="1600" dirty="0">
                <a:solidFill>
                  <a:srgbClr val="808080"/>
                </a:solidFill>
                <a:latin typeface="Consolas" panose="020B0609020204030204" pitchFamily="49" charset="0"/>
              </a:rPr>
              <a:t>(</a:t>
            </a:r>
            <a:r>
              <a:rPr lang="en-IN" sz="1600" dirty="0">
                <a:solidFill>
                  <a:srgbClr val="000000"/>
                </a:solidFill>
                <a:latin typeface="Consolas" panose="020B0609020204030204" pitchFamily="49" charset="0"/>
              </a:rPr>
              <a:t>1</a:t>
            </a:r>
            <a:r>
              <a:rPr lang="en-IN" sz="1600" dirty="0">
                <a:solidFill>
                  <a:srgbClr val="808080"/>
                </a:solidFill>
                <a:latin typeface="Consolas" panose="020B0609020204030204" pitchFamily="49" charset="0"/>
              </a:rPr>
              <a:t>,</a:t>
            </a:r>
            <a:r>
              <a:rPr lang="en-IN" sz="1600" dirty="0">
                <a:solidFill>
                  <a:srgbClr val="000000"/>
                </a:solidFill>
                <a:latin typeface="Consolas" panose="020B0609020204030204" pitchFamily="49" charset="0"/>
              </a:rPr>
              <a:t> </a:t>
            </a:r>
            <a:r>
              <a:rPr lang="en-IN" sz="1600" dirty="0">
                <a:solidFill>
                  <a:srgbClr val="FF0000"/>
                </a:solidFill>
                <a:latin typeface="Consolas" panose="020B0609020204030204" pitchFamily="49" charset="0"/>
              </a:rPr>
              <a:t>'Wholesale'</a:t>
            </a:r>
            <a:r>
              <a:rPr lang="en-IN" sz="1600" dirty="0">
                <a:solidFill>
                  <a:srgbClr val="808080"/>
                </a:solidFill>
                <a:latin typeface="Consolas" panose="020B0609020204030204" pitchFamily="49" charset="0"/>
              </a:rPr>
              <a:t>),(</a:t>
            </a:r>
            <a:r>
              <a:rPr lang="en-IN" sz="1600" dirty="0">
                <a:solidFill>
                  <a:srgbClr val="000000"/>
                </a:solidFill>
                <a:latin typeface="Consolas" panose="020B0609020204030204" pitchFamily="49" charset="0"/>
              </a:rPr>
              <a:t>2</a:t>
            </a:r>
            <a:r>
              <a:rPr lang="en-IN" sz="1600" dirty="0">
                <a:solidFill>
                  <a:srgbClr val="808080"/>
                </a:solidFill>
                <a:latin typeface="Consolas" panose="020B0609020204030204" pitchFamily="49" charset="0"/>
              </a:rPr>
              <a:t>,</a:t>
            </a:r>
            <a:r>
              <a:rPr lang="en-IN" sz="1600" dirty="0">
                <a:solidFill>
                  <a:srgbClr val="000000"/>
                </a:solidFill>
                <a:latin typeface="Consolas" panose="020B0609020204030204" pitchFamily="49" charset="0"/>
              </a:rPr>
              <a:t> </a:t>
            </a:r>
            <a:r>
              <a:rPr lang="en-IN" sz="1600" dirty="0">
                <a:solidFill>
                  <a:srgbClr val="FF0000"/>
                </a:solidFill>
                <a:latin typeface="Consolas" panose="020B0609020204030204" pitchFamily="49" charset="0"/>
              </a:rPr>
              <a:t>'Retail'</a:t>
            </a:r>
            <a:r>
              <a:rPr lang="en-IN" sz="1600" dirty="0">
                <a:solidFill>
                  <a:srgbClr val="808080"/>
                </a:solidFill>
                <a:latin typeface="Consolas" panose="020B0609020204030204" pitchFamily="49" charset="0"/>
              </a:rPr>
              <a:t>),(</a:t>
            </a:r>
            <a:r>
              <a:rPr lang="en-IN" sz="1600" dirty="0">
                <a:solidFill>
                  <a:srgbClr val="000000"/>
                </a:solidFill>
                <a:latin typeface="Consolas" panose="020B0609020204030204" pitchFamily="49" charset="0"/>
              </a:rPr>
              <a:t>3</a:t>
            </a:r>
            <a:r>
              <a:rPr lang="en-IN" sz="1600" dirty="0">
                <a:solidFill>
                  <a:srgbClr val="808080"/>
                </a:solidFill>
                <a:latin typeface="Consolas" panose="020B0609020204030204" pitchFamily="49" charset="0"/>
              </a:rPr>
              <a:t>,</a:t>
            </a:r>
            <a:r>
              <a:rPr lang="en-IN" sz="1600" dirty="0">
                <a:solidFill>
                  <a:srgbClr val="000000"/>
                </a:solidFill>
                <a:latin typeface="Consolas" panose="020B0609020204030204" pitchFamily="49" charset="0"/>
              </a:rPr>
              <a:t> </a:t>
            </a:r>
            <a:r>
              <a:rPr lang="en-IN" sz="1600" dirty="0">
                <a:solidFill>
                  <a:srgbClr val="FF0000"/>
                </a:solidFill>
                <a:latin typeface="Consolas" panose="020B0609020204030204" pitchFamily="49" charset="0"/>
              </a:rPr>
              <a:t>'eCommerce'</a:t>
            </a:r>
            <a:r>
              <a:rPr lang="en-IN" sz="1600" dirty="0">
                <a:solidFill>
                  <a:srgbClr val="808080"/>
                </a:solidFill>
                <a:latin typeface="Consolas" panose="020B0609020204030204" pitchFamily="49" charset="0"/>
              </a:rPr>
              <a:t>),(</a:t>
            </a:r>
            <a:r>
              <a:rPr lang="en-IN" sz="1600" dirty="0">
                <a:solidFill>
                  <a:srgbClr val="000000"/>
                </a:solidFill>
                <a:latin typeface="Consolas" panose="020B0609020204030204" pitchFamily="49" charset="0"/>
              </a:rPr>
              <a:t>4</a:t>
            </a:r>
            <a:r>
              <a:rPr lang="en-IN" sz="1600" dirty="0">
                <a:solidFill>
                  <a:srgbClr val="808080"/>
                </a:solidFill>
                <a:latin typeface="Consolas" panose="020B0609020204030204" pitchFamily="49" charset="0"/>
              </a:rPr>
              <a:t>,</a:t>
            </a:r>
            <a:r>
              <a:rPr lang="en-IN" sz="1600" dirty="0">
                <a:solidFill>
                  <a:srgbClr val="000000"/>
                </a:solidFill>
                <a:latin typeface="Consolas" panose="020B0609020204030204" pitchFamily="49" charset="0"/>
              </a:rPr>
              <a:t> </a:t>
            </a:r>
            <a:r>
              <a:rPr lang="en-IN" sz="1600" dirty="0">
                <a:solidFill>
                  <a:srgbClr val="FF0000"/>
                </a:solidFill>
                <a:latin typeface="Consolas" panose="020B0609020204030204" pitchFamily="49" charset="0"/>
              </a:rPr>
              <a:t>'TV Shopping'</a:t>
            </a:r>
            <a:r>
              <a:rPr lang="en-IN" sz="1600" dirty="0">
                <a:solidFill>
                  <a:srgbClr val="808080"/>
                </a:solidFill>
                <a:latin typeface="Consolas" panose="020B0609020204030204" pitchFamily="49" charset="0"/>
              </a:rPr>
              <a:t>);</a:t>
            </a:r>
            <a:endParaRPr lang="en-IN" sz="1600" dirty="0">
              <a:solidFill>
                <a:srgbClr val="000000"/>
              </a:solidFill>
              <a:latin typeface="Consolas" panose="020B0609020204030204" pitchFamily="49" charset="0"/>
            </a:endParaRPr>
          </a:p>
          <a:p>
            <a:endParaRPr lang="en-IN" sz="1600" dirty="0">
              <a:solidFill>
                <a:srgbClr val="000000"/>
              </a:solidFill>
              <a:latin typeface="Consolas" panose="020B0609020204030204" pitchFamily="49" charset="0"/>
            </a:endParaRPr>
          </a:p>
          <a:p>
            <a:r>
              <a:rPr lang="en-IN" sz="1600" dirty="0">
                <a:solidFill>
                  <a:srgbClr val="008000"/>
                </a:solidFill>
                <a:latin typeface="Consolas" panose="020B0609020204030204" pitchFamily="49" charset="0"/>
              </a:rPr>
              <a:t>/*Question:--</a:t>
            </a:r>
            <a:endParaRPr lang="en-IN" sz="1600" dirty="0">
              <a:solidFill>
                <a:srgbClr val="000000"/>
              </a:solidFill>
              <a:latin typeface="Consolas" panose="020B0609020204030204" pitchFamily="49" charset="0"/>
            </a:endParaRPr>
          </a:p>
          <a:p>
            <a:r>
              <a:rPr lang="en-US" sz="1600" dirty="0">
                <a:solidFill>
                  <a:srgbClr val="008000"/>
                </a:solidFill>
                <a:latin typeface="Consolas" panose="020B0609020204030204" pitchFamily="49" charset="0"/>
              </a:rPr>
              <a:t>Write a Query To find the all possible sales channels that a sales organization*/</a:t>
            </a:r>
            <a:endParaRPr lang="en-US" sz="1600" dirty="0">
              <a:solidFill>
                <a:srgbClr val="000000"/>
              </a:solidFill>
              <a:latin typeface="Consolas" panose="020B0609020204030204" pitchFamily="49" charset="0"/>
            </a:endParaRPr>
          </a:p>
          <a:p>
            <a:endParaRPr lang="en-IN" sz="1600" dirty="0">
              <a:solidFill>
                <a:srgbClr val="000000"/>
              </a:solidFill>
              <a:latin typeface="Consolas" panose="020B0609020204030204" pitchFamily="49" charset="0"/>
            </a:endParaRPr>
          </a:p>
          <a:p>
            <a:r>
              <a:rPr lang="en-US" sz="1600" dirty="0">
                <a:solidFill>
                  <a:srgbClr val="0000FF"/>
                </a:solidFill>
                <a:latin typeface="Consolas" panose="020B0609020204030204" pitchFamily="49" charset="0"/>
              </a:rPr>
              <a:t>Select</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from</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sales_organization</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as</a:t>
            </a:r>
            <a:r>
              <a:rPr lang="en-US" sz="1600" dirty="0">
                <a:solidFill>
                  <a:srgbClr val="000000"/>
                </a:solidFill>
                <a:latin typeface="Consolas" panose="020B0609020204030204" pitchFamily="49" charset="0"/>
              </a:rPr>
              <a:t> SO</a:t>
            </a:r>
          </a:p>
          <a:p>
            <a:r>
              <a:rPr lang="en-US" sz="1600" dirty="0">
                <a:solidFill>
                  <a:srgbClr val="808080"/>
                </a:solidFill>
                <a:latin typeface="Consolas" panose="020B0609020204030204" pitchFamily="49" charset="0"/>
              </a:rPr>
              <a:t>Cross</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Join</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sales_channel</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as</a:t>
            </a:r>
            <a:r>
              <a:rPr lang="en-US" sz="1600" dirty="0">
                <a:solidFill>
                  <a:srgbClr val="000000"/>
                </a:solidFill>
                <a:latin typeface="Consolas" panose="020B0609020204030204" pitchFamily="49" charset="0"/>
              </a:rPr>
              <a:t> SC</a:t>
            </a:r>
          </a:p>
          <a:p>
            <a:endParaRPr lang="en-IN" sz="16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4262413711"/>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
          <a:extLst>
            <a:ext uri="{FF2B5EF4-FFF2-40B4-BE49-F238E27FC236}">
              <a16:creationId xmlns:a16="http://schemas.microsoft.com/office/drawing/2014/main" id="{6EC582B5-856C-53B8-2A88-75E14834AC0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C11FEF2-3CC0-C3F7-EF08-E45FF58BD6D7}"/>
              </a:ext>
            </a:extLst>
          </p:cNvPr>
          <p:cNvSpPr txBox="1"/>
          <p:nvPr/>
        </p:nvSpPr>
        <p:spPr>
          <a:xfrm>
            <a:off x="0" y="0"/>
            <a:ext cx="11897030" cy="523220"/>
          </a:xfrm>
          <a:prstGeom prst="rect">
            <a:avLst/>
          </a:prstGeom>
          <a:noFill/>
        </p:spPr>
        <p:txBody>
          <a:bodyPr wrap="square" rtlCol="0">
            <a:spAutoFit/>
          </a:bodyPr>
          <a:lstStyle/>
          <a:p>
            <a:r>
              <a:rPr lang="en-US" sz="2800" b="1" i="1" dirty="0"/>
              <a:t>Task 4 : SQL GROUP BY clause</a:t>
            </a:r>
          </a:p>
        </p:txBody>
      </p:sp>
      <p:sp>
        <p:nvSpPr>
          <p:cNvPr id="4" name="TextBox 3">
            <a:extLst>
              <a:ext uri="{FF2B5EF4-FFF2-40B4-BE49-F238E27FC236}">
                <a16:creationId xmlns:a16="http://schemas.microsoft.com/office/drawing/2014/main" id="{9AB688CE-EB21-60FB-D796-22557DA09FC7}"/>
              </a:ext>
            </a:extLst>
          </p:cNvPr>
          <p:cNvSpPr txBox="1"/>
          <p:nvPr/>
        </p:nvSpPr>
        <p:spPr>
          <a:xfrm>
            <a:off x="0" y="523220"/>
            <a:ext cx="11897030" cy="6063198"/>
          </a:xfrm>
          <a:prstGeom prst="rect">
            <a:avLst/>
          </a:prstGeom>
          <a:noFill/>
        </p:spPr>
        <p:txBody>
          <a:bodyPr wrap="square" rtlCol="0">
            <a:spAutoFit/>
          </a:bodyPr>
          <a:lstStyle/>
          <a:p>
            <a:r>
              <a:rPr lang="en-US" sz="1600" b="1" i="1" dirty="0"/>
              <a:t>--A. to group the values in </a:t>
            </a:r>
            <a:r>
              <a:rPr lang="en-US" sz="1600" b="1" i="1" dirty="0" err="1"/>
              <a:t>department_id</a:t>
            </a:r>
            <a:r>
              <a:rPr lang="en-US" sz="1600" b="1" i="1" dirty="0"/>
              <a:t> column of the employees table:</a:t>
            </a:r>
          </a:p>
          <a:p>
            <a:r>
              <a:rPr lang="en-US" sz="1600" dirty="0">
                <a:solidFill>
                  <a:srgbClr val="0000FF"/>
                </a:solidFill>
                <a:latin typeface="Consolas" panose="020B0609020204030204" pitchFamily="49" charset="0"/>
              </a:rPr>
              <a:t>SELECT</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department_id</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FF00FF"/>
                </a:solidFill>
                <a:latin typeface="Consolas" panose="020B0609020204030204" pitchFamily="49" charset="0"/>
              </a:rPr>
              <a:t>COUNT</a:t>
            </a:r>
            <a:r>
              <a:rPr lang="en-US" sz="1600" dirty="0">
                <a:solidFill>
                  <a:srgbClr val="808080"/>
                </a:solidFill>
                <a:latin typeface="Consolas" panose="020B0609020204030204" pitchFamily="49" charset="0"/>
              </a:rPr>
              <a:t>(</a:t>
            </a:r>
            <a:r>
              <a:rPr lang="en-US" sz="1600" dirty="0" err="1">
                <a:solidFill>
                  <a:srgbClr val="000000"/>
                </a:solidFill>
                <a:latin typeface="Consolas" panose="020B0609020204030204" pitchFamily="49" charset="0"/>
              </a:rPr>
              <a:t>employee_id</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AS</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employee_count</a:t>
            </a:r>
            <a:endParaRPr lang="en-US" sz="1600" dirty="0">
              <a:solidFill>
                <a:srgbClr val="000000"/>
              </a:solidFill>
              <a:latin typeface="Consolas" panose="020B0609020204030204" pitchFamily="49" charset="0"/>
            </a:endParaRPr>
          </a:p>
          <a:p>
            <a:r>
              <a:rPr lang="en-IN" sz="1600" dirty="0">
                <a:solidFill>
                  <a:srgbClr val="0000FF"/>
                </a:solidFill>
                <a:latin typeface="Consolas" panose="020B0609020204030204" pitchFamily="49" charset="0"/>
              </a:rPr>
              <a:t>FROM</a:t>
            </a:r>
            <a:r>
              <a:rPr lang="en-IN" sz="1600" dirty="0">
                <a:solidFill>
                  <a:srgbClr val="000000"/>
                </a:solidFill>
                <a:latin typeface="Consolas" panose="020B0609020204030204" pitchFamily="49" charset="0"/>
              </a:rPr>
              <a:t> employees</a:t>
            </a:r>
          </a:p>
          <a:p>
            <a:r>
              <a:rPr lang="en-IN" sz="1600" dirty="0">
                <a:solidFill>
                  <a:srgbClr val="0000FF"/>
                </a:solidFill>
                <a:latin typeface="Consolas" panose="020B0609020204030204" pitchFamily="49" charset="0"/>
              </a:rPr>
              <a:t>GROUP</a:t>
            </a:r>
            <a:r>
              <a:rPr lang="en-IN" sz="1600" dirty="0">
                <a:solidFill>
                  <a:srgbClr val="000000"/>
                </a:solidFill>
                <a:latin typeface="Consolas" panose="020B0609020204030204" pitchFamily="49" charset="0"/>
              </a:rPr>
              <a:t> </a:t>
            </a:r>
            <a:r>
              <a:rPr lang="en-IN" sz="1600" dirty="0">
                <a:solidFill>
                  <a:srgbClr val="0000FF"/>
                </a:solidFill>
                <a:latin typeface="Consolas" panose="020B0609020204030204" pitchFamily="49" charset="0"/>
              </a:rPr>
              <a:t>BY</a:t>
            </a:r>
            <a:r>
              <a:rPr lang="en-IN" sz="1600" dirty="0">
                <a:solidFill>
                  <a:srgbClr val="000000"/>
                </a:solidFill>
                <a:latin typeface="Consolas" panose="020B0609020204030204" pitchFamily="49" charset="0"/>
              </a:rPr>
              <a:t> </a:t>
            </a:r>
            <a:r>
              <a:rPr lang="en-IN" sz="1600" dirty="0" err="1">
                <a:solidFill>
                  <a:srgbClr val="000000"/>
                </a:solidFill>
                <a:latin typeface="Consolas" panose="020B0609020204030204" pitchFamily="49" charset="0"/>
              </a:rPr>
              <a:t>department_id</a:t>
            </a:r>
            <a:r>
              <a:rPr lang="en-IN" sz="1600" dirty="0">
                <a:solidFill>
                  <a:srgbClr val="808080"/>
                </a:solidFill>
                <a:latin typeface="Consolas" panose="020B0609020204030204" pitchFamily="49" charset="0"/>
              </a:rPr>
              <a:t>;</a:t>
            </a:r>
            <a:endParaRPr lang="en-IN" sz="1600" dirty="0">
              <a:solidFill>
                <a:srgbClr val="000000"/>
              </a:solidFill>
              <a:latin typeface="Consolas" panose="020B0609020204030204" pitchFamily="49" charset="0"/>
            </a:endParaRPr>
          </a:p>
          <a:p>
            <a:endParaRPr lang="en-IN" sz="1800" dirty="0">
              <a:solidFill>
                <a:srgbClr val="000000"/>
              </a:solidFill>
              <a:latin typeface="Consolas" panose="020B0609020204030204" pitchFamily="49" charset="0"/>
            </a:endParaRPr>
          </a:p>
          <a:p>
            <a:r>
              <a:rPr lang="en-US" sz="1600" b="1" i="1" dirty="0"/>
              <a:t>--B. to count the number of employees by department</a:t>
            </a:r>
            <a:r>
              <a:rPr lang="en-US" sz="1800" dirty="0">
                <a:solidFill>
                  <a:srgbClr val="00800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600" dirty="0">
                <a:solidFill>
                  <a:srgbClr val="0000FF"/>
                </a:solidFill>
                <a:latin typeface="Consolas" panose="020B0609020204030204" pitchFamily="49" charset="0"/>
              </a:rPr>
              <a:t>Select</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D</a:t>
            </a:r>
            <a:r>
              <a:rPr lang="en-US" sz="1600" dirty="0" err="1">
                <a:solidFill>
                  <a:srgbClr val="808080"/>
                </a:solidFill>
                <a:latin typeface="Consolas" panose="020B0609020204030204" pitchFamily="49" charset="0"/>
              </a:rPr>
              <a:t>.</a:t>
            </a:r>
            <a:r>
              <a:rPr lang="en-US" sz="1600" dirty="0" err="1">
                <a:solidFill>
                  <a:srgbClr val="000000"/>
                </a:solidFill>
                <a:latin typeface="Consolas" panose="020B0609020204030204" pitchFamily="49" charset="0"/>
              </a:rPr>
              <a:t>department_name</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FF00FF"/>
                </a:solidFill>
                <a:latin typeface="Consolas" panose="020B0609020204030204" pitchFamily="49" charset="0"/>
              </a:rPr>
              <a:t>COUNT</a:t>
            </a:r>
            <a:r>
              <a:rPr lang="en-US" sz="1600" dirty="0">
                <a:solidFill>
                  <a:srgbClr val="808080"/>
                </a:solidFill>
                <a:latin typeface="Consolas" panose="020B0609020204030204" pitchFamily="49" charset="0"/>
              </a:rPr>
              <a:t>(</a:t>
            </a:r>
            <a:r>
              <a:rPr lang="en-US" sz="1600" dirty="0" err="1">
                <a:solidFill>
                  <a:srgbClr val="000000"/>
                </a:solidFill>
                <a:latin typeface="Consolas" panose="020B0609020204030204" pitchFamily="49" charset="0"/>
              </a:rPr>
              <a:t>E</a:t>
            </a:r>
            <a:r>
              <a:rPr lang="en-US" sz="1600" dirty="0" err="1">
                <a:solidFill>
                  <a:srgbClr val="808080"/>
                </a:solidFill>
                <a:latin typeface="Consolas" panose="020B0609020204030204" pitchFamily="49" charset="0"/>
              </a:rPr>
              <a:t>.</a:t>
            </a:r>
            <a:r>
              <a:rPr lang="en-US" sz="1600" dirty="0" err="1">
                <a:solidFill>
                  <a:srgbClr val="000000"/>
                </a:solidFill>
                <a:latin typeface="Consolas" panose="020B0609020204030204" pitchFamily="49" charset="0"/>
              </a:rPr>
              <a:t>employee_id</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as</a:t>
            </a:r>
            <a:r>
              <a:rPr lang="en-US" sz="1600" dirty="0">
                <a:solidFill>
                  <a:srgbClr val="000000"/>
                </a:solidFill>
                <a:latin typeface="Consolas" panose="020B0609020204030204" pitchFamily="49" charset="0"/>
              </a:rPr>
              <a:t> </a:t>
            </a:r>
            <a:r>
              <a:rPr lang="en-US" sz="1600" dirty="0">
                <a:solidFill>
                  <a:srgbClr val="FF0000"/>
                </a:solidFill>
                <a:latin typeface="Consolas" panose="020B0609020204030204" pitchFamily="49" charset="0"/>
              </a:rPr>
              <a:t>'</a:t>
            </a:r>
            <a:r>
              <a:rPr lang="en-US" sz="1600" dirty="0" err="1">
                <a:solidFill>
                  <a:srgbClr val="FF0000"/>
                </a:solidFill>
                <a:latin typeface="Consolas" panose="020B0609020204030204" pitchFamily="49" charset="0"/>
              </a:rPr>
              <a:t>Count_By_Dept_Name</a:t>
            </a:r>
            <a:r>
              <a:rPr lang="en-US" sz="1600" dirty="0">
                <a:solidFill>
                  <a:srgbClr val="FF000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from</a:t>
            </a:r>
            <a:r>
              <a:rPr lang="en-US" sz="1600" dirty="0">
                <a:solidFill>
                  <a:srgbClr val="000000"/>
                </a:solidFill>
                <a:latin typeface="Consolas" panose="020B0609020204030204" pitchFamily="49" charset="0"/>
              </a:rPr>
              <a:t> employees </a:t>
            </a:r>
            <a:r>
              <a:rPr lang="en-US" sz="1600" dirty="0">
                <a:solidFill>
                  <a:srgbClr val="0000FF"/>
                </a:solidFill>
                <a:latin typeface="Consolas" panose="020B0609020204030204" pitchFamily="49" charset="0"/>
              </a:rPr>
              <a:t>as</a:t>
            </a:r>
            <a:r>
              <a:rPr lang="en-US" sz="1600" dirty="0">
                <a:solidFill>
                  <a:srgbClr val="000000"/>
                </a:solidFill>
                <a:latin typeface="Consolas" panose="020B0609020204030204" pitchFamily="49" charset="0"/>
              </a:rPr>
              <a:t> E</a:t>
            </a:r>
          </a:p>
          <a:p>
            <a:r>
              <a:rPr lang="en-US" sz="1600" dirty="0">
                <a:solidFill>
                  <a:srgbClr val="808080"/>
                </a:solidFill>
                <a:latin typeface="Consolas" panose="020B0609020204030204" pitchFamily="49" charset="0"/>
              </a:rPr>
              <a:t>inner</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join</a:t>
            </a:r>
            <a:r>
              <a:rPr lang="en-US" sz="1600" dirty="0">
                <a:solidFill>
                  <a:srgbClr val="000000"/>
                </a:solidFill>
                <a:latin typeface="Consolas" panose="020B0609020204030204" pitchFamily="49" charset="0"/>
              </a:rPr>
              <a:t> departments </a:t>
            </a:r>
            <a:r>
              <a:rPr lang="en-US" sz="1600" dirty="0">
                <a:solidFill>
                  <a:srgbClr val="0000FF"/>
                </a:solidFill>
                <a:latin typeface="Consolas" panose="020B0609020204030204" pitchFamily="49" charset="0"/>
              </a:rPr>
              <a:t>as</a:t>
            </a:r>
            <a:r>
              <a:rPr lang="en-US" sz="1600" dirty="0">
                <a:solidFill>
                  <a:srgbClr val="000000"/>
                </a:solidFill>
                <a:latin typeface="Consolas" panose="020B0609020204030204" pitchFamily="49" charset="0"/>
              </a:rPr>
              <a:t> D</a:t>
            </a:r>
          </a:p>
          <a:p>
            <a:r>
              <a:rPr lang="en-US" sz="1600" dirty="0">
                <a:solidFill>
                  <a:srgbClr val="0000FF"/>
                </a:solidFill>
                <a:latin typeface="Consolas" panose="020B0609020204030204" pitchFamily="49" charset="0"/>
              </a:rPr>
              <a:t>On</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E</a:t>
            </a:r>
            <a:r>
              <a:rPr lang="en-US" sz="1600" dirty="0" err="1">
                <a:solidFill>
                  <a:srgbClr val="808080"/>
                </a:solidFill>
                <a:latin typeface="Consolas" panose="020B0609020204030204" pitchFamily="49" charset="0"/>
              </a:rPr>
              <a:t>.</a:t>
            </a:r>
            <a:r>
              <a:rPr lang="en-US" sz="1600" dirty="0" err="1">
                <a:solidFill>
                  <a:srgbClr val="000000"/>
                </a:solidFill>
                <a:latin typeface="Consolas" panose="020B0609020204030204" pitchFamily="49" charset="0"/>
              </a:rPr>
              <a:t>department_id</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D</a:t>
            </a:r>
            <a:r>
              <a:rPr lang="en-US" sz="1600" dirty="0" err="1">
                <a:solidFill>
                  <a:srgbClr val="808080"/>
                </a:solidFill>
                <a:latin typeface="Consolas" panose="020B0609020204030204" pitchFamily="49" charset="0"/>
              </a:rPr>
              <a:t>.</a:t>
            </a:r>
            <a:r>
              <a:rPr lang="en-US" sz="1600" dirty="0" err="1">
                <a:solidFill>
                  <a:srgbClr val="000000"/>
                </a:solidFill>
                <a:latin typeface="Consolas" panose="020B0609020204030204" pitchFamily="49" charset="0"/>
              </a:rPr>
              <a:t>department_id</a:t>
            </a:r>
            <a:endParaRPr lang="en-US" sz="1600" dirty="0">
              <a:solidFill>
                <a:srgbClr val="000000"/>
              </a:solidFill>
              <a:latin typeface="Consolas" panose="020B0609020204030204" pitchFamily="49" charset="0"/>
            </a:endParaRPr>
          </a:p>
          <a:p>
            <a:r>
              <a:rPr lang="en-US" sz="1600" dirty="0">
                <a:solidFill>
                  <a:srgbClr val="0000FF"/>
                </a:solidFill>
                <a:latin typeface="Consolas" panose="020B0609020204030204" pitchFamily="49" charset="0"/>
              </a:rPr>
              <a:t>Group</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by</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D</a:t>
            </a:r>
            <a:r>
              <a:rPr lang="en-US" sz="1600" dirty="0" err="1">
                <a:solidFill>
                  <a:srgbClr val="808080"/>
                </a:solidFill>
                <a:latin typeface="Consolas" panose="020B0609020204030204" pitchFamily="49" charset="0"/>
              </a:rPr>
              <a:t>.</a:t>
            </a:r>
            <a:r>
              <a:rPr lang="en-US" sz="1600" dirty="0" err="1">
                <a:solidFill>
                  <a:srgbClr val="000000"/>
                </a:solidFill>
                <a:latin typeface="Consolas" panose="020B0609020204030204" pitchFamily="49" charset="0"/>
              </a:rPr>
              <a:t>department_name</a:t>
            </a:r>
            <a:endParaRPr lang="en-US" sz="1600" dirty="0">
              <a:solidFill>
                <a:srgbClr val="000000"/>
              </a:solidFill>
              <a:latin typeface="Consolas" panose="020B0609020204030204" pitchFamily="49" charset="0"/>
            </a:endParaRPr>
          </a:p>
          <a:p>
            <a:endParaRPr lang="en-IN" sz="1800" dirty="0">
              <a:solidFill>
                <a:srgbClr val="000000"/>
              </a:solidFill>
              <a:latin typeface="Consolas" panose="020B0609020204030204" pitchFamily="49" charset="0"/>
            </a:endParaRPr>
          </a:p>
          <a:p>
            <a:r>
              <a:rPr lang="en-US" sz="1600" b="1" i="1" dirty="0"/>
              <a:t>--C. returns the number of employees by department</a:t>
            </a:r>
          </a:p>
          <a:p>
            <a:r>
              <a:rPr lang="en-US" sz="1600" dirty="0">
                <a:solidFill>
                  <a:srgbClr val="0000FF"/>
                </a:solidFill>
                <a:latin typeface="Consolas" panose="020B0609020204030204" pitchFamily="49" charset="0"/>
              </a:rPr>
              <a:t>Select</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D</a:t>
            </a:r>
            <a:r>
              <a:rPr lang="en-US" sz="1600" dirty="0" err="1">
                <a:solidFill>
                  <a:srgbClr val="808080"/>
                </a:solidFill>
                <a:latin typeface="Consolas" panose="020B0609020204030204" pitchFamily="49" charset="0"/>
              </a:rPr>
              <a:t>.</a:t>
            </a:r>
            <a:r>
              <a:rPr lang="en-US" sz="1600" dirty="0" err="1">
                <a:solidFill>
                  <a:srgbClr val="000000"/>
                </a:solidFill>
                <a:latin typeface="Consolas" panose="020B0609020204030204" pitchFamily="49" charset="0"/>
              </a:rPr>
              <a:t>department_name</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FF00FF"/>
                </a:solidFill>
                <a:latin typeface="Consolas" panose="020B0609020204030204" pitchFamily="49" charset="0"/>
              </a:rPr>
              <a:t>COUNT</a:t>
            </a:r>
            <a:r>
              <a:rPr lang="en-US" sz="1600" dirty="0">
                <a:solidFill>
                  <a:srgbClr val="808080"/>
                </a:solidFill>
                <a:latin typeface="Consolas" panose="020B0609020204030204" pitchFamily="49" charset="0"/>
              </a:rPr>
              <a:t>(</a:t>
            </a:r>
            <a:r>
              <a:rPr lang="en-US" sz="1600" dirty="0" err="1">
                <a:solidFill>
                  <a:srgbClr val="000000"/>
                </a:solidFill>
                <a:latin typeface="Consolas" panose="020B0609020204030204" pitchFamily="49" charset="0"/>
              </a:rPr>
              <a:t>E</a:t>
            </a:r>
            <a:r>
              <a:rPr lang="en-US" sz="1600" dirty="0" err="1">
                <a:solidFill>
                  <a:srgbClr val="808080"/>
                </a:solidFill>
                <a:latin typeface="Consolas" panose="020B0609020204030204" pitchFamily="49" charset="0"/>
              </a:rPr>
              <a:t>.</a:t>
            </a:r>
            <a:r>
              <a:rPr lang="en-US" sz="1600" dirty="0" err="1">
                <a:solidFill>
                  <a:srgbClr val="000000"/>
                </a:solidFill>
                <a:latin typeface="Consolas" panose="020B0609020204030204" pitchFamily="49" charset="0"/>
              </a:rPr>
              <a:t>employee_id</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as</a:t>
            </a:r>
            <a:r>
              <a:rPr lang="en-US" sz="1600" dirty="0">
                <a:solidFill>
                  <a:srgbClr val="000000"/>
                </a:solidFill>
                <a:latin typeface="Consolas" panose="020B0609020204030204" pitchFamily="49" charset="0"/>
              </a:rPr>
              <a:t> </a:t>
            </a:r>
            <a:r>
              <a:rPr lang="en-US" sz="1600" dirty="0">
                <a:solidFill>
                  <a:srgbClr val="FF0000"/>
                </a:solidFill>
                <a:latin typeface="Consolas" panose="020B0609020204030204" pitchFamily="49" charset="0"/>
              </a:rPr>
              <a:t>'</a:t>
            </a:r>
            <a:r>
              <a:rPr lang="en-US" sz="1600" dirty="0" err="1">
                <a:solidFill>
                  <a:srgbClr val="FF0000"/>
                </a:solidFill>
                <a:latin typeface="Consolas" panose="020B0609020204030204" pitchFamily="49" charset="0"/>
              </a:rPr>
              <a:t>Count_By_Dept_Name</a:t>
            </a:r>
            <a:r>
              <a:rPr lang="en-US" sz="1600" dirty="0">
                <a:solidFill>
                  <a:srgbClr val="FF000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from</a:t>
            </a:r>
            <a:r>
              <a:rPr lang="en-US" sz="1600" dirty="0">
                <a:solidFill>
                  <a:srgbClr val="000000"/>
                </a:solidFill>
                <a:latin typeface="Consolas" panose="020B0609020204030204" pitchFamily="49" charset="0"/>
              </a:rPr>
              <a:t> employees </a:t>
            </a:r>
            <a:r>
              <a:rPr lang="en-US" sz="1600" dirty="0">
                <a:solidFill>
                  <a:srgbClr val="0000FF"/>
                </a:solidFill>
                <a:latin typeface="Consolas" panose="020B0609020204030204" pitchFamily="49" charset="0"/>
              </a:rPr>
              <a:t>as</a:t>
            </a:r>
            <a:r>
              <a:rPr lang="en-US" sz="1600" dirty="0">
                <a:solidFill>
                  <a:srgbClr val="000000"/>
                </a:solidFill>
                <a:latin typeface="Consolas" panose="020B0609020204030204" pitchFamily="49" charset="0"/>
              </a:rPr>
              <a:t> E</a:t>
            </a:r>
          </a:p>
          <a:p>
            <a:r>
              <a:rPr lang="en-US" sz="1600" dirty="0">
                <a:solidFill>
                  <a:srgbClr val="808080"/>
                </a:solidFill>
                <a:latin typeface="Consolas" panose="020B0609020204030204" pitchFamily="49" charset="0"/>
              </a:rPr>
              <a:t>inner</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join</a:t>
            </a:r>
            <a:r>
              <a:rPr lang="en-US" sz="1600" dirty="0">
                <a:solidFill>
                  <a:srgbClr val="000000"/>
                </a:solidFill>
                <a:latin typeface="Consolas" panose="020B0609020204030204" pitchFamily="49" charset="0"/>
              </a:rPr>
              <a:t> departments </a:t>
            </a:r>
            <a:r>
              <a:rPr lang="en-US" sz="1600" dirty="0">
                <a:solidFill>
                  <a:srgbClr val="0000FF"/>
                </a:solidFill>
                <a:latin typeface="Consolas" panose="020B0609020204030204" pitchFamily="49" charset="0"/>
              </a:rPr>
              <a:t>as</a:t>
            </a:r>
            <a:r>
              <a:rPr lang="en-US" sz="1600" dirty="0">
                <a:solidFill>
                  <a:srgbClr val="000000"/>
                </a:solidFill>
                <a:latin typeface="Consolas" panose="020B0609020204030204" pitchFamily="49" charset="0"/>
              </a:rPr>
              <a:t> D</a:t>
            </a:r>
          </a:p>
          <a:p>
            <a:r>
              <a:rPr lang="en-US" sz="1600" dirty="0">
                <a:solidFill>
                  <a:srgbClr val="0000FF"/>
                </a:solidFill>
                <a:latin typeface="Consolas" panose="020B0609020204030204" pitchFamily="49" charset="0"/>
              </a:rPr>
              <a:t>On</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E</a:t>
            </a:r>
            <a:r>
              <a:rPr lang="en-US" sz="1600" dirty="0" err="1">
                <a:solidFill>
                  <a:srgbClr val="808080"/>
                </a:solidFill>
                <a:latin typeface="Consolas" panose="020B0609020204030204" pitchFamily="49" charset="0"/>
              </a:rPr>
              <a:t>.</a:t>
            </a:r>
            <a:r>
              <a:rPr lang="en-US" sz="1600" dirty="0" err="1">
                <a:solidFill>
                  <a:srgbClr val="000000"/>
                </a:solidFill>
                <a:latin typeface="Consolas" panose="020B0609020204030204" pitchFamily="49" charset="0"/>
              </a:rPr>
              <a:t>department_id</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D</a:t>
            </a:r>
            <a:r>
              <a:rPr lang="en-US" sz="1600" dirty="0" err="1">
                <a:solidFill>
                  <a:srgbClr val="808080"/>
                </a:solidFill>
                <a:latin typeface="Consolas" panose="020B0609020204030204" pitchFamily="49" charset="0"/>
              </a:rPr>
              <a:t>.</a:t>
            </a:r>
            <a:r>
              <a:rPr lang="en-US" sz="1600" dirty="0" err="1">
                <a:solidFill>
                  <a:srgbClr val="000000"/>
                </a:solidFill>
                <a:latin typeface="Consolas" panose="020B0609020204030204" pitchFamily="49" charset="0"/>
              </a:rPr>
              <a:t>department_id</a:t>
            </a:r>
            <a:endParaRPr lang="en-US" sz="1600" dirty="0">
              <a:solidFill>
                <a:srgbClr val="000000"/>
              </a:solidFill>
              <a:latin typeface="Consolas" panose="020B0609020204030204" pitchFamily="49" charset="0"/>
            </a:endParaRPr>
          </a:p>
          <a:p>
            <a:r>
              <a:rPr lang="en-US" sz="1600" dirty="0">
                <a:solidFill>
                  <a:srgbClr val="0000FF"/>
                </a:solidFill>
                <a:latin typeface="Consolas" panose="020B0609020204030204" pitchFamily="49" charset="0"/>
              </a:rPr>
              <a:t>Group</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by</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D</a:t>
            </a:r>
            <a:r>
              <a:rPr lang="en-US" sz="1600" dirty="0" err="1">
                <a:solidFill>
                  <a:srgbClr val="808080"/>
                </a:solidFill>
                <a:latin typeface="Consolas" panose="020B0609020204030204" pitchFamily="49" charset="0"/>
              </a:rPr>
              <a:t>.</a:t>
            </a:r>
            <a:r>
              <a:rPr lang="en-US" sz="1600" dirty="0" err="1">
                <a:solidFill>
                  <a:srgbClr val="000000"/>
                </a:solidFill>
                <a:latin typeface="Consolas" panose="020B0609020204030204" pitchFamily="49" charset="0"/>
              </a:rPr>
              <a:t>department_name</a:t>
            </a:r>
            <a:endParaRPr lang="en-US" sz="1600" dirty="0">
              <a:solidFill>
                <a:srgbClr val="000000"/>
              </a:solidFill>
              <a:latin typeface="Consolas" panose="020B0609020204030204" pitchFamily="49" charset="0"/>
            </a:endParaRPr>
          </a:p>
          <a:p>
            <a:endParaRPr lang="en-IN" sz="1800" dirty="0">
              <a:solidFill>
                <a:srgbClr val="000000"/>
              </a:solidFill>
              <a:latin typeface="Consolas" panose="020B0609020204030204" pitchFamily="49" charset="0"/>
            </a:endParaRPr>
          </a:p>
          <a:p>
            <a:r>
              <a:rPr lang="en-US" sz="1600" b="1" i="1" dirty="0"/>
              <a:t>--D. to sort the departments by headcount</a:t>
            </a:r>
            <a:r>
              <a:rPr lang="en-US" sz="1800" dirty="0">
                <a:solidFill>
                  <a:srgbClr val="00800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COUNT</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D</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department_id</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a:t>
            </a:r>
            <a:r>
              <a:rPr lang="en-US" sz="1800" dirty="0" err="1">
                <a:solidFill>
                  <a:srgbClr val="FF0000"/>
                </a:solidFill>
                <a:latin typeface="Consolas" panose="020B0609020204030204" pitchFamily="49" charset="0"/>
              </a:rPr>
              <a:t>Count_By_Dept_Name</a:t>
            </a:r>
            <a:r>
              <a:rPr lang="en-US" sz="1800" dirty="0">
                <a:solidFill>
                  <a:srgbClr val="FF0000"/>
                </a:solidFill>
                <a:latin typeface="Consolas" panose="020B0609020204030204" pitchFamily="49" charset="0"/>
              </a:rPr>
              <a: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department_name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employees </a:t>
            </a:r>
            <a:r>
              <a:rPr lang="en-US" sz="1800" dirty="0">
                <a:solidFill>
                  <a:srgbClr val="0000FF"/>
                </a:solidFill>
                <a:latin typeface="Consolas" panose="020B0609020204030204" pitchFamily="49" charset="0"/>
              </a:rPr>
              <a:t>as</a:t>
            </a:r>
            <a:r>
              <a:rPr lang="en-US" sz="1800" dirty="0">
                <a:solidFill>
                  <a:srgbClr val="000000"/>
                </a:solidFill>
                <a:latin typeface="Consolas" panose="020B0609020204030204" pitchFamily="49" charset="0"/>
              </a:rPr>
              <a:t> E</a:t>
            </a:r>
          </a:p>
          <a:p>
            <a:r>
              <a:rPr lang="en-US" sz="1800" dirty="0">
                <a:solidFill>
                  <a:srgbClr val="808080"/>
                </a:solidFill>
                <a:latin typeface="Consolas" panose="020B0609020204030204" pitchFamily="49" charset="0"/>
              </a:rPr>
              <a:t>inner</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join</a:t>
            </a:r>
            <a:r>
              <a:rPr lang="en-US" sz="1800" dirty="0">
                <a:solidFill>
                  <a:srgbClr val="000000"/>
                </a:solidFill>
                <a:latin typeface="Consolas" panose="020B0609020204030204" pitchFamily="49" charset="0"/>
              </a:rPr>
              <a:t> departments </a:t>
            </a:r>
            <a:r>
              <a:rPr lang="en-US" sz="1800" dirty="0">
                <a:solidFill>
                  <a:srgbClr val="0000FF"/>
                </a:solidFill>
                <a:latin typeface="Consolas" panose="020B0609020204030204" pitchFamily="49" charset="0"/>
              </a:rPr>
              <a:t>as</a:t>
            </a:r>
            <a:r>
              <a:rPr lang="en-US" sz="1800" dirty="0">
                <a:solidFill>
                  <a:srgbClr val="000000"/>
                </a:solidFill>
                <a:latin typeface="Consolas" panose="020B0609020204030204" pitchFamily="49" charset="0"/>
              </a:rPr>
              <a:t> D</a:t>
            </a:r>
          </a:p>
          <a:p>
            <a:r>
              <a:rPr lang="en-US" sz="1800" dirty="0">
                <a:solidFill>
                  <a:srgbClr val="0000FF"/>
                </a:solidFill>
                <a:latin typeface="Consolas" panose="020B0609020204030204" pitchFamily="49" charset="0"/>
              </a:rPr>
              <a:t>On</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E</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department_id</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department_id</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Group</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department_name</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order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Count_By_Dept_Name</a:t>
            </a:r>
            <a:r>
              <a:rPr lang="en-US" sz="1800" dirty="0">
                <a:solidFill>
                  <a:srgbClr val="000000"/>
                </a:solidFill>
                <a:latin typeface="Consolas" panose="020B0609020204030204" pitchFamily="49" charset="0"/>
              </a:rPr>
              <a:t> </a:t>
            </a:r>
            <a:r>
              <a:rPr lang="en-US" sz="1800" dirty="0" err="1">
                <a:solidFill>
                  <a:srgbClr val="0000FF"/>
                </a:solidFill>
                <a:latin typeface="Consolas" panose="020B0609020204030204" pitchFamily="49" charset="0"/>
              </a:rPr>
              <a:t>asc</a:t>
            </a:r>
            <a:r>
              <a:rPr lang="en-US" sz="1800" dirty="0">
                <a:solidFill>
                  <a:srgbClr val="808080"/>
                </a:solidFill>
                <a:latin typeface="Consolas" panose="020B0609020204030204" pitchFamily="49" charset="0"/>
              </a:rPr>
              <a:t>;</a:t>
            </a:r>
            <a:endParaRPr lang="en-IN" sz="18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3892633841"/>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
          <a:extLst>
            <a:ext uri="{FF2B5EF4-FFF2-40B4-BE49-F238E27FC236}">
              <a16:creationId xmlns:a16="http://schemas.microsoft.com/office/drawing/2014/main" id="{1087453D-A8B7-CD1C-C6DA-0B185D1346F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54BEF3C-15B6-B662-76ED-132B4D56755C}"/>
              </a:ext>
            </a:extLst>
          </p:cNvPr>
          <p:cNvSpPr txBox="1"/>
          <p:nvPr/>
        </p:nvSpPr>
        <p:spPr>
          <a:xfrm>
            <a:off x="0" y="0"/>
            <a:ext cx="11897030" cy="523220"/>
          </a:xfrm>
          <a:prstGeom prst="rect">
            <a:avLst/>
          </a:prstGeom>
          <a:noFill/>
        </p:spPr>
        <p:txBody>
          <a:bodyPr wrap="square" rtlCol="0">
            <a:spAutoFit/>
          </a:bodyPr>
          <a:lstStyle/>
          <a:p>
            <a:r>
              <a:rPr lang="en-US" sz="2800" b="1" i="1" dirty="0"/>
              <a:t>Task 4 : A) SQL GROUP BY clause</a:t>
            </a:r>
          </a:p>
        </p:txBody>
      </p:sp>
      <p:sp>
        <p:nvSpPr>
          <p:cNvPr id="4" name="TextBox 3">
            <a:extLst>
              <a:ext uri="{FF2B5EF4-FFF2-40B4-BE49-F238E27FC236}">
                <a16:creationId xmlns:a16="http://schemas.microsoft.com/office/drawing/2014/main" id="{6BDE930D-9B8F-34AC-2EA6-65892F4412C4}"/>
              </a:ext>
            </a:extLst>
          </p:cNvPr>
          <p:cNvSpPr txBox="1"/>
          <p:nvPr/>
        </p:nvSpPr>
        <p:spPr>
          <a:xfrm>
            <a:off x="0" y="523220"/>
            <a:ext cx="11897030" cy="6586418"/>
          </a:xfrm>
          <a:prstGeom prst="rect">
            <a:avLst/>
          </a:prstGeom>
          <a:noFill/>
        </p:spPr>
        <p:txBody>
          <a:bodyPr wrap="square" rtlCol="0">
            <a:spAutoFit/>
          </a:bodyPr>
          <a:lstStyle/>
          <a:p>
            <a:r>
              <a:rPr lang="en-US" sz="1600" b="1" i="1" dirty="0"/>
              <a:t>--E. to find departments with headcounts are greater than 5:</a:t>
            </a:r>
          </a:p>
          <a:p>
            <a:r>
              <a:rPr lang="en-US" sz="1400" dirty="0">
                <a:solidFill>
                  <a:srgbClr val="0000FF"/>
                </a:solidFill>
                <a:latin typeface="Consolas" panose="020B0609020204030204" pitchFamily="49" charset="0"/>
              </a:rPr>
              <a:t>SELECT</a:t>
            </a:r>
            <a:r>
              <a:rPr lang="en-US" sz="1400" dirty="0">
                <a:solidFill>
                  <a:srgbClr val="000000"/>
                </a:solidFill>
                <a:latin typeface="Consolas" panose="020B0609020204030204" pitchFamily="49" charset="0"/>
              </a:rPr>
              <a:t> </a:t>
            </a:r>
            <a:r>
              <a:rPr lang="en-US" sz="1400" dirty="0">
                <a:solidFill>
                  <a:srgbClr val="FF00FF"/>
                </a:solidFill>
                <a:latin typeface="Consolas" panose="020B0609020204030204" pitchFamily="49" charset="0"/>
              </a:rPr>
              <a:t>COUNT</a:t>
            </a:r>
            <a:r>
              <a:rPr lang="en-US" sz="1400" dirty="0">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department_id</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Count_By_Dept_Name</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D</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department_name</a:t>
            </a:r>
            <a:endParaRPr lang="en-US" sz="1400" dirty="0">
              <a:solidFill>
                <a:srgbClr val="000000"/>
              </a:solidFill>
              <a:latin typeface="Consolas" panose="020B0609020204030204" pitchFamily="49" charset="0"/>
            </a:endParaRPr>
          </a:p>
          <a:p>
            <a:r>
              <a:rPr lang="en-IN" sz="1400" dirty="0">
                <a:solidFill>
                  <a:srgbClr val="0000FF"/>
                </a:solidFill>
                <a:latin typeface="Consolas" panose="020B0609020204030204" pitchFamily="49" charset="0"/>
              </a:rPr>
              <a:t>FROM</a:t>
            </a:r>
            <a:r>
              <a:rPr lang="en-IN" sz="1400" dirty="0">
                <a:solidFill>
                  <a:srgbClr val="000000"/>
                </a:solidFill>
                <a:latin typeface="Consolas" panose="020B0609020204030204" pitchFamily="49" charset="0"/>
              </a:rPr>
              <a:t> employees </a:t>
            </a:r>
            <a:r>
              <a:rPr lang="en-IN" sz="1400" dirty="0">
                <a:solidFill>
                  <a:srgbClr val="0000FF"/>
                </a:solidFill>
                <a:latin typeface="Consolas" panose="020B0609020204030204" pitchFamily="49" charset="0"/>
              </a:rPr>
              <a:t>AS</a:t>
            </a:r>
            <a:r>
              <a:rPr lang="en-IN" sz="1400" dirty="0">
                <a:solidFill>
                  <a:srgbClr val="000000"/>
                </a:solidFill>
                <a:latin typeface="Consolas" panose="020B0609020204030204" pitchFamily="49" charset="0"/>
              </a:rPr>
              <a:t> E</a:t>
            </a:r>
          </a:p>
          <a:p>
            <a:r>
              <a:rPr lang="en-US" sz="1400" dirty="0">
                <a:solidFill>
                  <a:srgbClr val="808080"/>
                </a:solidFill>
                <a:latin typeface="Consolas" panose="020B0609020204030204" pitchFamily="49" charset="0"/>
              </a:rPr>
              <a:t>INNER</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JOIN</a:t>
            </a:r>
            <a:r>
              <a:rPr lang="en-US" sz="1400" dirty="0">
                <a:solidFill>
                  <a:srgbClr val="000000"/>
                </a:solidFill>
                <a:latin typeface="Consolas" panose="020B0609020204030204" pitchFamily="49" charset="0"/>
              </a:rPr>
              <a:t> departments </a:t>
            </a:r>
            <a:r>
              <a:rPr lang="en-US" sz="1400" dirty="0">
                <a:solidFill>
                  <a:srgbClr val="0000FF"/>
                </a:solidFill>
                <a:latin typeface="Consolas" panose="020B0609020204030204" pitchFamily="49" charset="0"/>
              </a:rPr>
              <a:t>AS</a:t>
            </a:r>
            <a:r>
              <a:rPr lang="en-US" sz="1400" dirty="0">
                <a:solidFill>
                  <a:srgbClr val="000000"/>
                </a:solidFill>
                <a:latin typeface="Consolas" panose="020B0609020204030204" pitchFamily="49" charset="0"/>
              </a:rPr>
              <a:t> D</a:t>
            </a:r>
          </a:p>
          <a:p>
            <a:r>
              <a:rPr lang="en-US" sz="1400" dirty="0">
                <a:solidFill>
                  <a:srgbClr val="0000FF"/>
                </a:solidFill>
                <a:latin typeface="Consolas" panose="020B0609020204030204" pitchFamily="49" charset="0"/>
              </a:rPr>
              <a:t>ON</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E</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department_id</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D</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department_id</a:t>
            </a:r>
            <a:endParaRPr lang="en-US" sz="1400" dirty="0">
              <a:solidFill>
                <a:srgbClr val="000000"/>
              </a:solidFill>
              <a:latin typeface="Consolas" panose="020B0609020204030204" pitchFamily="49" charset="0"/>
            </a:endParaRPr>
          </a:p>
          <a:p>
            <a:r>
              <a:rPr lang="en-US" sz="1400" dirty="0">
                <a:solidFill>
                  <a:srgbClr val="0000FF"/>
                </a:solidFill>
                <a:latin typeface="Consolas" panose="020B0609020204030204" pitchFamily="49" charset="0"/>
              </a:rPr>
              <a:t>WHERE</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D</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department_id</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&gt;=</a:t>
            </a:r>
            <a:r>
              <a:rPr lang="en-US" sz="1400" dirty="0">
                <a:solidFill>
                  <a:srgbClr val="000000"/>
                </a:solidFill>
                <a:latin typeface="Consolas" panose="020B0609020204030204" pitchFamily="49" charset="0"/>
              </a:rPr>
              <a:t> 5</a:t>
            </a:r>
          </a:p>
          <a:p>
            <a:r>
              <a:rPr lang="en-US" sz="1400" dirty="0">
                <a:solidFill>
                  <a:srgbClr val="0000FF"/>
                </a:solidFill>
                <a:latin typeface="Consolas" panose="020B0609020204030204" pitchFamily="49" charset="0"/>
              </a:rPr>
              <a:t>GROUP</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BY</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D</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department_name</a:t>
            </a:r>
            <a:endParaRPr lang="en-US" sz="1400" dirty="0">
              <a:solidFill>
                <a:srgbClr val="000000"/>
              </a:solidFill>
              <a:latin typeface="Consolas" panose="020B0609020204030204" pitchFamily="49" charset="0"/>
            </a:endParaRPr>
          </a:p>
          <a:p>
            <a:r>
              <a:rPr lang="en-US" sz="1400" dirty="0">
                <a:solidFill>
                  <a:srgbClr val="0000FF"/>
                </a:solidFill>
                <a:latin typeface="Consolas" panose="020B0609020204030204" pitchFamily="49" charset="0"/>
              </a:rPr>
              <a:t>HAVING</a:t>
            </a:r>
            <a:r>
              <a:rPr lang="en-US" sz="1400" dirty="0">
                <a:solidFill>
                  <a:srgbClr val="000000"/>
                </a:solidFill>
                <a:latin typeface="Consolas" panose="020B0609020204030204" pitchFamily="49" charset="0"/>
              </a:rPr>
              <a:t> </a:t>
            </a:r>
            <a:r>
              <a:rPr lang="en-US" sz="1400" dirty="0">
                <a:solidFill>
                  <a:srgbClr val="FF00FF"/>
                </a:solidFill>
                <a:latin typeface="Consolas" panose="020B0609020204030204" pitchFamily="49" charset="0"/>
              </a:rPr>
              <a:t>COUNT</a:t>
            </a:r>
            <a:r>
              <a:rPr lang="en-US" sz="1400" dirty="0">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department_id</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&gt;</a:t>
            </a:r>
            <a:r>
              <a:rPr lang="en-US" sz="1400" dirty="0">
                <a:solidFill>
                  <a:srgbClr val="000000"/>
                </a:solidFill>
                <a:latin typeface="Consolas" panose="020B0609020204030204" pitchFamily="49" charset="0"/>
              </a:rPr>
              <a:t>5</a:t>
            </a:r>
          </a:p>
          <a:p>
            <a:r>
              <a:rPr lang="en-US" sz="1400" dirty="0">
                <a:solidFill>
                  <a:srgbClr val="0000FF"/>
                </a:solidFill>
                <a:latin typeface="Consolas" panose="020B0609020204030204" pitchFamily="49" charset="0"/>
              </a:rPr>
              <a:t>ORDER</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BY</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Count_By_Dept_Name</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ASC</a:t>
            </a:r>
            <a:r>
              <a:rPr lang="en-US" sz="1400" dirty="0">
                <a:solidFill>
                  <a:srgbClr val="80808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600" b="1" i="1" dirty="0"/>
              <a:t>--F. returns the minimum, maximum and average salary of employees in each department</a:t>
            </a:r>
            <a:r>
              <a:rPr lang="en-US" sz="1800" dirty="0">
                <a:solidFill>
                  <a:srgbClr val="00800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400" dirty="0">
                <a:solidFill>
                  <a:srgbClr val="0000FF"/>
                </a:solidFill>
                <a:latin typeface="Consolas" panose="020B0609020204030204" pitchFamily="49" charset="0"/>
              </a:rPr>
              <a:t>SELECT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D</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department_name</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a:solidFill>
                  <a:srgbClr val="FF00FF"/>
                </a:solidFill>
                <a:latin typeface="Consolas" panose="020B0609020204030204" pitchFamily="49" charset="0"/>
              </a:rPr>
              <a:t>Max</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Salary</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srgbClr val="000000"/>
                </a:solidFill>
                <a:latin typeface="Consolas" panose="020B0609020204030204" pitchFamily="49" charset="0"/>
              </a:rPr>
              <a:t> </a:t>
            </a:r>
            <a:r>
              <a:rPr lang="en-US" sz="1400" dirty="0">
                <a:solidFill>
                  <a:srgbClr val="FF0000"/>
                </a:solidFill>
                <a:latin typeface="Consolas" panose="020B0609020204030204" pitchFamily="49" charset="0"/>
              </a:rPr>
              <a:t>'</a:t>
            </a:r>
            <a:r>
              <a:rPr lang="en-US" sz="1400" dirty="0" err="1">
                <a:solidFill>
                  <a:srgbClr val="FF0000"/>
                </a:solidFill>
                <a:latin typeface="Consolas" panose="020B0609020204030204" pitchFamily="49" charset="0"/>
              </a:rPr>
              <a:t>Max_Salary</a:t>
            </a:r>
            <a:r>
              <a:rPr lang="en-US" sz="1400" dirty="0">
                <a:solidFill>
                  <a:srgbClr val="FF0000"/>
                </a:solidFill>
                <a:latin typeface="Consolas" panose="020B0609020204030204" pitchFamily="49" charset="0"/>
              </a:rPr>
              <a:t>'</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a:solidFill>
                  <a:srgbClr val="FF00FF"/>
                </a:solidFill>
                <a:latin typeface="Consolas" panose="020B0609020204030204" pitchFamily="49" charset="0"/>
              </a:rPr>
              <a:t>Min</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Salary</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srgbClr val="000000"/>
                </a:solidFill>
                <a:latin typeface="Consolas" panose="020B0609020204030204" pitchFamily="49" charset="0"/>
              </a:rPr>
              <a:t> </a:t>
            </a:r>
            <a:r>
              <a:rPr lang="en-US" sz="1400" dirty="0">
                <a:solidFill>
                  <a:srgbClr val="FF0000"/>
                </a:solidFill>
                <a:latin typeface="Consolas" panose="020B0609020204030204" pitchFamily="49" charset="0"/>
              </a:rPr>
              <a:t>'</a:t>
            </a:r>
            <a:r>
              <a:rPr lang="en-US" sz="1400" dirty="0" err="1">
                <a:solidFill>
                  <a:srgbClr val="FF0000"/>
                </a:solidFill>
                <a:latin typeface="Consolas" panose="020B0609020204030204" pitchFamily="49" charset="0"/>
              </a:rPr>
              <a:t>Min_Salary</a:t>
            </a:r>
            <a:r>
              <a:rPr lang="en-US" sz="1400" dirty="0">
                <a:solidFill>
                  <a:srgbClr val="FF0000"/>
                </a:solidFill>
                <a:latin typeface="Consolas" panose="020B0609020204030204" pitchFamily="49" charset="0"/>
              </a:rPr>
              <a:t>'</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a:solidFill>
                  <a:srgbClr val="FF00FF"/>
                </a:solidFill>
                <a:latin typeface="Consolas" panose="020B0609020204030204" pitchFamily="49" charset="0"/>
              </a:rPr>
              <a:t>Avg</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Salary</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srgbClr val="000000"/>
                </a:solidFill>
                <a:latin typeface="Consolas" panose="020B0609020204030204" pitchFamily="49" charset="0"/>
              </a:rPr>
              <a:t> </a:t>
            </a:r>
            <a:r>
              <a:rPr lang="en-US" sz="1400" dirty="0">
                <a:solidFill>
                  <a:srgbClr val="FF0000"/>
                </a:solidFill>
                <a:latin typeface="Consolas" panose="020B0609020204030204" pitchFamily="49" charset="0"/>
              </a:rPr>
              <a:t>'</a:t>
            </a:r>
            <a:r>
              <a:rPr lang="en-US" sz="1400" dirty="0" err="1">
                <a:solidFill>
                  <a:srgbClr val="FF0000"/>
                </a:solidFill>
                <a:latin typeface="Consolas" panose="020B0609020204030204" pitchFamily="49" charset="0"/>
              </a:rPr>
              <a:t>Avg_Salary</a:t>
            </a:r>
            <a:r>
              <a:rPr lang="en-US" sz="1400" dirty="0">
                <a:solidFill>
                  <a:srgbClr val="FF000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IN" sz="1400" dirty="0">
                <a:solidFill>
                  <a:srgbClr val="0000FF"/>
                </a:solidFill>
                <a:latin typeface="Consolas" panose="020B0609020204030204" pitchFamily="49" charset="0"/>
              </a:rPr>
              <a:t>FROM</a:t>
            </a:r>
            <a:r>
              <a:rPr lang="en-IN" sz="1400" dirty="0">
                <a:solidFill>
                  <a:srgbClr val="000000"/>
                </a:solidFill>
                <a:latin typeface="Consolas" panose="020B0609020204030204" pitchFamily="49" charset="0"/>
              </a:rPr>
              <a:t> employees </a:t>
            </a:r>
            <a:r>
              <a:rPr lang="en-IN" sz="1400" dirty="0">
                <a:solidFill>
                  <a:srgbClr val="0000FF"/>
                </a:solidFill>
                <a:latin typeface="Consolas" panose="020B0609020204030204" pitchFamily="49" charset="0"/>
              </a:rPr>
              <a:t>AS</a:t>
            </a:r>
            <a:r>
              <a:rPr lang="en-IN" sz="1400" dirty="0">
                <a:solidFill>
                  <a:srgbClr val="000000"/>
                </a:solidFill>
                <a:latin typeface="Consolas" panose="020B0609020204030204" pitchFamily="49" charset="0"/>
              </a:rPr>
              <a:t> E</a:t>
            </a:r>
          </a:p>
          <a:p>
            <a:r>
              <a:rPr lang="en-US" sz="1400" dirty="0">
                <a:solidFill>
                  <a:srgbClr val="808080"/>
                </a:solidFill>
                <a:latin typeface="Consolas" panose="020B0609020204030204" pitchFamily="49" charset="0"/>
              </a:rPr>
              <a:t>INNER</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JOIN</a:t>
            </a:r>
            <a:r>
              <a:rPr lang="en-US" sz="1400" dirty="0">
                <a:solidFill>
                  <a:srgbClr val="000000"/>
                </a:solidFill>
                <a:latin typeface="Consolas" panose="020B0609020204030204" pitchFamily="49" charset="0"/>
              </a:rPr>
              <a:t> departments </a:t>
            </a:r>
            <a:r>
              <a:rPr lang="en-US" sz="1400" dirty="0">
                <a:solidFill>
                  <a:srgbClr val="0000FF"/>
                </a:solidFill>
                <a:latin typeface="Consolas" panose="020B0609020204030204" pitchFamily="49" charset="0"/>
              </a:rPr>
              <a:t>AS</a:t>
            </a:r>
            <a:r>
              <a:rPr lang="en-US" sz="1400" dirty="0">
                <a:solidFill>
                  <a:srgbClr val="000000"/>
                </a:solidFill>
                <a:latin typeface="Consolas" panose="020B0609020204030204" pitchFamily="49" charset="0"/>
              </a:rPr>
              <a:t> D</a:t>
            </a:r>
          </a:p>
          <a:p>
            <a:r>
              <a:rPr lang="en-US" sz="1400" dirty="0">
                <a:solidFill>
                  <a:srgbClr val="0000FF"/>
                </a:solidFill>
                <a:latin typeface="Consolas" panose="020B0609020204030204" pitchFamily="49" charset="0"/>
              </a:rPr>
              <a:t>ON</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E</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department_id</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D</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department_id</a:t>
            </a:r>
            <a:endParaRPr lang="en-US" sz="1400" dirty="0">
              <a:solidFill>
                <a:srgbClr val="000000"/>
              </a:solidFill>
              <a:latin typeface="Consolas" panose="020B0609020204030204" pitchFamily="49" charset="0"/>
            </a:endParaRPr>
          </a:p>
          <a:p>
            <a:r>
              <a:rPr lang="en-US" sz="1400" dirty="0">
                <a:solidFill>
                  <a:srgbClr val="0000FF"/>
                </a:solidFill>
                <a:latin typeface="Consolas" panose="020B0609020204030204" pitchFamily="49" charset="0"/>
              </a:rPr>
              <a:t>GROUP</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BY</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D</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department_name</a:t>
            </a:r>
            <a:endParaRPr lang="en-US" sz="1400" dirty="0">
              <a:solidFill>
                <a:srgbClr val="000000"/>
              </a:solidFill>
              <a:latin typeface="Consolas" panose="020B0609020204030204" pitchFamily="49" charset="0"/>
            </a:endParaRPr>
          </a:p>
          <a:p>
            <a:r>
              <a:rPr lang="en-US" sz="1600" b="1" i="1" dirty="0"/>
              <a:t>--G. To get the total salary per department</a:t>
            </a:r>
          </a:p>
          <a:p>
            <a:r>
              <a:rPr lang="en-US" sz="1400" dirty="0">
                <a:solidFill>
                  <a:srgbClr val="0000FF"/>
                </a:solidFill>
                <a:latin typeface="Consolas" panose="020B0609020204030204" pitchFamily="49" charset="0"/>
              </a:rPr>
              <a:t>SELECT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D</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department_name</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a:solidFill>
                  <a:srgbClr val="FF00FF"/>
                </a:solidFill>
                <a:latin typeface="Consolas" panose="020B0609020204030204" pitchFamily="49" charset="0"/>
              </a:rPr>
              <a:t>SUM</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Salary</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Sum_Salary</a:t>
            </a:r>
            <a:endParaRPr lang="en-US" sz="1400" dirty="0">
              <a:solidFill>
                <a:srgbClr val="000000"/>
              </a:solidFill>
              <a:latin typeface="Consolas" panose="020B0609020204030204" pitchFamily="49" charset="0"/>
            </a:endParaRPr>
          </a:p>
          <a:p>
            <a:r>
              <a:rPr lang="en-IN" sz="1400" dirty="0">
                <a:solidFill>
                  <a:srgbClr val="0000FF"/>
                </a:solidFill>
                <a:latin typeface="Consolas" panose="020B0609020204030204" pitchFamily="49" charset="0"/>
              </a:rPr>
              <a:t>FROM</a:t>
            </a:r>
            <a:r>
              <a:rPr lang="en-IN" sz="1400" dirty="0">
                <a:solidFill>
                  <a:srgbClr val="000000"/>
                </a:solidFill>
                <a:latin typeface="Consolas" panose="020B0609020204030204" pitchFamily="49" charset="0"/>
              </a:rPr>
              <a:t> employees </a:t>
            </a:r>
            <a:r>
              <a:rPr lang="en-IN" sz="1400" dirty="0">
                <a:solidFill>
                  <a:srgbClr val="0000FF"/>
                </a:solidFill>
                <a:latin typeface="Consolas" panose="020B0609020204030204" pitchFamily="49" charset="0"/>
              </a:rPr>
              <a:t>AS</a:t>
            </a:r>
            <a:r>
              <a:rPr lang="en-IN" sz="1400" dirty="0">
                <a:solidFill>
                  <a:srgbClr val="000000"/>
                </a:solidFill>
                <a:latin typeface="Consolas" panose="020B0609020204030204" pitchFamily="49" charset="0"/>
              </a:rPr>
              <a:t> E</a:t>
            </a:r>
          </a:p>
          <a:p>
            <a:r>
              <a:rPr lang="en-US" sz="1400" dirty="0">
                <a:solidFill>
                  <a:srgbClr val="808080"/>
                </a:solidFill>
                <a:latin typeface="Consolas" panose="020B0609020204030204" pitchFamily="49" charset="0"/>
              </a:rPr>
              <a:t>INNER</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JOIN</a:t>
            </a:r>
            <a:r>
              <a:rPr lang="en-US" sz="1400" dirty="0">
                <a:solidFill>
                  <a:srgbClr val="000000"/>
                </a:solidFill>
                <a:latin typeface="Consolas" panose="020B0609020204030204" pitchFamily="49" charset="0"/>
              </a:rPr>
              <a:t> departments </a:t>
            </a:r>
            <a:r>
              <a:rPr lang="en-US" sz="1400" dirty="0">
                <a:solidFill>
                  <a:srgbClr val="0000FF"/>
                </a:solidFill>
                <a:latin typeface="Consolas" panose="020B0609020204030204" pitchFamily="49" charset="0"/>
              </a:rPr>
              <a:t>AS</a:t>
            </a:r>
            <a:r>
              <a:rPr lang="en-US" sz="1400" dirty="0">
                <a:solidFill>
                  <a:srgbClr val="000000"/>
                </a:solidFill>
                <a:latin typeface="Consolas" panose="020B0609020204030204" pitchFamily="49" charset="0"/>
              </a:rPr>
              <a:t> D</a:t>
            </a:r>
          </a:p>
          <a:p>
            <a:r>
              <a:rPr lang="en-US" sz="1400" dirty="0">
                <a:solidFill>
                  <a:srgbClr val="0000FF"/>
                </a:solidFill>
                <a:latin typeface="Consolas" panose="020B0609020204030204" pitchFamily="49" charset="0"/>
              </a:rPr>
              <a:t>ON</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E</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department_id</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D</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department_id</a:t>
            </a:r>
            <a:endParaRPr lang="en-US" sz="1400" dirty="0">
              <a:solidFill>
                <a:srgbClr val="000000"/>
              </a:solidFill>
              <a:latin typeface="Consolas" panose="020B0609020204030204" pitchFamily="49" charset="0"/>
            </a:endParaRPr>
          </a:p>
          <a:p>
            <a:r>
              <a:rPr lang="en-US" sz="1400" dirty="0">
                <a:solidFill>
                  <a:srgbClr val="0000FF"/>
                </a:solidFill>
                <a:latin typeface="Consolas" panose="020B0609020204030204" pitchFamily="49" charset="0"/>
              </a:rPr>
              <a:t>GROUP</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BY</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D</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department_name</a:t>
            </a:r>
            <a:endParaRPr lang="en-US" sz="1400" dirty="0">
              <a:solidFill>
                <a:srgbClr val="000000"/>
              </a:solidFill>
              <a:latin typeface="Consolas" panose="020B0609020204030204" pitchFamily="49" charset="0"/>
            </a:endParaRPr>
          </a:p>
          <a:p>
            <a:r>
              <a:rPr lang="en-US" sz="1600" b="1" i="1" dirty="0"/>
              <a:t>--H. groups rows with the same values both </a:t>
            </a:r>
            <a:r>
              <a:rPr lang="en-US" sz="1600" b="1" i="1" dirty="0" err="1"/>
              <a:t>department_id</a:t>
            </a:r>
            <a:r>
              <a:rPr lang="en-US" sz="1600" b="1" i="1" dirty="0"/>
              <a:t> and </a:t>
            </a:r>
            <a:r>
              <a:rPr lang="en-US" sz="1600" b="1" i="1" dirty="0" err="1"/>
              <a:t>job_id</a:t>
            </a:r>
            <a:r>
              <a:rPr lang="en-US" sz="1600" b="1" i="1" dirty="0"/>
              <a:t> columns in the same group then return the rows for each of these groups</a:t>
            </a:r>
          </a:p>
          <a:p>
            <a:r>
              <a:rPr lang="en-US" sz="1400" dirty="0">
                <a:solidFill>
                  <a:srgbClr val="0000FF"/>
                </a:solidFill>
                <a:latin typeface="Consolas" panose="020B0609020204030204" pitchFamily="49" charset="0"/>
              </a:rPr>
              <a:t>Select </a:t>
            </a:r>
            <a:r>
              <a:rPr lang="en-US" sz="1400" dirty="0">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department_id</a:t>
            </a:r>
            <a:r>
              <a:rPr lang="en-US" sz="1400" dirty="0">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J</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Job_ID</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department_name</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from</a:t>
            </a:r>
            <a:r>
              <a:rPr lang="en-US" sz="1400" dirty="0">
                <a:solidFill>
                  <a:srgbClr val="000000"/>
                </a:solidFill>
                <a:latin typeface="Consolas" panose="020B0609020204030204" pitchFamily="49" charset="0"/>
              </a:rPr>
              <a:t> employees </a:t>
            </a:r>
            <a:r>
              <a:rPr lang="en-US" sz="1400" dirty="0">
                <a:solidFill>
                  <a:srgbClr val="0000FF"/>
                </a:solidFill>
                <a:latin typeface="Consolas" panose="020B0609020204030204" pitchFamily="49" charset="0"/>
              </a:rPr>
              <a:t>as</a:t>
            </a:r>
            <a:r>
              <a:rPr lang="en-US" sz="1400" dirty="0">
                <a:solidFill>
                  <a:srgbClr val="000000"/>
                </a:solidFill>
                <a:latin typeface="Consolas" panose="020B0609020204030204" pitchFamily="49" charset="0"/>
              </a:rPr>
              <a:t> E</a:t>
            </a:r>
          </a:p>
          <a:p>
            <a:r>
              <a:rPr lang="en-US" sz="1400" dirty="0">
                <a:solidFill>
                  <a:srgbClr val="808080"/>
                </a:solidFill>
                <a:latin typeface="Consolas" panose="020B0609020204030204" pitchFamily="49" charset="0"/>
              </a:rPr>
              <a:t>inner</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join</a:t>
            </a:r>
            <a:r>
              <a:rPr lang="en-US" sz="1400" dirty="0">
                <a:solidFill>
                  <a:srgbClr val="000000"/>
                </a:solidFill>
                <a:latin typeface="Consolas" panose="020B0609020204030204" pitchFamily="49" charset="0"/>
              </a:rPr>
              <a:t> jobs </a:t>
            </a:r>
            <a:r>
              <a:rPr lang="en-US" sz="1400" dirty="0">
                <a:solidFill>
                  <a:srgbClr val="0000FF"/>
                </a:solidFill>
                <a:latin typeface="Consolas" panose="020B0609020204030204" pitchFamily="49" charset="0"/>
              </a:rPr>
              <a:t>as</a:t>
            </a:r>
            <a:r>
              <a:rPr lang="en-US" sz="1400" dirty="0">
                <a:solidFill>
                  <a:srgbClr val="000000"/>
                </a:solidFill>
                <a:latin typeface="Consolas" panose="020B0609020204030204" pitchFamily="49" charset="0"/>
              </a:rPr>
              <a:t> J</a:t>
            </a:r>
          </a:p>
          <a:p>
            <a:r>
              <a:rPr lang="en-US" sz="1400" dirty="0">
                <a:solidFill>
                  <a:srgbClr val="0000FF"/>
                </a:solidFill>
                <a:latin typeface="Consolas" panose="020B0609020204030204" pitchFamily="49" charset="0"/>
              </a:rPr>
              <a:t>on</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E</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department_id</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J</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job_id</a:t>
            </a:r>
            <a:endParaRPr lang="en-US" sz="1400" dirty="0">
              <a:solidFill>
                <a:srgbClr val="000000"/>
              </a:solidFill>
              <a:latin typeface="Consolas" panose="020B0609020204030204" pitchFamily="49" charset="0"/>
            </a:endParaRPr>
          </a:p>
          <a:p>
            <a:r>
              <a:rPr lang="en-US" sz="1400" dirty="0">
                <a:solidFill>
                  <a:srgbClr val="808080"/>
                </a:solidFill>
                <a:latin typeface="Consolas" panose="020B0609020204030204" pitchFamily="49" charset="0"/>
              </a:rPr>
              <a:t>inner</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Join</a:t>
            </a:r>
            <a:r>
              <a:rPr lang="en-US" sz="1400" dirty="0">
                <a:solidFill>
                  <a:srgbClr val="000000"/>
                </a:solidFill>
                <a:latin typeface="Consolas" panose="020B0609020204030204" pitchFamily="49" charset="0"/>
              </a:rPr>
              <a:t> departments </a:t>
            </a:r>
            <a:r>
              <a:rPr lang="en-US" sz="1400" dirty="0">
                <a:solidFill>
                  <a:srgbClr val="0000FF"/>
                </a:solidFill>
                <a:latin typeface="Consolas" panose="020B0609020204030204" pitchFamily="49" charset="0"/>
              </a:rPr>
              <a:t>as</a:t>
            </a:r>
            <a:r>
              <a:rPr lang="en-US" sz="1400" dirty="0">
                <a:solidFill>
                  <a:srgbClr val="000000"/>
                </a:solidFill>
                <a:latin typeface="Consolas" panose="020B0609020204030204" pitchFamily="49" charset="0"/>
              </a:rPr>
              <a:t> D</a:t>
            </a:r>
          </a:p>
          <a:p>
            <a:r>
              <a:rPr lang="en-US" sz="1400" dirty="0">
                <a:solidFill>
                  <a:srgbClr val="0000FF"/>
                </a:solidFill>
                <a:latin typeface="Consolas" panose="020B0609020204030204" pitchFamily="49" charset="0"/>
              </a:rPr>
              <a:t>on</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E</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department_id</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D</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department_id</a:t>
            </a:r>
            <a:endParaRPr lang="en-US" sz="1400" dirty="0">
              <a:solidFill>
                <a:srgbClr val="000000"/>
              </a:solidFill>
              <a:latin typeface="Consolas" panose="020B0609020204030204" pitchFamily="49" charset="0"/>
            </a:endParaRPr>
          </a:p>
          <a:p>
            <a:endParaRPr lang="en-IN" sz="18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8423571"/>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
          <a:extLst>
            <a:ext uri="{FF2B5EF4-FFF2-40B4-BE49-F238E27FC236}">
              <a16:creationId xmlns:a16="http://schemas.microsoft.com/office/drawing/2014/main" id="{139C5B89-EF4F-9D19-6241-A56AC274C96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56F1F24-652A-0E0F-C4C6-8961B1D10026}"/>
              </a:ext>
            </a:extLst>
          </p:cNvPr>
          <p:cNvSpPr txBox="1"/>
          <p:nvPr/>
        </p:nvSpPr>
        <p:spPr>
          <a:xfrm>
            <a:off x="0" y="0"/>
            <a:ext cx="11897030" cy="584775"/>
          </a:xfrm>
          <a:prstGeom prst="rect">
            <a:avLst/>
          </a:prstGeom>
          <a:noFill/>
        </p:spPr>
        <p:txBody>
          <a:bodyPr wrap="square" rtlCol="0">
            <a:spAutoFit/>
          </a:bodyPr>
          <a:lstStyle/>
          <a:p>
            <a:r>
              <a:rPr lang="en-US" sz="3200" b="1" i="1" dirty="0"/>
              <a:t>Task 4 : B) SQL HAVING clause</a:t>
            </a:r>
          </a:p>
        </p:txBody>
      </p:sp>
      <p:sp>
        <p:nvSpPr>
          <p:cNvPr id="4" name="TextBox 3">
            <a:extLst>
              <a:ext uri="{FF2B5EF4-FFF2-40B4-BE49-F238E27FC236}">
                <a16:creationId xmlns:a16="http://schemas.microsoft.com/office/drawing/2014/main" id="{8F92049E-D09E-E609-4B2D-6FA18D7F4EFB}"/>
              </a:ext>
            </a:extLst>
          </p:cNvPr>
          <p:cNvSpPr txBox="1"/>
          <p:nvPr/>
        </p:nvSpPr>
        <p:spPr>
          <a:xfrm>
            <a:off x="0" y="523220"/>
            <a:ext cx="12192000" cy="6370975"/>
          </a:xfrm>
          <a:prstGeom prst="rect">
            <a:avLst/>
          </a:prstGeom>
          <a:noFill/>
        </p:spPr>
        <p:txBody>
          <a:bodyPr wrap="square" rtlCol="0">
            <a:spAutoFit/>
          </a:bodyPr>
          <a:lstStyle/>
          <a:p>
            <a:r>
              <a:rPr lang="en-US" sz="1600" b="1" i="1" dirty="0"/>
              <a:t>--A. To get the managers and their direct reports, and to group employees by the managers and to count the direct reports</a:t>
            </a:r>
          </a:p>
          <a:p>
            <a:r>
              <a:rPr lang="en-US" sz="1200" dirty="0">
                <a:solidFill>
                  <a:srgbClr val="00800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FF"/>
                </a:solidFill>
                <a:latin typeface="Consolas" panose="020B0609020204030204" pitchFamily="49" charset="0"/>
              </a:rPr>
              <a:t>SELECT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e</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manager_id</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 </a:t>
            </a:r>
            <a:r>
              <a:rPr lang="en-US" sz="1200" dirty="0" err="1">
                <a:solidFill>
                  <a:srgbClr val="FF00FF"/>
                </a:solidFill>
                <a:latin typeface="Consolas" panose="020B0609020204030204" pitchFamily="49" charset="0"/>
              </a:rPr>
              <a:t>concat</a:t>
            </a:r>
            <a:r>
              <a:rPr lang="en-US" sz="1200" dirty="0">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m</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first_name</a:t>
            </a:r>
            <a:r>
              <a:rPr lang="en-US" sz="1200" dirty="0">
                <a:solidFill>
                  <a:srgbClr val="808080"/>
                </a:solidFill>
                <a:latin typeface="Consolas" panose="020B0609020204030204" pitchFamily="49" charset="0"/>
              </a:rPr>
              <a:t>,</a:t>
            </a:r>
            <a:r>
              <a:rPr lang="en-US" sz="1200" dirty="0">
                <a:solidFill>
                  <a:srgbClr val="FF0000"/>
                </a:solidFill>
                <a:latin typeface="Consolas" panose="020B0609020204030204" pitchFamily="49" charset="0"/>
              </a:rPr>
              <a:t>' '</a:t>
            </a:r>
            <a:r>
              <a:rPr lang="en-US" sz="1200" dirty="0">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m</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last_name</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AS</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ManagerName</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 </a:t>
            </a:r>
            <a:r>
              <a:rPr lang="en-US" sz="1200" dirty="0">
                <a:solidFill>
                  <a:srgbClr val="FF00FF"/>
                </a:solidFill>
                <a:latin typeface="Consolas" panose="020B0609020204030204" pitchFamily="49" charset="0"/>
              </a:rPr>
              <a:t>COUNT</a:t>
            </a:r>
            <a:r>
              <a:rPr lang="en-US" sz="1200" dirty="0">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e</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employee_id</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AS</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DirectReportsCount</a:t>
            </a:r>
            <a:r>
              <a:rPr lang="en-US"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FROM</a:t>
            </a:r>
            <a:r>
              <a:rPr lang="en-IN" sz="1200" dirty="0">
                <a:solidFill>
                  <a:srgbClr val="000000"/>
                </a:solidFill>
                <a:latin typeface="Consolas" panose="020B0609020204030204" pitchFamily="49" charset="0"/>
              </a:rPr>
              <a:t> employees e</a:t>
            </a:r>
          </a:p>
          <a:p>
            <a:r>
              <a:rPr lang="en-IN" sz="1200" dirty="0">
                <a:solidFill>
                  <a:srgbClr val="808080"/>
                </a:solidFill>
                <a:latin typeface="Consolas" panose="020B0609020204030204" pitchFamily="49" charset="0"/>
              </a:rPr>
              <a:t>INNER</a:t>
            </a:r>
            <a:r>
              <a:rPr lang="en-IN" sz="1200" dirty="0">
                <a:solidFill>
                  <a:srgbClr val="000000"/>
                </a:solidFill>
                <a:latin typeface="Consolas" panose="020B0609020204030204" pitchFamily="49" charset="0"/>
              </a:rPr>
              <a:t> </a:t>
            </a:r>
            <a:r>
              <a:rPr lang="en-IN" sz="1200" dirty="0">
                <a:solidFill>
                  <a:srgbClr val="808080"/>
                </a:solidFill>
                <a:latin typeface="Consolas" panose="020B0609020204030204" pitchFamily="49" charset="0"/>
              </a:rPr>
              <a:t>JOIN</a:t>
            </a:r>
            <a:r>
              <a:rPr lang="en-IN" sz="1200" dirty="0">
                <a:solidFill>
                  <a:srgbClr val="000000"/>
                </a:solidFill>
                <a:latin typeface="Consolas" panose="020B0609020204030204" pitchFamily="49" charset="0"/>
              </a:rPr>
              <a:t> employees m </a:t>
            </a:r>
            <a:r>
              <a:rPr lang="en-US" sz="1200" dirty="0">
                <a:solidFill>
                  <a:srgbClr val="0000FF"/>
                </a:solidFill>
                <a:latin typeface="Consolas" panose="020B0609020204030204" pitchFamily="49" charset="0"/>
              </a:rPr>
              <a:t>ON</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e</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manager_id</a:t>
            </a:r>
            <a:r>
              <a:rPr lang="en-US" sz="1200" dirty="0">
                <a:solidFill>
                  <a:srgbClr val="000000"/>
                </a:solidFill>
                <a:latin typeface="Consolas" panose="020B0609020204030204" pitchFamily="49" charset="0"/>
              </a:rPr>
              <a:t> </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m</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employee_id</a:t>
            </a:r>
            <a:endParaRPr lang="en-US" sz="1200" dirty="0">
              <a:solidFill>
                <a:srgbClr val="000000"/>
              </a:solidFill>
              <a:latin typeface="Consolas" panose="020B0609020204030204" pitchFamily="49" charset="0"/>
            </a:endParaRPr>
          </a:p>
          <a:p>
            <a:r>
              <a:rPr lang="en-US" sz="1200" dirty="0">
                <a:solidFill>
                  <a:srgbClr val="0000FF"/>
                </a:solidFill>
                <a:latin typeface="Consolas" panose="020B0609020204030204" pitchFamily="49" charset="0"/>
              </a:rPr>
              <a:t>GROUP</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BY</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e</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manager_id</a:t>
            </a:r>
            <a:r>
              <a:rPr lang="en-US" sz="1200" dirty="0" err="1">
                <a:solidFill>
                  <a:srgbClr val="808080"/>
                </a:solidFill>
                <a:latin typeface="Consolas" panose="020B0609020204030204" pitchFamily="49" charset="0"/>
              </a:rPr>
              <a:t>,</a:t>
            </a:r>
            <a:r>
              <a:rPr lang="en-US" sz="1200" dirty="0" err="1">
                <a:solidFill>
                  <a:srgbClr val="FF00FF"/>
                </a:solidFill>
                <a:latin typeface="Consolas" panose="020B0609020204030204" pitchFamily="49" charset="0"/>
              </a:rPr>
              <a:t>concat</a:t>
            </a:r>
            <a:r>
              <a:rPr lang="en-US" sz="1200" dirty="0">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m</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first_name</a:t>
            </a:r>
            <a:r>
              <a:rPr lang="en-US" sz="1200" dirty="0">
                <a:solidFill>
                  <a:srgbClr val="808080"/>
                </a:solidFill>
                <a:latin typeface="Consolas" panose="020B0609020204030204" pitchFamily="49" charset="0"/>
              </a:rPr>
              <a:t>,</a:t>
            </a:r>
            <a:r>
              <a:rPr lang="en-US" sz="1200" dirty="0">
                <a:solidFill>
                  <a:srgbClr val="FF0000"/>
                </a:solidFill>
                <a:latin typeface="Consolas" panose="020B0609020204030204" pitchFamily="49" charset="0"/>
              </a:rPr>
              <a:t>' '</a:t>
            </a:r>
            <a:r>
              <a:rPr lang="en-US" sz="1200" dirty="0">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m</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last_name</a:t>
            </a:r>
            <a:r>
              <a:rPr lang="en-US" sz="1200" dirty="0">
                <a:solidFill>
                  <a:srgbClr val="80808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IN" sz="1200" dirty="0">
                <a:solidFill>
                  <a:srgbClr val="0000FF"/>
                </a:solidFill>
                <a:latin typeface="Consolas" panose="020B0609020204030204" pitchFamily="49" charset="0"/>
              </a:rPr>
              <a:t>ORDER</a:t>
            </a:r>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BY</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DirectReportsCount</a:t>
            </a:r>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DESC</a:t>
            </a:r>
            <a:r>
              <a:rPr lang="en-IN" sz="1200" dirty="0">
                <a:solidFill>
                  <a:srgbClr val="808080"/>
                </a:solidFill>
                <a:latin typeface="Consolas" panose="020B0609020204030204" pitchFamily="49" charset="0"/>
              </a:rPr>
              <a:t>;</a:t>
            </a:r>
          </a:p>
          <a:p>
            <a:endParaRPr lang="en-IN" sz="1200" dirty="0">
              <a:solidFill>
                <a:srgbClr val="000000"/>
              </a:solidFill>
              <a:latin typeface="Consolas" panose="020B0609020204030204" pitchFamily="49" charset="0"/>
            </a:endParaRPr>
          </a:p>
          <a:p>
            <a:r>
              <a:rPr lang="en-US" sz="1600" b="1" i="1" dirty="0"/>
              <a:t>--B. To find the managers who have at least five direct reports</a:t>
            </a:r>
          </a:p>
          <a:p>
            <a:endParaRPr lang="en-US" sz="1600" b="1" i="1" dirty="0"/>
          </a:p>
          <a:p>
            <a:r>
              <a:rPr lang="en-US" sz="1200" dirty="0">
                <a:solidFill>
                  <a:srgbClr val="0000FF"/>
                </a:solidFill>
                <a:latin typeface="Consolas" panose="020B0609020204030204" pitchFamily="49" charset="0"/>
              </a:rPr>
              <a:t>SELECT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e</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manager_id</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 </a:t>
            </a:r>
            <a:r>
              <a:rPr lang="en-US" sz="1200" dirty="0" err="1">
                <a:solidFill>
                  <a:srgbClr val="FF00FF"/>
                </a:solidFill>
                <a:latin typeface="Consolas" panose="020B0609020204030204" pitchFamily="49" charset="0"/>
              </a:rPr>
              <a:t>concat</a:t>
            </a:r>
            <a:r>
              <a:rPr lang="en-US" sz="1200" dirty="0">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m</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first_name</a:t>
            </a:r>
            <a:r>
              <a:rPr lang="en-US" sz="1200" dirty="0">
                <a:solidFill>
                  <a:srgbClr val="808080"/>
                </a:solidFill>
                <a:latin typeface="Consolas" panose="020B0609020204030204" pitchFamily="49" charset="0"/>
              </a:rPr>
              <a:t>,</a:t>
            </a:r>
            <a:r>
              <a:rPr lang="en-US" sz="1200" dirty="0">
                <a:solidFill>
                  <a:srgbClr val="FF0000"/>
                </a:solidFill>
                <a:latin typeface="Consolas" panose="020B0609020204030204" pitchFamily="49" charset="0"/>
              </a:rPr>
              <a:t>' '</a:t>
            </a:r>
            <a:r>
              <a:rPr lang="en-US" sz="1200" dirty="0">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m</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last_name</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AS</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ManagerName</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 </a:t>
            </a:r>
            <a:r>
              <a:rPr lang="en-US" sz="1200" dirty="0">
                <a:solidFill>
                  <a:srgbClr val="FF00FF"/>
                </a:solidFill>
                <a:latin typeface="Consolas" panose="020B0609020204030204" pitchFamily="49" charset="0"/>
              </a:rPr>
              <a:t>COUNT</a:t>
            </a:r>
            <a:r>
              <a:rPr lang="en-US" sz="1200" dirty="0">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e</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employee_id</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AS</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DirectReportsCount</a:t>
            </a:r>
            <a:r>
              <a:rPr lang="en-US"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FROM</a:t>
            </a:r>
            <a:r>
              <a:rPr lang="en-IN" sz="1200" dirty="0">
                <a:solidFill>
                  <a:srgbClr val="000000"/>
                </a:solidFill>
                <a:latin typeface="Consolas" panose="020B0609020204030204" pitchFamily="49" charset="0"/>
              </a:rPr>
              <a:t> employees e</a:t>
            </a:r>
          </a:p>
          <a:p>
            <a:r>
              <a:rPr lang="en-IN" sz="1200" dirty="0">
                <a:solidFill>
                  <a:srgbClr val="808080"/>
                </a:solidFill>
                <a:latin typeface="Consolas" panose="020B0609020204030204" pitchFamily="49" charset="0"/>
              </a:rPr>
              <a:t>INNER</a:t>
            </a:r>
            <a:r>
              <a:rPr lang="en-IN" sz="1200" dirty="0">
                <a:solidFill>
                  <a:srgbClr val="000000"/>
                </a:solidFill>
                <a:latin typeface="Consolas" panose="020B0609020204030204" pitchFamily="49" charset="0"/>
              </a:rPr>
              <a:t> </a:t>
            </a:r>
            <a:r>
              <a:rPr lang="en-IN" sz="1200" dirty="0">
                <a:solidFill>
                  <a:srgbClr val="808080"/>
                </a:solidFill>
                <a:latin typeface="Consolas" panose="020B0609020204030204" pitchFamily="49" charset="0"/>
              </a:rPr>
              <a:t>JOIN</a:t>
            </a:r>
            <a:r>
              <a:rPr lang="en-IN" sz="1200" dirty="0">
                <a:solidFill>
                  <a:srgbClr val="000000"/>
                </a:solidFill>
                <a:latin typeface="Consolas" panose="020B0609020204030204" pitchFamily="49" charset="0"/>
              </a:rPr>
              <a:t> employees m </a:t>
            </a:r>
            <a:r>
              <a:rPr lang="en-US" sz="1200" dirty="0">
                <a:solidFill>
                  <a:srgbClr val="0000FF"/>
                </a:solidFill>
                <a:latin typeface="Consolas" panose="020B0609020204030204" pitchFamily="49" charset="0"/>
              </a:rPr>
              <a:t>ON</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e</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manager_id</a:t>
            </a:r>
            <a:r>
              <a:rPr lang="en-US" sz="1200" dirty="0">
                <a:solidFill>
                  <a:srgbClr val="000000"/>
                </a:solidFill>
                <a:latin typeface="Consolas" panose="020B0609020204030204" pitchFamily="49" charset="0"/>
              </a:rPr>
              <a:t> </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m</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employee_id</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GROUP</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BY</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e</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manager_id</a:t>
            </a:r>
            <a:r>
              <a:rPr lang="en-US" sz="1200" dirty="0" err="1">
                <a:solidFill>
                  <a:srgbClr val="808080"/>
                </a:solidFill>
                <a:latin typeface="Consolas" panose="020B0609020204030204" pitchFamily="49" charset="0"/>
              </a:rPr>
              <a:t>,</a:t>
            </a:r>
            <a:r>
              <a:rPr lang="en-US" sz="1200" dirty="0" err="1">
                <a:solidFill>
                  <a:srgbClr val="FF00FF"/>
                </a:solidFill>
                <a:latin typeface="Consolas" panose="020B0609020204030204" pitchFamily="49" charset="0"/>
              </a:rPr>
              <a:t>concat</a:t>
            </a:r>
            <a:r>
              <a:rPr lang="en-US" sz="1200" dirty="0">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m</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first_name</a:t>
            </a:r>
            <a:r>
              <a:rPr lang="en-US" sz="1200" dirty="0">
                <a:solidFill>
                  <a:srgbClr val="808080"/>
                </a:solidFill>
                <a:latin typeface="Consolas" panose="020B0609020204030204" pitchFamily="49" charset="0"/>
              </a:rPr>
              <a:t>,</a:t>
            </a:r>
            <a:r>
              <a:rPr lang="en-US" sz="1200" dirty="0">
                <a:solidFill>
                  <a:srgbClr val="FF0000"/>
                </a:solidFill>
                <a:latin typeface="Consolas" panose="020B0609020204030204" pitchFamily="49" charset="0"/>
              </a:rPr>
              <a:t>' '</a:t>
            </a:r>
            <a:r>
              <a:rPr lang="en-US" sz="1200" dirty="0">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m</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last_name</a:t>
            </a:r>
            <a:r>
              <a:rPr lang="en-US" sz="1200" dirty="0">
                <a:solidFill>
                  <a:srgbClr val="808080"/>
                </a:solidFill>
                <a:latin typeface="Consolas" panose="020B0609020204030204" pitchFamily="49" charset="0"/>
              </a:rPr>
              <a:t>)</a:t>
            </a:r>
            <a:endParaRPr lang="en-US" sz="1200" dirty="0">
              <a:solidFill>
                <a:srgbClr val="000000"/>
              </a:solidFill>
              <a:latin typeface="Consolas" panose="020B0609020204030204" pitchFamily="49" charset="0"/>
            </a:endParaRPr>
          </a:p>
          <a:p>
            <a:r>
              <a:rPr lang="en-US" sz="1200" dirty="0">
                <a:solidFill>
                  <a:srgbClr val="0000FF"/>
                </a:solidFill>
                <a:latin typeface="Consolas" panose="020B0609020204030204" pitchFamily="49" charset="0"/>
              </a:rPr>
              <a:t>having</a:t>
            </a:r>
            <a:r>
              <a:rPr lang="en-US" sz="1200" dirty="0">
                <a:solidFill>
                  <a:srgbClr val="000000"/>
                </a:solidFill>
                <a:latin typeface="Consolas" panose="020B0609020204030204" pitchFamily="49" charset="0"/>
              </a:rPr>
              <a:t> </a:t>
            </a:r>
            <a:r>
              <a:rPr lang="en-US" sz="1200" dirty="0">
                <a:solidFill>
                  <a:srgbClr val="FF00FF"/>
                </a:solidFill>
                <a:latin typeface="Consolas" panose="020B0609020204030204" pitchFamily="49" charset="0"/>
              </a:rPr>
              <a:t>count</a:t>
            </a:r>
            <a:r>
              <a:rPr lang="en-US" sz="1200" dirty="0">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e</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manager_id</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 </a:t>
            </a:r>
            <a:r>
              <a:rPr lang="en-US" sz="1200" dirty="0">
                <a:solidFill>
                  <a:srgbClr val="808080"/>
                </a:solidFill>
                <a:latin typeface="Consolas" panose="020B0609020204030204" pitchFamily="49" charset="0"/>
              </a:rPr>
              <a:t>&gt;=</a:t>
            </a:r>
            <a:r>
              <a:rPr lang="en-US" sz="1200" dirty="0">
                <a:solidFill>
                  <a:srgbClr val="000000"/>
                </a:solidFill>
                <a:latin typeface="Consolas" panose="020B0609020204030204" pitchFamily="49" charset="0"/>
              </a:rPr>
              <a:t>5 </a:t>
            </a:r>
            <a:r>
              <a:rPr lang="en-IN" sz="1200" dirty="0">
                <a:solidFill>
                  <a:srgbClr val="0000FF"/>
                </a:solidFill>
                <a:latin typeface="Consolas" panose="020B0609020204030204" pitchFamily="49" charset="0"/>
              </a:rPr>
              <a:t>ORDER</a:t>
            </a:r>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BY</a:t>
            </a:r>
            <a:r>
              <a:rPr lang="en-IN" sz="1200" dirty="0">
                <a:solidFill>
                  <a:srgbClr val="000000"/>
                </a:solidFill>
                <a:latin typeface="Consolas" panose="020B0609020204030204" pitchFamily="49" charset="0"/>
              </a:rPr>
              <a:t> </a:t>
            </a:r>
            <a:r>
              <a:rPr lang="en-IN" sz="1200" dirty="0" err="1">
                <a:solidFill>
                  <a:srgbClr val="000000"/>
                </a:solidFill>
                <a:latin typeface="Consolas" panose="020B0609020204030204" pitchFamily="49" charset="0"/>
              </a:rPr>
              <a:t>DirectReportsCount</a:t>
            </a:r>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DESC</a:t>
            </a:r>
            <a:r>
              <a:rPr lang="en-IN" sz="1200" dirty="0">
                <a:solidFill>
                  <a:srgbClr val="808080"/>
                </a:solidFill>
                <a:latin typeface="Consolas" panose="020B0609020204030204" pitchFamily="49" charset="0"/>
              </a:rPr>
              <a:t>;</a:t>
            </a:r>
          </a:p>
          <a:p>
            <a:endParaRPr lang="en-IN" sz="1200" dirty="0">
              <a:solidFill>
                <a:srgbClr val="000000"/>
              </a:solidFill>
              <a:latin typeface="Consolas" panose="020B0609020204030204" pitchFamily="49" charset="0"/>
            </a:endParaRPr>
          </a:p>
          <a:p>
            <a:r>
              <a:rPr lang="en-US" sz="1600" b="1" i="1" dirty="0"/>
              <a:t>--C. calculates the sum of salary that the company pays for each department and selects only the departments with </a:t>
            </a:r>
          </a:p>
          <a:p>
            <a:r>
              <a:rPr lang="en-US" sz="1600" b="1" i="1" dirty="0"/>
              <a:t>the sum of salary between 20000 and 30000.*/</a:t>
            </a:r>
          </a:p>
          <a:p>
            <a:endParaRPr lang="en-US" sz="1600" b="1" i="1" dirty="0"/>
          </a:p>
          <a:p>
            <a:r>
              <a:rPr lang="en-US" sz="1200" dirty="0">
                <a:solidFill>
                  <a:srgbClr val="0000FF"/>
                </a:solidFill>
                <a:latin typeface="Consolas" panose="020B0609020204030204" pitchFamily="49" charset="0"/>
              </a:rPr>
              <a:t>SELECT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D</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department_name</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 </a:t>
            </a:r>
            <a:r>
              <a:rPr lang="en-US" sz="1200" dirty="0">
                <a:solidFill>
                  <a:srgbClr val="FF00FF"/>
                </a:solidFill>
                <a:latin typeface="Consolas" panose="020B0609020204030204" pitchFamily="49" charset="0"/>
              </a:rPr>
              <a:t>SUM</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Salary</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as</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Sum_Salary</a:t>
            </a:r>
            <a:r>
              <a:rPr lang="en-US"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FROM</a:t>
            </a:r>
            <a:r>
              <a:rPr lang="en-IN" sz="1200" dirty="0">
                <a:solidFill>
                  <a:srgbClr val="000000"/>
                </a:solidFill>
                <a:latin typeface="Consolas" panose="020B0609020204030204" pitchFamily="49" charset="0"/>
              </a:rPr>
              <a:t> employees </a:t>
            </a:r>
            <a:r>
              <a:rPr lang="en-IN" sz="1200" dirty="0">
                <a:solidFill>
                  <a:srgbClr val="0000FF"/>
                </a:solidFill>
                <a:latin typeface="Consolas" panose="020B0609020204030204" pitchFamily="49" charset="0"/>
              </a:rPr>
              <a:t>AS</a:t>
            </a:r>
            <a:r>
              <a:rPr lang="en-IN" sz="1200" dirty="0">
                <a:solidFill>
                  <a:srgbClr val="000000"/>
                </a:solidFill>
                <a:latin typeface="Consolas" panose="020B0609020204030204" pitchFamily="49" charset="0"/>
              </a:rPr>
              <a:t> E </a:t>
            </a:r>
            <a:r>
              <a:rPr lang="en-US" sz="1200" dirty="0">
                <a:solidFill>
                  <a:srgbClr val="808080"/>
                </a:solidFill>
                <a:latin typeface="Consolas" panose="020B0609020204030204" pitchFamily="49" charset="0"/>
              </a:rPr>
              <a:t>INNER</a:t>
            </a:r>
            <a:r>
              <a:rPr lang="en-US" sz="1200" dirty="0">
                <a:solidFill>
                  <a:srgbClr val="000000"/>
                </a:solidFill>
                <a:latin typeface="Consolas" panose="020B0609020204030204" pitchFamily="49" charset="0"/>
              </a:rPr>
              <a:t> </a:t>
            </a:r>
            <a:r>
              <a:rPr lang="en-US" sz="1200" dirty="0">
                <a:solidFill>
                  <a:srgbClr val="808080"/>
                </a:solidFill>
                <a:latin typeface="Consolas" panose="020B0609020204030204" pitchFamily="49" charset="0"/>
              </a:rPr>
              <a:t>JOIN</a:t>
            </a:r>
            <a:r>
              <a:rPr lang="en-US" sz="1200" dirty="0">
                <a:solidFill>
                  <a:srgbClr val="000000"/>
                </a:solidFill>
                <a:latin typeface="Consolas" panose="020B0609020204030204" pitchFamily="49" charset="0"/>
              </a:rPr>
              <a:t> departments </a:t>
            </a:r>
            <a:r>
              <a:rPr lang="en-US" sz="1200" dirty="0">
                <a:solidFill>
                  <a:srgbClr val="0000FF"/>
                </a:solidFill>
                <a:latin typeface="Consolas" panose="020B0609020204030204" pitchFamily="49" charset="0"/>
              </a:rPr>
              <a:t>AS</a:t>
            </a:r>
            <a:r>
              <a:rPr lang="en-US" sz="1200" dirty="0">
                <a:solidFill>
                  <a:srgbClr val="000000"/>
                </a:solidFill>
                <a:latin typeface="Consolas" panose="020B0609020204030204" pitchFamily="49" charset="0"/>
              </a:rPr>
              <a:t> D </a:t>
            </a:r>
            <a:r>
              <a:rPr lang="en-US" sz="1200" dirty="0">
                <a:solidFill>
                  <a:srgbClr val="0000FF"/>
                </a:solidFill>
                <a:latin typeface="Consolas" panose="020B0609020204030204" pitchFamily="49" charset="0"/>
              </a:rPr>
              <a:t>ON</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E</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department_id</a:t>
            </a:r>
            <a:r>
              <a:rPr lang="en-US" sz="1200" dirty="0">
                <a:solidFill>
                  <a:srgbClr val="000000"/>
                </a:solidFill>
                <a:latin typeface="Consolas" panose="020B0609020204030204" pitchFamily="49" charset="0"/>
              </a:rPr>
              <a:t> </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D</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department_id</a:t>
            </a:r>
            <a:endParaRPr lang="en-US" sz="1200" dirty="0">
              <a:solidFill>
                <a:srgbClr val="000000"/>
              </a:solidFill>
              <a:latin typeface="Consolas" panose="020B0609020204030204" pitchFamily="49" charset="0"/>
            </a:endParaRPr>
          </a:p>
          <a:p>
            <a:r>
              <a:rPr lang="en-US" sz="1200" dirty="0">
                <a:solidFill>
                  <a:srgbClr val="0000FF"/>
                </a:solidFill>
                <a:latin typeface="Consolas" panose="020B0609020204030204" pitchFamily="49" charset="0"/>
              </a:rPr>
              <a:t>GROUP</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BY</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D</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department_name</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Having</a:t>
            </a:r>
            <a:r>
              <a:rPr lang="en-US" sz="1200" dirty="0">
                <a:solidFill>
                  <a:srgbClr val="000000"/>
                </a:solidFill>
                <a:latin typeface="Consolas" panose="020B0609020204030204" pitchFamily="49" charset="0"/>
              </a:rPr>
              <a:t> </a:t>
            </a:r>
            <a:r>
              <a:rPr lang="en-US" sz="1200" dirty="0">
                <a:solidFill>
                  <a:srgbClr val="FF00FF"/>
                </a:solidFill>
                <a:latin typeface="Consolas" panose="020B0609020204030204" pitchFamily="49" charset="0"/>
              </a:rPr>
              <a:t>SUM</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salary</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 </a:t>
            </a:r>
            <a:r>
              <a:rPr lang="en-US" sz="1200" dirty="0">
                <a:solidFill>
                  <a:srgbClr val="808080"/>
                </a:solidFill>
                <a:latin typeface="Consolas" panose="020B0609020204030204" pitchFamily="49" charset="0"/>
              </a:rPr>
              <a:t>between</a:t>
            </a:r>
            <a:r>
              <a:rPr lang="en-US" sz="1200" dirty="0">
                <a:solidFill>
                  <a:srgbClr val="000000"/>
                </a:solidFill>
                <a:latin typeface="Consolas" panose="020B0609020204030204" pitchFamily="49" charset="0"/>
              </a:rPr>
              <a:t> 20000 </a:t>
            </a:r>
            <a:r>
              <a:rPr lang="en-US" sz="1200" dirty="0">
                <a:solidFill>
                  <a:srgbClr val="808080"/>
                </a:solidFill>
                <a:latin typeface="Consolas" panose="020B0609020204030204" pitchFamily="49" charset="0"/>
              </a:rPr>
              <a:t>And</a:t>
            </a:r>
            <a:r>
              <a:rPr lang="en-US" sz="1200" dirty="0">
                <a:solidFill>
                  <a:srgbClr val="000000"/>
                </a:solidFill>
                <a:latin typeface="Consolas" panose="020B0609020204030204" pitchFamily="49" charset="0"/>
              </a:rPr>
              <a:t> 30000</a:t>
            </a:r>
          </a:p>
          <a:p>
            <a:endParaRPr lang="en-US" sz="1200" dirty="0">
              <a:solidFill>
                <a:srgbClr val="000000"/>
              </a:solidFill>
              <a:latin typeface="Consolas" panose="020B0609020204030204" pitchFamily="49" charset="0"/>
            </a:endParaRPr>
          </a:p>
          <a:p>
            <a:r>
              <a:rPr lang="en-US" sz="1600" b="1" i="1" dirty="0"/>
              <a:t>--D. To find the department that has employees with the lowest salary greater than 10000</a:t>
            </a:r>
          </a:p>
          <a:p>
            <a:endParaRPr lang="en-US" sz="1600" b="1" i="1" dirty="0"/>
          </a:p>
          <a:p>
            <a:r>
              <a:rPr lang="en-US" sz="1200" dirty="0">
                <a:solidFill>
                  <a:srgbClr val="0000FF"/>
                </a:solidFill>
                <a:latin typeface="Consolas" panose="020B0609020204030204" pitchFamily="49" charset="0"/>
              </a:rPr>
              <a:t>SELECT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E</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first_name</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D</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department_name</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 </a:t>
            </a:r>
            <a:r>
              <a:rPr lang="en-US" sz="1200" dirty="0">
                <a:solidFill>
                  <a:srgbClr val="FF00FF"/>
                </a:solidFill>
                <a:latin typeface="Consolas" panose="020B0609020204030204" pitchFamily="49" charset="0"/>
              </a:rPr>
              <a:t>Min</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Salary</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as</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Sum_Salary</a:t>
            </a:r>
            <a:r>
              <a:rPr lang="en-US"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FROM</a:t>
            </a:r>
            <a:r>
              <a:rPr lang="en-IN" sz="1200" dirty="0">
                <a:solidFill>
                  <a:srgbClr val="000000"/>
                </a:solidFill>
                <a:latin typeface="Consolas" panose="020B0609020204030204" pitchFamily="49" charset="0"/>
              </a:rPr>
              <a:t> employees </a:t>
            </a:r>
            <a:r>
              <a:rPr lang="en-IN" sz="1200" dirty="0">
                <a:solidFill>
                  <a:srgbClr val="0000FF"/>
                </a:solidFill>
                <a:latin typeface="Consolas" panose="020B0609020204030204" pitchFamily="49" charset="0"/>
              </a:rPr>
              <a:t>AS</a:t>
            </a:r>
            <a:r>
              <a:rPr lang="en-IN" sz="1200" dirty="0">
                <a:solidFill>
                  <a:srgbClr val="000000"/>
                </a:solidFill>
                <a:latin typeface="Consolas" panose="020B0609020204030204" pitchFamily="49" charset="0"/>
              </a:rPr>
              <a:t> E </a:t>
            </a:r>
            <a:r>
              <a:rPr lang="en-US" sz="1200" dirty="0">
                <a:solidFill>
                  <a:srgbClr val="808080"/>
                </a:solidFill>
                <a:latin typeface="Consolas" panose="020B0609020204030204" pitchFamily="49" charset="0"/>
              </a:rPr>
              <a:t>INNER</a:t>
            </a:r>
            <a:r>
              <a:rPr lang="en-US" sz="1200" dirty="0">
                <a:solidFill>
                  <a:srgbClr val="000000"/>
                </a:solidFill>
                <a:latin typeface="Consolas" panose="020B0609020204030204" pitchFamily="49" charset="0"/>
              </a:rPr>
              <a:t> </a:t>
            </a:r>
            <a:r>
              <a:rPr lang="en-US" sz="1200" dirty="0">
                <a:solidFill>
                  <a:srgbClr val="808080"/>
                </a:solidFill>
                <a:latin typeface="Consolas" panose="020B0609020204030204" pitchFamily="49" charset="0"/>
              </a:rPr>
              <a:t>JOIN</a:t>
            </a:r>
            <a:r>
              <a:rPr lang="en-US" sz="1200" dirty="0">
                <a:solidFill>
                  <a:srgbClr val="000000"/>
                </a:solidFill>
                <a:latin typeface="Consolas" panose="020B0609020204030204" pitchFamily="49" charset="0"/>
              </a:rPr>
              <a:t> departments </a:t>
            </a:r>
            <a:r>
              <a:rPr lang="en-US" sz="1200" dirty="0">
                <a:solidFill>
                  <a:srgbClr val="0000FF"/>
                </a:solidFill>
                <a:latin typeface="Consolas" panose="020B0609020204030204" pitchFamily="49" charset="0"/>
              </a:rPr>
              <a:t>AS</a:t>
            </a:r>
            <a:r>
              <a:rPr lang="en-US" sz="1200" dirty="0">
                <a:solidFill>
                  <a:srgbClr val="000000"/>
                </a:solidFill>
                <a:latin typeface="Consolas" panose="020B0609020204030204" pitchFamily="49" charset="0"/>
              </a:rPr>
              <a:t> D</a:t>
            </a:r>
          </a:p>
          <a:p>
            <a:r>
              <a:rPr lang="en-US" sz="1200" dirty="0">
                <a:solidFill>
                  <a:srgbClr val="0000FF"/>
                </a:solidFill>
                <a:latin typeface="Consolas" panose="020B0609020204030204" pitchFamily="49" charset="0"/>
              </a:rPr>
              <a:t>ON</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E</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department_id</a:t>
            </a:r>
            <a:r>
              <a:rPr lang="en-US" sz="1200" dirty="0">
                <a:solidFill>
                  <a:srgbClr val="000000"/>
                </a:solidFill>
                <a:latin typeface="Consolas" panose="020B0609020204030204" pitchFamily="49" charset="0"/>
              </a:rPr>
              <a:t> </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D</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department_id</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GROUP</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BY</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E</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first_name</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D</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department_name</a:t>
            </a:r>
            <a:r>
              <a:rPr lang="en-US"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Having</a:t>
            </a:r>
            <a:r>
              <a:rPr lang="en-IN" sz="1200" dirty="0">
                <a:solidFill>
                  <a:srgbClr val="000000"/>
                </a:solidFill>
                <a:latin typeface="Consolas" panose="020B0609020204030204" pitchFamily="49" charset="0"/>
              </a:rPr>
              <a:t> </a:t>
            </a:r>
            <a:r>
              <a:rPr lang="en-IN" sz="1200" dirty="0">
                <a:solidFill>
                  <a:srgbClr val="FF00FF"/>
                </a:solidFill>
                <a:latin typeface="Consolas" panose="020B0609020204030204" pitchFamily="49" charset="0"/>
              </a:rPr>
              <a:t>min</a:t>
            </a:r>
            <a:r>
              <a:rPr lang="en-IN" sz="1200" dirty="0">
                <a:solidFill>
                  <a:srgbClr val="808080"/>
                </a:solidFill>
                <a:latin typeface="Consolas" panose="020B0609020204030204" pitchFamily="49" charset="0"/>
              </a:rPr>
              <a:t>(</a:t>
            </a:r>
            <a:r>
              <a:rPr lang="en-IN" sz="1200" dirty="0">
                <a:solidFill>
                  <a:srgbClr val="000000"/>
                </a:solidFill>
                <a:latin typeface="Consolas" panose="020B0609020204030204" pitchFamily="49" charset="0"/>
              </a:rPr>
              <a:t>salary</a:t>
            </a:r>
            <a:r>
              <a:rPr lang="en-IN" sz="1200" dirty="0">
                <a:solidFill>
                  <a:srgbClr val="808080"/>
                </a:solidFill>
                <a:latin typeface="Consolas" panose="020B0609020204030204" pitchFamily="49" charset="0"/>
              </a:rPr>
              <a:t>)&gt;</a:t>
            </a:r>
            <a:r>
              <a:rPr lang="en-IN" sz="1200" dirty="0">
                <a:solidFill>
                  <a:srgbClr val="000000"/>
                </a:solidFill>
                <a:latin typeface="Consolas" panose="020B0609020204030204" pitchFamily="49" charset="0"/>
              </a:rPr>
              <a:t>10000</a:t>
            </a:r>
          </a:p>
          <a:p>
            <a:endParaRPr lang="en-IN" sz="1200" dirty="0">
              <a:solidFill>
                <a:srgbClr val="000000"/>
              </a:solidFill>
              <a:latin typeface="Consolas" panose="020B0609020204030204" pitchFamily="49" charset="0"/>
            </a:endParaRPr>
          </a:p>
          <a:p>
            <a:r>
              <a:rPr lang="en-US" sz="1600" b="1" i="1" dirty="0"/>
              <a:t>--E. To find the departments that have the average salaries of employees between 5000 and 7000</a:t>
            </a:r>
          </a:p>
          <a:p>
            <a:endParaRPr lang="en-IN" sz="1200" dirty="0">
              <a:solidFill>
                <a:srgbClr val="000000"/>
              </a:solidFill>
              <a:latin typeface="Consolas" panose="020B0609020204030204" pitchFamily="49" charset="0"/>
            </a:endParaRPr>
          </a:p>
          <a:p>
            <a:r>
              <a:rPr lang="en-US" sz="1200" dirty="0">
                <a:solidFill>
                  <a:srgbClr val="0000FF"/>
                </a:solidFill>
                <a:latin typeface="Consolas" panose="020B0609020204030204" pitchFamily="49" charset="0"/>
              </a:rPr>
              <a:t>SELECT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E</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first_name</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D</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department_name</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 </a:t>
            </a:r>
            <a:r>
              <a:rPr lang="en-US" sz="1200" dirty="0">
                <a:solidFill>
                  <a:srgbClr val="FF00FF"/>
                </a:solidFill>
                <a:latin typeface="Consolas" panose="020B0609020204030204" pitchFamily="49" charset="0"/>
              </a:rPr>
              <a:t>avg</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Salary</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as</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Sum_Salary</a:t>
            </a:r>
            <a:r>
              <a:rPr lang="en-US"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FROM</a:t>
            </a:r>
            <a:r>
              <a:rPr lang="en-IN" sz="1200" dirty="0">
                <a:solidFill>
                  <a:srgbClr val="000000"/>
                </a:solidFill>
                <a:latin typeface="Consolas" panose="020B0609020204030204" pitchFamily="49" charset="0"/>
              </a:rPr>
              <a:t> employees </a:t>
            </a:r>
            <a:r>
              <a:rPr lang="en-IN" sz="1200" dirty="0">
                <a:solidFill>
                  <a:srgbClr val="0000FF"/>
                </a:solidFill>
                <a:latin typeface="Consolas" panose="020B0609020204030204" pitchFamily="49" charset="0"/>
              </a:rPr>
              <a:t>AS</a:t>
            </a:r>
            <a:r>
              <a:rPr lang="en-IN" sz="1200" dirty="0">
                <a:solidFill>
                  <a:srgbClr val="000000"/>
                </a:solidFill>
                <a:latin typeface="Consolas" panose="020B0609020204030204" pitchFamily="49" charset="0"/>
              </a:rPr>
              <a:t> E </a:t>
            </a:r>
            <a:r>
              <a:rPr lang="en-US" sz="1200" dirty="0">
                <a:solidFill>
                  <a:srgbClr val="808080"/>
                </a:solidFill>
                <a:latin typeface="Consolas" panose="020B0609020204030204" pitchFamily="49" charset="0"/>
              </a:rPr>
              <a:t>INNER</a:t>
            </a:r>
            <a:r>
              <a:rPr lang="en-US" sz="1200" dirty="0">
                <a:solidFill>
                  <a:srgbClr val="000000"/>
                </a:solidFill>
                <a:latin typeface="Consolas" panose="020B0609020204030204" pitchFamily="49" charset="0"/>
              </a:rPr>
              <a:t> </a:t>
            </a:r>
            <a:r>
              <a:rPr lang="en-US" sz="1200" dirty="0">
                <a:solidFill>
                  <a:srgbClr val="808080"/>
                </a:solidFill>
                <a:latin typeface="Consolas" panose="020B0609020204030204" pitchFamily="49" charset="0"/>
              </a:rPr>
              <a:t>JOIN</a:t>
            </a:r>
            <a:r>
              <a:rPr lang="en-US" sz="1200" dirty="0">
                <a:solidFill>
                  <a:srgbClr val="000000"/>
                </a:solidFill>
                <a:latin typeface="Consolas" panose="020B0609020204030204" pitchFamily="49" charset="0"/>
              </a:rPr>
              <a:t> departments </a:t>
            </a:r>
            <a:r>
              <a:rPr lang="en-US" sz="1200" dirty="0">
                <a:solidFill>
                  <a:srgbClr val="0000FF"/>
                </a:solidFill>
                <a:latin typeface="Consolas" panose="020B0609020204030204" pitchFamily="49" charset="0"/>
              </a:rPr>
              <a:t>AS</a:t>
            </a:r>
            <a:r>
              <a:rPr lang="en-US" sz="1200" dirty="0">
                <a:solidFill>
                  <a:srgbClr val="000000"/>
                </a:solidFill>
                <a:latin typeface="Consolas" panose="020B0609020204030204" pitchFamily="49" charset="0"/>
              </a:rPr>
              <a:t> D</a:t>
            </a:r>
          </a:p>
          <a:p>
            <a:r>
              <a:rPr lang="en-US" sz="1200" dirty="0">
                <a:solidFill>
                  <a:srgbClr val="0000FF"/>
                </a:solidFill>
                <a:latin typeface="Consolas" panose="020B0609020204030204" pitchFamily="49" charset="0"/>
              </a:rPr>
              <a:t>ON</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E</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department_id</a:t>
            </a:r>
            <a:r>
              <a:rPr lang="en-US" sz="1200" dirty="0">
                <a:solidFill>
                  <a:srgbClr val="000000"/>
                </a:solidFill>
                <a:latin typeface="Consolas" panose="020B0609020204030204" pitchFamily="49" charset="0"/>
              </a:rPr>
              <a:t> </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D</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department_id</a:t>
            </a:r>
            <a:endParaRPr lang="en-US" sz="1200" dirty="0">
              <a:solidFill>
                <a:srgbClr val="000000"/>
              </a:solidFill>
              <a:latin typeface="Consolas" panose="020B0609020204030204" pitchFamily="49" charset="0"/>
            </a:endParaRPr>
          </a:p>
          <a:p>
            <a:r>
              <a:rPr lang="en-US" sz="1200" dirty="0">
                <a:solidFill>
                  <a:srgbClr val="0000FF"/>
                </a:solidFill>
                <a:latin typeface="Consolas" panose="020B0609020204030204" pitchFamily="49" charset="0"/>
              </a:rPr>
              <a:t>GROUP</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BY</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E</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first_name</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D</a:t>
            </a:r>
            <a:r>
              <a:rPr lang="en-US" sz="1200" dirty="0" err="1">
                <a:solidFill>
                  <a:srgbClr val="808080"/>
                </a:solidFill>
                <a:latin typeface="Consolas" panose="020B0609020204030204" pitchFamily="49" charset="0"/>
              </a:rPr>
              <a:t>.</a:t>
            </a:r>
            <a:r>
              <a:rPr lang="en-US" sz="1200" dirty="0" err="1">
                <a:solidFill>
                  <a:srgbClr val="000000"/>
                </a:solidFill>
                <a:latin typeface="Consolas" panose="020B0609020204030204" pitchFamily="49" charset="0"/>
              </a:rPr>
              <a:t>department_name</a:t>
            </a:r>
            <a:endParaRPr lang="en-US" sz="1200" dirty="0">
              <a:solidFill>
                <a:srgbClr val="000000"/>
              </a:solidFill>
              <a:latin typeface="Consolas" panose="020B0609020204030204" pitchFamily="49" charset="0"/>
            </a:endParaRPr>
          </a:p>
          <a:p>
            <a:r>
              <a:rPr lang="en-US" sz="1200" dirty="0">
                <a:solidFill>
                  <a:srgbClr val="0000FF"/>
                </a:solidFill>
                <a:latin typeface="Consolas" panose="020B0609020204030204" pitchFamily="49" charset="0"/>
              </a:rPr>
              <a:t>Having</a:t>
            </a:r>
            <a:r>
              <a:rPr lang="en-US" sz="1200" dirty="0">
                <a:solidFill>
                  <a:srgbClr val="000000"/>
                </a:solidFill>
                <a:latin typeface="Consolas" panose="020B0609020204030204" pitchFamily="49" charset="0"/>
              </a:rPr>
              <a:t> </a:t>
            </a:r>
            <a:r>
              <a:rPr lang="en-US" sz="1200" dirty="0">
                <a:solidFill>
                  <a:srgbClr val="FF00FF"/>
                </a:solidFill>
                <a:latin typeface="Consolas" panose="020B0609020204030204" pitchFamily="49" charset="0"/>
              </a:rPr>
              <a:t>avg</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salary</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 </a:t>
            </a:r>
            <a:r>
              <a:rPr lang="en-US" sz="1200" dirty="0">
                <a:solidFill>
                  <a:srgbClr val="808080"/>
                </a:solidFill>
                <a:latin typeface="Consolas" panose="020B0609020204030204" pitchFamily="49" charset="0"/>
              </a:rPr>
              <a:t>between</a:t>
            </a:r>
            <a:r>
              <a:rPr lang="en-US" sz="1200" dirty="0">
                <a:solidFill>
                  <a:srgbClr val="000000"/>
                </a:solidFill>
                <a:latin typeface="Consolas" panose="020B0609020204030204" pitchFamily="49" charset="0"/>
              </a:rPr>
              <a:t> 5000 </a:t>
            </a:r>
            <a:r>
              <a:rPr lang="en-US" sz="1200" dirty="0">
                <a:solidFill>
                  <a:srgbClr val="808080"/>
                </a:solidFill>
                <a:latin typeface="Consolas" panose="020B0609020204030204" pitchFamily="49" charset="0"/>
              </a:rPr>
              <a:t>And</a:t>
            </a:r>
            <a:r>
              <a:rPr lang="en-US" sz="1200" dirty="0">
                <a:solidFill>
                  <a:srgbClr val="000000"/>
                </a:solidFill>
                <a:latin typeface="Consolas" panose="020B0609020204030204" pitchFamily="49" charset="0"/>
              </a:rPr>
              <a:t> 7000</a:t>
            </a:r>
            <a:r>
              <a:rPr lang="en-US" sz="1200" dirty="0">
                <a:solidFill>
                  <a:srgbClr val="808080"/>
                </a:solidFill>
                <a:latin typeface="Consolas" panose="020B0609020204030204" pitchFamily="49" charset="0"/>
              </a:rPr>
              <a:t>;</a:t>
            </a:r>
            <a:endParaRPr lang="en-US" sz="1200" dirty="0">
              <a:solidFill>
                <a:srgbClr val="000000"/>
              </a:solidFill>
              <a:latin typeface="Consolas" panose="020B0609020204030204" pitchFamily="49" charset="0"/>
            </a:endParaRPr>
          </a:p>
          <a:p>
            <a:endParaRPr lang="en-IN" sz="12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1203423202"/>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
          <a:extLst>
            <a:ext uri="{FF2B5EF4-FFF2-40B4-BE49-F238E27FC236}">
              <a16:creationId xmlns:a16="http://schemas.microsoft.com/office/drawing/2014/main" id="{10337589-9F65-0B3B-DC5E-86595AEAD49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AB31829-9611-2BCB-C173-761173B71450}"/>
              </a:ext>
            </a:extLst>
          </p:cNvPr>
          <p:cNvSpPr txBox="1"/>
          <p:nvPr/>
        </p:nvSpPr>
        <p:spPr>
          <a:xfrm>
            <a:off x="0" y="0"/>
            <a:ext cx="11897030" cy="584775"/>
          </a:xfrm>
          <a:prstGeom prst="rect">
            <a:avLst/>
          </a:prstGeom>
          <a:noFill/>
        </p:spPr>
        <p:txBody>
          <a:bodyPr wrap="square" rtlCol="0">
            <a:spAutoFit/>
          </a:bodyPr>
          <a:lstStyle/>
          <a:p>
            <a:r>
              <a:rPr lang="en-US" sz="3200" b="1" i="1" dirty="0"/>
              <a:t>Task 5 : Other Queries…</a:t>
            </a:r>
          </a:p>
        </p:txBody>
      </p:sp>
      <p:sp>
        <p:nvSpPr>
          <p:cNvPr id="2" name="TextBox 1">
            <a:extLst>
              <a:ext uri="{FF2B5EF4-FFF2-40B4-BE49-F238E27FC236}">
                <a16:creationId xmlns:a16="http://schemas.microsoft.com/office/drawing/2014/main" id="{6E06D810-2C17-3AC9-FA4A-37499CB62ECA}"/>
              </a:ext>
            </a:extLst>
          </p:cNvPr>
          <p:cNvSpPr txBox="1"/>
          <p:nvPr/>
        </p:nvSpPr>
        <p:spPr>
          <a:xfrm>
            <a:off x="0" y="584775"/>
            <a:ext cx="12192000" cy="6832640"/>
          </a:xfrm>
          <a:prstGeom prst="rect">
            <a:avLst/>
          </a:prstGeom>
          <a:noFill/>
        </p:spPr>
        <p:txBody>
          <a:bodyPr wrap="square" rtlCol="0">
            <a:spAutoFit/>
          </a:bodyPr>
          <a:lstStyle/>
          <a:p>
            <a:r>
              <a:rPr lang="en-IN" sz="1600" b="1" i="1" dirty="0"/>
              <a:t>/* 1)SQL UNION operator*/</a:t>
            </a:r>
          </a:p>
          <a:p>
            <a:r>
              <a:rPr lang="en-IN" sz="1600" b="1" i="1" dirty="0"/>
              <a:t>/*Question:-</a:t>
            </a:r>
          </a:p>
          <a:p>
            <a:r>
              <a:rPr lang="en-US" sz="1600" b="1" i="1" dirty="0"/>
              <a:t>Write a Query to combine the first name and last name of employees and dependents</a:t>
            </a:r>
            <a:r>
              <a:rPr lang="en-US" sz="1800" dirty="0">
                <a:solidFill>
                  <a:srgbClr val="008000"/>
                </a:solidFill>
                <a:latin typeface="Consolas" panose="020B0609020204030204" pitchFamily="49" charset="0"/>
              </a:rPr>
              <a:t>*/</a:t>
            </a:r>
          </a:p>
          <a:p>
            <a:endParaRPr lang="en-US" sz="1800" dirty="0">
              <a:solidFill>
                <a:srgbClr val="000000"/>
              </a:solidFill>
              <a:latin typeface="Consolas" panose="020B0609020204030204" pitchFamily="49" charset="0"/>
            </a:endParaRPr>
          </a:p>
          <a:p>
            <a:r>
              <a:rPr lang="en-US" sz="1600" dirty="0">
                <a:solidFill>
                  <a:srgbClr val="0000FF"/>
                </a:solidFill>
                <a:latin typeface="Consolas" panose="020B0609020204030204" pitchFamily="49" charset="0"/>
              </a:rPr>
              <a:t>Select</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First_name</a:t>
            </a:r>
            <a:r>
              <a:rPr lang="en-US" sz="1600" dirty="0" err="1">
                <a:solidFill>
                  <a:srgbClr val="808080"/>
                </a:solidFill>
                <a:latin typeface="Consolas" panose="020B0609020204030204" pitchFamily="49" charset="0"/>
              </a:rPr>
              <a:t>,</a:t>
            </a:r>
            <a:r>
              <a:rPr lang="en-US" sz="1600" dirty="0" err="1">
                <a:solidFill>
                  <a:srgbClr val="000000"/>
                </a:solidFill>
                <a:latin typeface="Consolas" panose="020B0609020204030204" pitchFamily="49" charset="0"/>
              </a:rPr>
              <a:t>Last_name</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from</a:t>
            </a:r>
            <a:r>
              <a:rPr lang="en-US" sz="1600" dirty="0">
                <a:solidFill>
                  <a:srgbClr val="000000"/>
                </a:solidFill>
                <a:latin typeface="Consolas" panose="020B0609020204030204" pitchFamily="49" charset="0"/>
              </a:rPr>
              <a:t> employees </a:t>
            </a:r>
            <a:r>
              <a:rPr lang="en-IN" sz="1600" dirty="0">
                <a:solidFill>
                  <a:srgbClr val="0000FF"/>
                </a:solidFill>
                <a:latin typeface="Consolas" panose="020B0609020204030204" pitchFamily="49" charset="0"/>
              </a:rPr>
              <a:t>union</a:t>
            </a:r>
            <a:r>
              <a:rPr lang="en-IN"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Select</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First_name</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Last_name</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from</a:t>
            </a:r>
            <a:r>
              <a:rPr lang="en-US" sz="1600" dirty="0">
                <a:solidFill>
                  <a:srgbClr val="000000"/>
                </a:solidFill>
                <a:latin typeface="Consolas" panose="020B0609020204030204" pitchFamily="49" charset="0"/>
              </a:rPr>
              <a:t> dependents</a:t>
            </a:r>
          </a:p>
          <a:p>
            <a:endParaRPr lang="en-IN" dirty="0">
              <a:solidFill>
                <a:srgbClr val="000000"/>
              </a:solidFill>
              <a:latin typeface="Consolas" panose="020B0609020204030204" pitchFamily="49" charset="0"/>
            </a:endParaRPr>
          </a:p>
          <a:p>
            <a:r>
              <a:rPr lang="en-IN" sz="1600" b="1" i="1" dirty="0"/>
              <a:t>/* 2)SQL INTERSECT operator */</a:t>
            </a:r>
          </a:p>
          <a:p>
            <a:endParaRPr lang="en-IN" sz="1600" b="1" i="1" dirty="0"/>
          </a:p>
          <a:p>
            <a:r>
              <a:rPr lang="en-US" sz="1400" dirty="0">
                <a:solidFill>
                  <a:srgbClr val="0000FF"/>
                </a:solidFill>
                <a:latin typeface="Consolas" panose="020B0609020204030204" pitchFamily="49" charset="0"/>
              </a:rPr>
              <a:t>Select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employee_id</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from</a:t>
            </a:r>
            <a:r>
              <a:rPr lang="en-US" sz="1400" dirty="0">
                <a:solidFill>
                  <a:srgbClr val="000000"/>
                </a:solidFill>
                <a:latin typeface="Consolas" panose="020B0609020204030204" pitchFamily="49" charset="0"/>
              </a:rPr>
              <a:t> employees </a:t>
            </a:r>
            <a:r>
              <a:rPr lang="en-IN" sz="1400" dirty="0">
                <a:solidFill>
                  <a:srgbClr val="0000FF"/>
                </a:solidFill>
                <a:latin typeface="Consolas" panose="020B0609020204030204" pitchFamily="49" charset="0"/>
              </a:rPr>
              <a:t>intersect</a:t>
            </a:r>
            <a:endParaRPr lang="en-IN" sz="1400" dirty="0">
              <a:solidFill>
                <a:srgbClr val="000000"/>
              </a:solidFill>
              <a:latin typeface="Consolas" panose="020B0609020204030204" pitchFamily="49" charset="0"/>
            </a:endParaRPr>
          </a:p>
          <a:p>
            <a:r>
              <a:rPr lang="en-US" sz="1400" dirty="0">
                <a:solidFill>
                  <a:srgbClr val="0000FF"/>
                </a:solidFill>
                <a:latin typeface="Consolas" panose="020B0609020204030204" pitchFamily="49" charset="0"/>
              </a:rPr>
              <a:t>Select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employee_id</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from</a:t>
            </a:r>
            <a:r>
              <a:rPr lang="en-US" sz="1400" dirty="0">
                <a:solidFill>
                  <a:srgbClr val="000000"/>
                </a:solidFill>
                <a:latin typeface="Consolas" panose="020B0609020204030204" pitchFamily="49" charset="0"/>
              </a:rPr>
              <a:t> dependents</a:t>
            </a:r>
          </a:p>
          <a:p>
            <a:r>
              <a:rPr lang="en-US" sz="1400" dirty="0">
                <a:solidFill>
                  <a:srgbClr val="0000FF"/>
                </a:solidFill>
                <a:latin typeface="Consolas" panose="020B0609020204030204" pitchFamily="49" charset="0"/>
              </a:rPr>
              <a:t>order</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by</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employee_id</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desc</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endParaRPr lang="en-IN" sz="1800" dirty="0">
              <a:solidFill>
                <a:srgbClr val="000000"/>
              </a:solidFill>
              <a:latin typeface="Consolas" panose="020B0609020204030204" pitchFamily="49" charset="0"/>
            </a:endParaRPr>
          </a:p>
          <a:p>
            <a:r>
              <a:rPr lang="en-IN" sz="1600" b="1" i="1" dirty="0"/>
              <a:t>/* 3)SQL EXISTS operator */</a:t>
            </a:r>
          </a:p>
          <a:p>
            <a:endParaRPr lang="en-IN" sz="1600" b="1" i="1" dirty="0"/>
          </a:p>
          <a:p>
            <a:r>
              <a:rPr lang="en-US" sz="1600" b="1" i="1" dirty="0"/>
              <a:t>--A. finds all employees who have at least one dependent</a:t>
            </a:r>
            <a:r>
              <a:rPr lang="en-US" sz="1800" dirty="0">
                <a:solidFill>
                  <a:srgbClr val="008000"/>
                </a:solidFill>
                <a:latin typeface="Consolas" panose="020B0609020204030204" pitchFamily="49" charset="0"/>
              </a:rPr>
              <a:t>.</a:t>
            </a:r>
          </a:p>
          <a:p>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Employee_id</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First_Name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Last_name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employees </a:t>
            </a:r>
            <a:r>
              <a:rPr lang="en-US" sz="1800" dirty="0">
                <a:solidFill>
                  <a:srgbClr val="0000FF"/>
                </a:solidFill>
                <a:latin typeface="Consolas" panose="020B0609020204030204" pitchFamily="49" charset="0"/>
              </a:rPr>
              <a:t>as</a:t>
            </a:r>
            <a:r>
              <a:rPr lang="en-US" sz="1800" dirty="0">
                <a:solidFill>
                  <a:srgbClr val="000000"/>
                </a:solidFill>
                <a:latin typeface="Consolas" panose="020B0609020204030204" pitchFamily="49" charset="0"/>
              </a:rPr>
              <a:t> E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exists</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employee_id</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dependents </a:t>
            </a:r>
            <a:r>
              <a:rPr lang="en-US" sz="1800" dirty="0">
                <a:solidFill>
                  <a:srgbClr val="0000FF"/>
                </a:solidFill>
                <a:latin typeface="Consolas" panose="020B0609020204030204" pitchFamily="49" charset="0"/>
              </a:rPr>
              <a:t>as</a:t>
            </a:r>
            <a:r>
              <a:rPr lang="en-US" sz="1800" dirty="0">
                <a:solidFill>
                  <a:srgbClr val="000000"/>
                </a:solidFill>
                <a:latin typeface="Consolas" panose="020B0609020204030204" pitchFamily="49" charset="0"/>
              </a:rPr>
              <a:t> D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E</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employee_id</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employee_id</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endParaRPr lang="en-IN" sz="1800" dirty="0">
              <a:solidFill>
                <a:srgbClr val="000000"/>
              </a:solidFill>
              <a:latin typeface="Consolas" panose="020B0609020204030204" pitchFamily="49" charset="0"/>
            </a:endParaRPr>
          </a:p>
          <a:p>
            <a:r>
              <a:rPr lang="en-US" sz="1600" b="1" i="1" dirty="0"/>
              <a:t>--B . finds employees who do not have any dependents:</a:t>
            </a:r>
          </a:p>
          <a:p>
            <a:endParaRPr lang="en-US" sz="1600" b="1" i="1" dirty="0"/>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Employee_id</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First_Name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Last_name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employees </a:t>
            </a:r>
            <a:r>
              <a:rPr lang="en-US" sz="1800" dirty="0">
                <a:solidFill>
                  <a:srgbClr val="0000FF"/>
                </a:solidFill>
                <a:latin typeface="Consolas" panose="020B0609020204030204" pitchFamily="49" charset="0"/>
              </a:rPr>
              <a:t>as</a:t>
            </a:r>
            <a:r>
              <a:rPr lang="en-US" sz="1800" dirty="0">
                <a:solidFill>
                  <a:srgbClr val="000000"/>
                </a:solidFill>
                <a:latin typeface="Consolas" panose="020B0609020204030204" pitchFamily="49" charset="0"/>
              </a:rPr>
              <a:t> E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Not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exists</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employee_id</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dependents </a:t>
            </a:r>
            <a:r>
              <a:rPr lang="en-US" sz="1800" dirty="0">
                <a:solidFill>
                  <a:srgbClr val="0000FF"/>
                </a:solidFill>
                <a:latin typeface="Consolas" panose="020B0609020204030204" pitchFamily="49" charset="0"/>
              </a:rPr>
              <a:t>as</a:t>
            </a:r>
            <a:r>
              <a:rPr lang="en-US" sz="1800" dirty="0">
                <a:solidFill>
                  <a:srgbClr val="000000"/>
                </a:solidFill>
                <a:latin typeface="Consolas" panose="020B0609020204030204" pitchFamily="49" charset="0"/>
              </a:rPr>
              <a:t> D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E</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employee_id</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employee_id</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endParaRPr lang="en-IN" sz="1800" dirty="0">
              <a:solidFill>
                <a:srgbClr val="000000"/>
              </a:solidFill>
              <a:latin typeface="Consolas" panose="020B0609020204030204" pitchFamily="49" charset="0"/>
            </a:endParaRPr>
          </a:p>
          <a:p>
            <a:endParaRPr lang="en-US" sz="3200" b="1" i="1" dirty="0"/>
          </a:p>
        </p:txBody>
      </p:sp>
    </p:spTree>
    <p:extLst>
      <p:ext uri="{BB962C8B-B14F-4D97-AF65-F5344CB8AC3E}">
        <p14:creationId xmlns:p14="http://schemas.microsoft.com/office/powerpoint/2010/main" val="1968556397"/>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
          <a:extLst>
            <a:ext uri="{FF2B5EF4-FFF2-40B4-BE49-F238E27FC236}">
              <a16:creationId xmlns:a16="http://schemas.microsoft.com/office/drawing/2014/main" id="{47EC2465-042E-5D81-9E82-8F220D0761A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E6B7C95-971D-0FD2-1EA9-E594DC724669}"/>
              </a:ext>
            </a:extLst>
          </p:cNvPr>
          <p:cNvSpPr txBox="1"/>
          <p:nvPr/>
        </p:nvSpPr>
        <p:spPr>
          <a:xfrm>
            <a:off x="0" y="0"/>
            <a:ext cx="11897030" cy="584775"/>
          </a:xfrm>
          <a:prstGeom prst="rect">
            <a:avLst/>
          </a:prstGeom>
          <a:noFill/>
        </p:spPr>
        <p:txBody>
          <a:bodyPr wrap="square" rtlCol="0">
            <a:spAutoFit/>
          </a:bodyPr>
          <a:lstStyle/>
          <a:p>
            <a:r>
              <a:rPr lang="en-US" sz="3200" b="1" i="1" dirty="0"/>
              <a:t>Conclusion..</a:t>
            </a:r>
          </a:p>
        </p:txBody>
      </p:sp>
      <p:sp>
        <p:nvSpPr>
          <p:cNvPr id="3" name="TextBox 2">
            <a:extLst>
              <a:ext uri="{FF2B5EF4-FFF2-40B4-BE49-F238E27FC236}">
                <a16:creationId xmlns:a16="http://schemas.microsoft.com/office/drawing/2014/main" id="{3DCE02BB-B191-DE5D-37D9-91DD6ED7D803}"/>
              </a:ext>
            </a:extLst>
          </p:cNvPr>
          <p:cNvSpPr txBox="1"/>
          <p:nvPr/>
        </p:nvSpPr>
        <p:spPr>
          <a:xfrm>
            <a:off x="0" y="674400"/>
            <a:ext cx="11897030" cy="2677656"/>
          </a:xfrm>
          <a:prstGeom prst="rect">
            <a:avLst/>
          </a:prstGeom>
          <a:noFill/>
        </p:spPr>
        <p:txBody>
          <a:bodyPr wrap="square" rtlCol="0">
            <a:spAutoFit/>
          </a:bodyPr>
          <a:lstStyle/>
          <a:p>
            <a:pPr algn="just"/>
            <a:r>
              <a:rPr lang="en-US" sz="2400" b="1" i="1" dirty="0">
                <a:effectLst/>
                <a:latin typeface="+mj-lt"/>
              </a:rPr>
              <a:t>The HR Database Management System provides a comprehensive solution for managing employee-related data. ​ It ensures data integrity, supports complex queries, and facilitates efficient data analysis. By leveraging SQL and relational database principles, the system can handle various HR tasks, such as tracking employee details, analyzing salary trends, and managing organizational hierarchies. ​ This project demonstrates the importance of structured data management in streamlining HR operations and decision-making processes.</a:t>
            </a:r>
          </a:p>
          <a:p>
            <a:pPr algn="just"/>
            <a:endParaRPr lang="en-US" sz="2400" b="1" i="1" dirty="0">
              <a:latin typeface="+mj-lt"/>
            </a:endParaRPr>
          </a:p>
        </p:txBody>
      </p:sp>
    </p:spTree>
    <p:extLst>
      <p:ext uri="{BB962C8B-B14F-4D97-AF65-F5344CB8AC3E}">
        <p14:creationId xmlns:p14="http://schemas.microsoft.com/office/powerpoint/2010/main" val="2985847267"/>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
          <a:extLst>
            <a:ext uri="{FF2B5EF4-FFF2-40B4-BE49-F238E27FC236}">
              <a16:creationId xmlns:a16="http://schemas.microsoft.com/office/drawing/2014/main" id="{94531C73-2DCD-061C-19A0-6822BB7F3D2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B26B596-1508-D2FB-24CF-C7A2F3DBC561}"/>
              </a:ext>
            </a:extLst>
          </p:cNvPr>
          <p:cNvSpPr txBox="1"/>
          <p:nvPr/>
        </p:nvSpPr>
        <p:spPr>
          <a:xfrm>
            <a:off x="0" y="2739174"/>
            <a:ext cx="12192000" cy="1107996"/>
          </a:xfrm>
          <a:prstGeom prst="rect">
            <a:avLst/>
          </a:prstGeom>
          <a:solidFill>
            <a:schemeClr val="accent1">
              <a:lumMod val="20000"/>
              <a:lumOff val="80000"/>
            </a:schemeClr>
          </a:solidFill>
        </p:spPr>
        <p:txBody>
          <a:bodyPr wrap="square" rtlCol="0">
            <a:spAutoFit/>
          </a:bodyPr>
          <a:lstStyle/>
          <a:p>
            <a:pPr algn="just"/>
            <a:r>
              <a:rPr lang="en-US" sz="6600" b="1" i="1" dirty="0">
                <a:latin typeface="+mj-lt"/>
              </a:rPr>
              <a:t>Thank You………</a:t>
            </a:r>
          </a:p>
        </p:txBody>
      </p:sp>
    </p:spTree>
    <p:extLst>
      <p:ext uri="{BB962C8B-B14F-4D97-AF65-F5344CB8AC3E}">
        <p14:creationId xmlns:p14="http://schemas.microsoft.com/office/powerpoint/2010/main" val="1690923985"/>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452</TotalTime>
  <Words>3485</Words>
  <Application>Microsoft Office PowerPoint</Application>
  <PresentationFormat>Widescreen</PresentationFormat>
  <Paragraphs>352</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Adobe Clean</vt:lpstr>
      <vt:lpstr>Arial</vt:lpstr>
      <vt:lpstr>Calibri</vt:lpstr>
      <vt:lpstr>Calibri Light</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Nitish kumar</dc:creator>
  <cp:lastModifiedBy>Nitish kumar</cp:lastModifiedBy>
  <cp:revision>62</cp:revision>
  <dcterms:created xsi:type="dcterms:W3CDTF">2025-05-12T07:02:53Z</dcterms:created>
  <dcterms:modified xsi:type="dcterms:W3CDTF">2025-05-17T16:01:06Z</dcterms:modified>
</cp:coreProperties>
</file>